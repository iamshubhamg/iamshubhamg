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347" r:id="rId4"/>
    <p:sldMasterId id="2147483648" r:id="rId5"/>
  </p:sldMasterIdLst>
  <p:notesMasterIdLst>
    <p:notesMasterId r:id="rId41"/>
  </p:notesMasterIdLst>
  <p:handoutMasterIdLst>
    <p:handoutMasterId r:id="rId42"/>
  </p:handoutMasterIdLst>
  <p:sldIdLst>
    <p:sldId id="1972" r:id="rId6"/>
    <p:sldId id="1983" r:id="rId7"/>
    <p:sldId id="2011" r:id="rId8"/>
    <p:sldId id="1975" r:id="rId9"/>
    <p:sldId id="2004" r:id="rId10"/>
    <p:sldId id="2014" r:id="rId11"/>
    <p:sldId id="1977" r:id="rId12"/>
    <p:sldId id="1980" r:id="rId13"/>
    <p:sldId id="1978" r:id="rId14"/>
    <p:sldId id="1979" r:id="rId15"/>
    <p:sldId id="2005" r:id="rId16"/>
    <p:sldId id="2016" r:id="rId17"/>
    <p:sldId id="2017" r:id="rId18"/>
    <p:sldId id="2018" r:id="rId19"/>
    <p:sldId id="2006" r:id="rId20"/>
    <p:sldId id="1993" r:id="rId21"/>
    <p:sldId id="2007" r:id="rId22"/>
    <p:sldId id="1995" r:id="rId23"/>
    <p:sldId id="1996" r:id="rId24"/>
    <p:sldId id="1997" r:id="rId25"/>
    <p:sldId id="1998" r:id="rId26"/>
    <p:sldId id="2008" r:id="rId27"/>
    <p:sldId id="1999" r:id="rId28"/>
    <p:sldId id="2000" r:id="rId29"/>
    <p:sldId id="2001" r:id="rId30"/>
    <p:sldId id="2015" r:id="rId31"/>
    <p:sldId id="2013" r:id="rId32"/>
    <p:sldId id="2019" r:id="rId33"/>
    <p:sldId id="539" r:id="rId34"/>
    <p:sldId id="2012" r:id="rId35"/>
    <p:sldId id="2020" r:id="rId36"/>
    <p:sldId id="2021" r:id="rId37"/>
    <p:sldId id="2022" r:id="rId38"/>
    <p:sldId id="2024" r:id="rId39"/>
    <p:sldId id="2023" r:id="rId40"/>
  </p:sldIdLst>
  <p:sldSz cx="12192000" cy="6858000"/>
  <p:notesSz cx="7315200" cy="9601200"/>
  <p:custDataLst>
    <p:tags r:id="rId4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97DBAB9-3CF6-4DFF-BF49-0AE7F9815BEE}">
          <p14:sldIdLst>
            <p14:sldId id="1972"/>
            <p14:sldId id="1983"/>
            <p14:sldId id="2011"/>
            <p14:sldId id="1975"/>
          </p14:sldIdLst>
        </p14:section>
        <p14:section name="Imagery" id="{8FF6CB62-A23C-4FED-A14F-53C33B2A475E}">
          <p14:sldIdLst>
            <p14:sldId id="2004"/>
            <p14:sldId id="2014"/>
            <p14:sldId id="1977"/>
            <p14:sldId id="1980"/>
            <p14:sldId id="1978"/>
            <p14:sldId id="1979"/>
          </p14:sldIdLst>
        </p14:section>
        <p14:section name="Icons" id="{C7D134B9-19BE-421B-A324-66988E95740F}">
          <p14:sldIdLst>
            <p14:sldId id="2005"/>
            <p14:sldId id="2016"/>
            <p14:sldId id="2017"/>
            <p14:sldId id="2018"/>
          </p14:sldIdLst>
        </p14:section>
        <p14:section name="Color Palette" id="{E3BE4DD5-3341-479B-88DA-897A93A555E2}">
          <p14:sldIdLst>
            <p14:sldId id="2006"/>
            <p14:sldId id="1993"/>
          </p14:sldIdLst>
        </p14:section>
        <p14:section name="Global Brand Guidelines" id="{A9BED091-56B3-4195-AD91-553702D5E24E}">
          <p14:sldIdLst>
            <p14:sldId id="2007"/>
            <p14:sldId id="1995"/>
            <p14:sldId id="1996"/>
            <p14:sldId id="1997"/>
            <p14:sldId id="1998"/>
          </p14:sldIdLst>
        </p14:section>
        <p14:section name="Email Signature and Templates" id="{06483F9B-8902-4211-A66D-2250DF7360F7}">
          <p14:sldIdLst>
            <p14:sldId id="2008"/>
            <p14:sldId id="1999"/>
            <p14:sldId id="2000"/>
            <p14:sldId id="2001"/>
            <p14:sldId id="2015"/>
          </p14:sldIdLst>
        </p14:section>
        <p14:section name="Frequently Asked Questions" id="{0C51512D-2BEE-4947-A1AB-A976E19682C8}">
          <p14:sldIdLst>
            <p14:sldId id="2013"/>
            <p14:sldId id="2019"/>
            <p14:sldId id="539"/>
          </p14:sldIdLst>
        </p14:section>
        <p14:section name="Appendix" id="{FB532CE0-A25F-4BBB-A76E-1A4E9C8A5AAC}">
          <p14:sldIdLst>
            <p14:sldId id="2012"/>
            <p14:sldId id="2020"/>
            <p14:sldId id="2021"/>
            <p14:sldId id="2022"/>
            <p14:sldId id="2024"/>
            <p14:sldId id="2023"/>
          </p14:sldIdLst>
        </p14:section>
      </p14:sectionLst>
    </p:ext>
    <p:ext uri="{EFAFB233-063F-42B5-8137-9DF3F51BA10A}">
      <p15:sldGuideLst xmlns:p15="http://schemas.microsoft.com/office/powerpoint/2012/main">
        <p15:guide id="1" pos="3885" userDrawn="1">
          <p15:clr>
            <a:srgbClr val="A4A3A4"/>
          </p15:clr>
        </p15:guide>
        <p15:guide id="3" orient="horz" pos="482" userDrawn="1">
          <p15:clr>
            <a:srgbClr val="A4A3A4"/>
          </p15:clr>
        </p15:guide>
        <p15:guide id="4" orient="horz" pos="1026"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C7A757-AC78-E9BE-CEB0-1765C6376B23}" name="Easey, Jackie" initials="EJ" userId="S::jeasey@deloitte.ca::77a1a279-2477-4e7e-bb18-ac1d5356b41c" providerId="AD"/>
  <p188:author id="{A1840593-A2A4-ECA1-4C1C-416DA228BD7C}" name="White, Felicia" initials="FW" userId="S::fewhite@deloitte.com::4c0063f2-1b27-4c8e-a5a2-e38ef003a467" providerId="AD"/>
  <p188:author id="{85A4F7EC-B54B-B873-FDD3-7B48449DEA04}" name="Lee, Phylicia" initials="PL" userId="S::phlee@deloitte.com::6c472aa5-2e7d-41a7-8422-c1b08836c66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A7E1"/>
    <a:srgbClr val="26890D"/>
    <a:srgbClr val="648A5A"/>
    <a:srgbClr val="0076A8"/>
    <a:srgbClr val="5494AC"/>
    <a:srgbClr val="E5C2E9"/>
    <a:srgbClr val="A0DCFF"/>
    <a:srgbClr val="046A38"/>
    <a:srgbClr val="FFFFFF"/>
    <a:srgbClr val="D0D0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869354-1055-4D4E-9F19-4EB047B17183}" v="1" dt="2026-02-12T19:22:12.2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268"/>
      </p:cViewPr>
      <p:guideLst>
        <p:guide pos="3885"/>
        <p:guide orient="horz" pos="482"/>
        <p:guide orient="horz" pos="1026"/>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gs" Target="tags/tag1.xml"/><Relationship Id="rId48"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2/15/2026</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3024" userDrawn="1">
          <p15:clr>
            <a:srgbClr val="F26B43"/>
          </p15:clr>
        </p15:guide>
        <p15:guide id="2" pos="230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2/15/2026</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C79A1-7B74-2C65-87F3-9F0C51BD61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A81C7-65A6-DF1D-9D8A-B17AC96F52C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2BD8866-5A78-AB73-52DC-90A6E61761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6B45ED6-F7FD-CAD3-922D-288CDA51DB7F}"/>
              </a:ext>
            </a:extLst>
          </p:cNvPr>
          <p:cNvSpPr>
            <a:spLocks noGrp="1"/>
          </p:cNvSpPr>
          <p:nvPr>
            <p:ph type="sldNum" sz="quarter" idx="5"/>
          </p:nvPr>
        </p:nvSpPr>
        <p:spPr/>
        <p:txBody>
          <a:bodyPr/>
          <a:lstStyle/>
          <a:p>
            <a:fld id="{C0F4A2C8-6C88-4E71-83EE-698B9D4FE22F}" type="slidenum">
              <a:rPr lang="en-US" smtClean="0"/>
              <a:pPr/>
              <a:t>1</a:t>
            </a:fld>
            <a:endParaRPr lang="en-US"/>
          </a:p>
        </p:txBody>
      </p:sp>
    </p:spTree>
    <p:extLst>
      <p:ext uri="{BB962C8B-B14F-4D97-AF65-F5344CB8AC3E}">
        <p14:creationId xmlns:p14="http://schemas.microsoft.com/office/powerpoint/2010/main" val="234468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4</a:t>
            </a:fld>
            <a:endParaRPr lang="en-US"/>
          </a:p>
        </p:txBody>
      </p:sp>
    </p:spTree>
    <p:extLst>
      <p:ext uri="{BB962C8B-B14F-4D97-AF65-F5344CB8AC3E}">
        <p14:creationId xmlns:p14="http://schemas.microsoft.com/office/powerpoint/2010/main" val="1616574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2F852-413E-76A5-9470-B98D99BBC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3BE0A5-4786-6F24-A525-8F0F1CE8BE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20C5E0-9965-FD23-8724-225506BDE012}"/>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DF54040B-FA23-B373-A939-840A4C7726D9}"/>
              </a:ext>
            </a:extLst>
          </p:cNvPr>
          <p:cNvSpPr>
            <a:spLocks noGrp="1"/>
          </p:cNvSpPr>
          <p:nvPr>
            <p:ph type="sldNum" sz="quarter" idx="5"/>
          </p:nvPr>
        </p:nvSpPr>
        <p:spPr/>
        <p:txBody>
          <a:bodyPr/>
          <a:lstStyle/>
          <a:p>
            <a:fld id="{C0F4A2C8-6C88-4E71-83EE-698B9D4FE22F}" type="slidenum">
              <a:rPr lang="en-US" smtClean="0"/>
              <a:pPr/>
              <a:t>8</a:t>
            </a:fld>
            <a:endParaRPr lang="en-US"/>
          </a:p>
        </p:txBody>
      </p:sp>
    </p:spTree>
    <p:extLst>
      <p:ext uri="{BB962C8B-B14F-4D97-AF65-F5344CB8AC3E}">
        <p14:creationId xmlns:p14="http://schemas.microsoft.com/office/powerpoint/2010/main" val="39151611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23</a:t>
            </a:fld>
            <a:endParaRPr lang="en-US">
              <a:solidFill>
                <a:prstClr val="black"/>
              </a:solidFill>
            </a:endParaRPr>
          </a:p>
        </p:txBody>
      </p:sp>
    </p:spTree>
    <p:extLst>
      <p:ext uri="{BB962C8B-B14F-4D97-AF65-F5344CB8AC3E}">
        <p14:creationId xmlns:p14="http://schemas.microsoft.com/office/powerpoint/2010/main" val="1953103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24</a:t>
            </a:fld>
            <a:endParaRPr lang="en-US">
              <a:solidFill>
                <a:prstClr val="black"/>
              </a:solidFill>
            </a:endParaRPr>
          </a:p>
        </p:txBody>
      </p:sp>
    </p:spTree>
    <p:extLst>
      <p:ext uri="{BB962C8B-B14F-4D97-AF65-F5344CB8AC3E}">
        <p14:creationId xmlns:p14="http://schemas.microsoft.com/office/powerpoint/2010/main" val="1595468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67360-DE41-CD1D-3ADE-94A20B7A8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244C8-F9EE-3CF7-7CA4-59F7F776CA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3EAC2B-D4F4-C662-83EE-E33468C6B77D}"/>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9D7BCE4E-050F-0B4D-1F7D-4744C485734D}"/>
              </a:ext>
            </a:extLst>
          </p:cNvPr>
          <p:cNvSpPr>
            <a:spLocks noGrp="1"/>
          </p:cNvSpPr>
          <p:nvPr>
            <p:ph type="sldNum" sz="quarter" idx="10"/>
          </p:nvPr>
        </p:nvSpPr>
        <p:spPr/>
        <p:txBody>
          <a:bodyPr/>
          <a:lstStyle/>
          <a:p>
            <a:fld id="{C0F4A2C8-6C88-4E71-83EE-698B9D4FE22F}" type="slidenum">
              <a:rPr lang="en-US" smtClean="0">
                <a:solidFill>
                  <a:prstClr val="black"/>
                </a:solidFill>
              </a:rPr>
              <a:pPr/>
              <a:t>25</a:t>
            </a:fld>
            <a:endParaRPr lang="en-US">
              <a:solidFill>
                <a:prstClr val="black"/>
              </a:solidFill>
            </a:endParaRPr>
          </a:p>
        </p:txBody>
      </p:sp>
    </p:spTree>
    <p:extLst>
      <p:ext uri="{BB962C8B-B14F-4D97-AF65-F5344CB8AC3E}">
        <p14:creationId xmlns:p14="http://schemas.microsoft.com/office/powerpoint/2010/main" val="3717922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F07E4-8C8F-0CAF-63BD-1F9E46A61C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50C0A-D3E1-A115-0C42-075F2481DD4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2883AD-F17D-1282-DAE5-9F2A51B2088A}"/>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E2746E58-BD12-F99C-DD6E-4C0FE4A09EE3}"/>
              </a:ext>
            </a:extLst>
          </p:cNvPr>
          <p:cNvSpPr>
            <a:spLocks noGrp="1"/>
          </p:cNvSpPr>
          <p:nvPr>
            <p:ph type="sldNum" sz="quarter" idx="10"/>
          </p:nvPr>
        </p:nvSpPr>
        <p:spPr/>
        <p:txBody>
          <a:bodyPr/>
          <a:lstStyle/>
          <a:p>
            <a:fld id="{C0F4A2C8-6C88-4E71-83EE-698B9D4FE22F}" type="slidenum">
              <a:rPr lang="en-US" smtClean="0">
                <a:solidFill>
                  <a:prstClr val="black"/>
                </a:solidFill>
              </a:rPr>
              <a:pPr/>
              <a:t>26</a:t>
            </a:fld>
            <a:endParaRPr lang="en-US">
              <a:solidFill>
                <a:prstClr val="black"/>
              </a:solidFill>
            </a:endParaRPr>
          </a:p>
        </p:txBody>
      </p:sp>
    </p:spTree>
    <p:extLst>
      <p:ext uri="{BB962C8B-B14F-4D97-AF65-F5344CB8AC3E}">
        <p14:creationId xmlns:p14="http://schemas.microsoft.com/office/powerpoint/2010/main" val="1788498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1453E-4AEC-B701-87CC-1BE8539F2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0E63A-2FAC-6A63-7CF4-E3CB8A885A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F721382-683A-80F6-75AC-F6D21C398982}"/>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4242B55C-FF9B-5246-FCB1-0404D956C3B9}"/>
              </a:ext>
            </a:extLst>
          </p:cNvPr>
          <p:cNvSpPr>
            <a:spLocks noGrp="1"/>
          </p:cNvSpPr>
          <p:nvPr>
            <p:ph type="sldNum" sz="quarter" idx="10"/>
          </p:nvPr>
        </p:nvSpPr>
        <p:spPr/>
        <p:txBody>
          <a:bodyPr/>
          <a:lstStyle/>
          <a:p>
            <a:fld id="{C0F4A2C8-6C88-4E71-83EE-698B9D4FE22F}" type="slidenum">
              <a:rPr lang="en-US" smtClean="0">
                <a:solidFill>
                  <a:prstClr val="black"/>
                </a:solidFill>
              </a:rPr>
              <a:pPr/>
              <a:t>28</a:t>
            </a:fld>
            <a:endParaRPr lang="en-US">
              <a:solidFill>
                <a:prstClr val="black"/>
              </a:solidFill>
            </a:endParaRPr>
          </a:p>
        </p:txBody>
      </p:sp>
    </p:spTree>
    <p:extLst>
      <p:ext uri="{BB962C8B-B14F-4D97-AF65-F5344CB8AC3E}">
        <p14:creationId xmlns:p14="http://schemas.microsoft.com/office/powerpoint/2010/main" val="1231288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EC699-2A4F-D142-F717-0B418E977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FABAB-87B1-3C8A-CD32-8B66724201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587452-D702-A6E8-841C-88FCBC259E9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1FAA6F20-79CE-073E-D6A8-8F79DD1E679C}"/>
              </a:ext>
            </a:extLst>
          </p:cNvPr>
          <p:cNvSpPr>
            <a:spLocks noGrp="1"/>
          </p:cNvSpPr>
          <p:nvPr>
            <p:ph type="sldNum" sz="quarter" idx="10"/>
          </p:nvPr>
        </p:nvSpPr>
        <p:spPr/>
        <p:txBody>
          <a:bodyPr/>
          <a:lstStyle/>
          <a:p>
            <a:fld id="{C0F4A2C8-6C88-4E71-83EE-698B9D4FE22F}" type="slidenum">
              <a:rPr lang="en-US" smtClean="0">
                <a:solidFill>
                  <a:prstClr val="black"/>
                </a:solidFill>
              </a:rPr>
              <a:pPr/>
              <a:t>31</a:t>
            </a:fld>
            <a:endParaRPr lang="en-US">
              <a:solidFill>
                <a:prstClr val="black"/>
              </a:solidFill>
            </a:endParaRPr>
          </a:p>
        </p:txBody>
      </p:sp>
    </p:spTree>
    <p:extLst>
      <p:ext uri="{BB962C8B-B14F-4D97-AF65-F5344CB8AC3E}">
        <p14:creationId xmlns:p14="http://schemas.microsoft.com/office/powerpoint/2010/main" val="2785957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95F49-4C6C-DEA7-F38F-735F86DAE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DD448-17F8-2E94-9B30-FA32D094B3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382607C-9A9C-DB7B-BF31-A9645B5C5A40}"/>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489C740B-2C83-32FA-F66E-FFBDA31AB629}"/>
              </a:ext>
            </a:extLst>
          </p:cNvPr>
          <p:cNvSpPr>
            <a:spLocks noGrp="1"/>
          </p:cNvSpPr>
          <p:nvPr>
            <p:ph type="sldNum" sz="quarter" idx="10"/>
          </p:nvPr>
        </p:nvSpPr>
        <p:spPr/>
        <p:txBody>
          <a:bodyPr/>
          <a:lstStyle/>
          <a:p>
            <a:fld id="{C0F4A2C8-6C88-4E71-83EE-698B9D4FE22F}" type="slidenum">
              <a:rPr lang="en-US" smtClean="0">
                <a:solidFill>
                  <a:prstClr val="black"/>
                </a:solidFill>
              </a:rPr>
              <a:pPr/>
              <a:t>32</a:t>
            </a:fld>
            <a:endParaRPr lang="en-US">
              <a:solidFill>
                <a:prstClr val="black"/>
              </a:solidFill>
            </a:endParaRPr>
          </a:p>
        </p:txBody>
      </p:sp>
    </p:spTree>
    <p:extLst>
      <p:ext uri="{BB962C8B-B14F-4D97-AF65-F5344CB8AC3E}">
        <p14:creationId xmlns:p14="http://schemas.microsoft.com/office/powerpoint/2010/main" val="3529021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2AAE8-2244-BF6B-DEE2-309D6DE36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25A31-CDCC-EDFD-894B-A50FE7A69C4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AC39C3-4458-839F-D0BE-DD3DBFA830EF}"/>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0120CE38-1FA1-49BD-5B30-B9D9181D6038}"/>
              </a:ext>
            </a:extLst>
          </p:cNvPr>
          <p:cNvSpPr>
            <a:spLocks noGrp="1"/>
          </p:cNvSpPr>
          <p:nvPr>
            <p:ph type="sldNum" sz="quarter" idx="10"/>
          </p:nvPr>
        </p:nvSpPr>
        <p:spPr/>
        <p:txBody>
          <a:bodyPr/>
          <a:lstStyle/>
          <a:p>
            <a:fld id="{C0F4A2C8-6C88-4E71-83EE-698B9D4FE22F}" type="slidenum">
              <a:rPr lang="en-US" smtClean="0">
                <a:solidFill>
                  <a:prstClr val="black"/>
                </a:solidFill>
              </a:rPr>
              <a:pPr/>
              <a:t>33</a:t>
            </a:fld>
            <a:endParaRPr lang="en-US">
              <a:solidFill>
                <a:prstClr val="black"/>
              </a:solidFill>
            </a:endParaRPr>
          </a:p>
        </p:txBody>
      </p:sp>
    </p:spTree>
    <p:extLst>
      <p:ext uri="{BB962C8B-B14F-4D97-AF65-F5344CB8AC3E}">
        <p14:creationId xmlns:p14="http://schemas.microsoft.com/office/powerpoint/2010/main" val="251623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430EF-55B8-D05F-B157-7FF8B9F5FF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15CC7-C4CB-98AC-351D-169BAA6C43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399492-CA00-A41E-942A-66FF846F63E4}"/>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FF7DBBED-559D-06AC-6504-BDE02482BD50}"/>
              </a:ext>
            </a:extLst>
          </p:cNvPr>
          <p:cNvSpPr>
            <a:spLocks noGrp="1"/>
          </p:cNvSpPr>
          <p:nvPr>
            <p:ph type="sldNum" sz="quarter" idx="10"/>
          </p:nvPr>
        </p:nvSpPr>
        <p:spPr/>
        <p:txBody>
          <a:bodyPr/>
          <a:lstStyle/>
          <a:p>
            <a:fld id="{C0F4A2C8-6C88-4E71-83EE-698B9D4FE22F}" type="slidenum">
              <a:rPr lang="en-US" smtClean="0">
                <a:solidFill>
                  <a:prstClr val="black"/>
                </a:solidFill>
              </a:rPr>
              <a:pPr/>
              <a:t>34</a:t>
            </a:fld>
            <a:endParaRPr lang="en-US">
              <a:solidFill>
                <a:prstClr val="black"/>
              </a:solidFill>
            </a:endParaRPr>
          </a:p>
        </p:txBody>
      </p:sp>
    </p:spTree>
    <p:extLst>
      <p:ext uri="{BB962C8B-B14F-4D97-AF65-F5344CB8AC3E}">
        <p14:creationId xmlns:p14="http://schemas.microsoft.com/office/powerpoint/2010/main" val="11782330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F9B1C-9755-39AC-1FBC-7618C672A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7A4217-8CCB-A8E6-5A2E-4D4D8EAC6AA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021E55-3AA9-23AB-3B5C-5E9758343BF1}"/>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4D956150-D319-3476-BFC3-A30BF451146C}"/>
              </a:ext>
            </a:extLst>
          </p:cNvPr>
          <p:cNvSpPr>
            <a:spLocks noGrp="1"/>
          </p:cNvSpPr>
          <p:nvPr>
            <p:ph type="sldNum" sz="quarter" idx="10"/>
          </p:nvPr>
        </p:nvSpPr>
        <p:spPr/>
        <p:txBody>
          <a:bodyPr/>
          <a:lstStyle/>
          <a:p>
            <a:fld id="{C0F4A2C8-6C88-4E71-83EE-698B9D4FE22F}" type="slidenum">
              <a:rPr lang="en-US" smtClean="0">
                <a:solidFill>
                  <a:prstClr val="black"/>
                </a:solidFill>
              </a:rPr>
              <a:pPr/>
              <a:t>35</a:t>
            </a:fld>
            <a:endParaRPr lang="en-US">
              <a:solidFill>
                <a:prstClr val="black"/>
              </a:solidFill>
            </a:endParaRPr>
          </a:p>
        </p:txBody>
      </p:sp>
    </p:spTree>
    <p:extLst>
      <p:ext uri="{BB962C8B-B14F-4D97-AF65-F5344CB8AC3E}">
        <p14:creationId xmlns:p14="http://schemas.microsoft.com/office/powerpoint/2010/main" val="20391339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11.emf"/><Relationship Id="rId4" Type="http://schemas.openxmlformats.org/officeDocument/2006/relationships/oleObject" Target="../embeddings/oleObject2.bin"/></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1.emf"/><Relationship Id="rId4" Type="http://schemas.openxmlformats.org/officeDocument/2006/relationships/oleObject" Target="../embeddings/oleObject2.bin"/></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1.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11.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1.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1.emf"/></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11.emf"/><Relationship Id="rId4" Type="http://schemas.openxmlformats.org/officeDocument/2006/relationships/oleObject" Target="../embeddings/oleObject2.bin"/></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with tagline logo lockup">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779776"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342900" y="5155461"/>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342900" y="6335100"/>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7FC5E484-EB26-0B50-B87A-799C320E830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sp>
        <p:nvSpPr>
          <p:cNvPr id="5" name="TextBox 4">
            <a:extLst>
              <a:ext uri="{FF2B5EF4-FFF2-40B4-BE49-F238E27FC236}">
                <a16:creationId xmlns:a16="http://schemas.microsoft.com/office/drawing/2014/main" id="{E73D8F94-F309-BD4F-ACBC-59CA66AB6B5D}"/>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tx1"/>
                </a:solidFill>
                <a:latin typeface="+mn-lt"/>
              </a:rPr>
              <a:t>CLASSIFICATION: CONFIDENTIAL – INTERNAL USE ONLY</a:t>
            </a:r>
          </a:p>
        </p:txBody>
      </p:sp>
    </p:spTree>
    <p:extLst>
      <p:ext uri="{BB962C8B-B14F-4D97-AF65-F5344CB8AC3E}">
        <p14:creationId xmlns:p14="http://schemas.microsoft.com/office/powerpoint/2010/main" val="4078760341"/>
      </p:ext>
    </p:extLst>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342900" y="5155461"/>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342900" y="6335100"/>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pic>
        <p:nvPicPr>
          <p:cNvPr id="5" name="Picture 4" descr="A picture containing text, clipart, vector graphics, sign&#10;&#10;Description automatically generated">
            <a:extLst>
              <a:ext uri="{FF2B5EF4-FFF2-40B4-BE49-F238E27FC236}">
                <a16:creationId xmlns:a16="http://schemas.microsoft.com/office/drawing/2014/main" id="{A569ADD6-27E7-8500-272F-BD65884BD859}"/>
              </a:ext>
            </a:extLst>
          </p:cNvPr>
          <p:cNvPicPr>
            <a:picLocks noChangeAspect="1"/>
          </p:cNvPicPr>
          <p:nvPr userDrawn="1"/>
        </p:nvPicPr>
        <p:blipFill>
          <a:blip r:embed="rId3"/>
          <a:stretch>
            <a:fillRect/>
          </a:stretch>
        </p:blipFill>
        <p:spPr>
          <a:xfrm>
            <a:off x="10705627" y="342899"/>
            <a:ext cx="1143473" cy="461963"/>
          </a:xfrm>
          <a:prstGeom prst="rect">
            <a:avLst/>
          </a:prstGeom>
        </p:spPr>
      </p:pic>
      <p:sp>
        <p:nvSpPr>
          <p:cNvPr id="2" name="CaseCode">
            <a:extLst>
              <a:ext uri="{FF2B5EF4-FFF2-40B4-BE49-F238E27FC236}">
                <a16:creationId xmlns:a16="http://schemas.microsoft.com/office/drawing/2014/main" id="{92249EAE-1379-B9C8-0B9B-9612E6773275}"/>
              </a:ext>
            </a:extLst>
          </p:cNvPr>
          <p:cNvSpPr txBox="1"/>
          <p:nvPr userDrawn="1"/>
        </p:nvSpPr>
        <p:spPr>
          <a:xfrm>
            <a:off x="6745039" y="6533960"/>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b="1" noProof="0">
                <a:solidFill>
                  <a:srgbClr val="75787B"/>
                </a:solidFill>
                <a:latin typeface="Aptos" panose="020B0004020202020204" pitchFamily="34" charset="0"/>
                <a:cs typeface="Calibri" panose="020F0502020204030204" pitchFamily="34" charset="0"/>
              </a:rPr>
              <a:t>Global Finance Services </a:t>
            </a:r>
            <a:r>
              <a:rPr lang="en-US" sz="800" noProof="0">
                <a:solidFill>
                  <a:srgbClr val="75787B"/>
                </a:solidFill>
                <a:latin typeface="Aptos" panose="020B0004020202020204" pitchFamily="34" charset="0"/>
                <a:cs typeface="Calibri" panose="020F0502020204030204" pitchFamily="34" charset="0"/>
              </a:rPr>
              <a:t>| Language and style guide</a:t>
            </a:r>
          </a:p>
        </p:txBody>
      </p:sp>
    </p:spTree>
    <p:extLst>
      <p:ext uri="{BB962C8B-B14F-4D97-AF65-F5344CB8AC3E}">
        <p14:creationId xmlns:p14="http://schemas.microsoft.com/office/powerpoint/2010/main" val="2560208011"/>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with tagline logo lockup">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342900" y="5155461"/>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342900" y="6335100"/>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BD417F91-0FD9-83FB-569A-B960E93D5A0F}"/>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sp>
        <p:nvSpPr>
          <p:cNvPr id="3" name="TextBox 2">
            <a:extLst>
              <a:ext uri="{FF2B5EF4-FFF2-40B4-BE49-F238E27FC236}">
                <a16:creationId xmlns:a16="http://schemas.microsoft.com/office/drawing/2014/main" id="{4F4F7EB9-5234-C7DD-5937-E6ACC78F2927}"/>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bg1"/>
                </a:solidFill>
                <a:latin typeface="+mn-lt"/>
              </a:rPr>
              <a:t>CLASSIFICATION: CONFIDENTIAL – INTERNAL USE ONLY</a:t>
            </a:r>
          </a:p>
        </p:txBody>
      </p:sp>
    </p:spTree>
    <p:extLst>
      <p:ext uri="{BB962C8B-B14F-4D97-AF65-F5344CB8AC3E}">
        <p14:creationId xmlns:p14="http://schemas.microsoft.com/office/powerpoint/2010/main" val="798840824"/>
      </p:ext>
    </p:extLst>
  </p:cSld>
  <p:clrMapOvr>
    <a:masterClrMapping/>
  </p:clrMapOvr>
  <p:transition>
    <p:fad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342900" y="5155461"/>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342900" y="6335100"/>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pic>
        <p:nvPicPr>
          <p:cNvPr id="3" name="Picture 2" descr="A green text on a black background&#10;&#10;Description automatically generated with low confidence">
            <a:extLst>
              <a:ext uri="{FF2B5EF4-FFF2-40B4-BE49-F238E27FC236}">
                <a16:creationId xmlns:a16="http://schemas.microsoft.com/office/drawing/2014/main" id="{16ECE96D-0268-2DD7-E2A0-53A15F196F27}"/>
              </a:ext>
            </a:extLst>
          </p:cNvPr>
          <p:cNvPicPr>
            <a:picLocks noChangeAspect="1"/>
          </p:cNvPicPr>
          <p:nvPr userDrawn="1"/>
        </p:nvPicPr>
        <p:blipFill>
          <a:blip r:embed="rId3"/>
          <a:stretch>
            <a:fillRect/>
          </a:stretch>
        </p:blipFill>
        <p:spPr>
          <a:xfrm>
            <a:off x="10661194" y="321469"/>
            <a:ext cx="1187906" cy="479914"/>
          </a:xfrm>
          <a:prstGeom prst="rect">
            <a:avLst/>
          </a:prstGeom>
        </p:spPr>
      </p:pic>
      <p:sp>
        <p:nvSpPr>
          <p:cNvPr id="2" name="TextBox 1">
            <a:extLst>
              <a:ext uri="{FF2B5EF4-FFF2-40B4-BE49-F238E27FC236}">
                <a16:creationId xmlns:a16="http://schemas.microsoft.com/office/drawing/2014/main" id="{F40EAEA4-3BDD-0AAA-3E63-0FF5184A89E2}"/>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bg1"/>
                </a:solidFill>
                <a:latin typeface="+mn-lt"/>
              </a:rPr>
              <a:t>CLASSIFICATION: CONFIDENTIAL – INTERNAL USE ONLY</a:t>
            </a:r>
          </a:p>
        </p:txBody>
      </p:sp>
    </p:spTree>
    <p:extLst>
      <p:ext uri="{BB962C8B-B14F-4D97-AF65-F5344CB8AC3E}">
        <p14:creationId xmlns:p14="http://schemas.microsoft.com/office/powerpoint/2010/main" val="1962867617"/>
      </p:ext>
    </p:extLst>
  </p:cSld>
  <p:clrMapOvr>
    <a:masterClrMapping/>
  </p:clrMapOvr>
  <p:transition>
    <p:fade/>
  </p:transition>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Dark Green with tagline logo lockup">
    <p:bg bwMode="gray">
      <p:bgPr>
        <a:solidFill>
          <a:schemeClr val="accent4"/>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B7407E-377A-4F39-DC00-81501C6D7C33}"/>
              </a:ext>
            </a:extLst>
          </p:cNvPr>
          <p:cNvSpPr/>
          <p:nvPr userDrawn="1"/>
        </p:nvSpPr>
        <p:spPr bwMode="gray">
          <a:xfrm>
            <a:off x="0" y="0"/>
            <a:ext cx="12192000" cy="6858000"/>
          </a:xfrm>
          <a:prstGeom prst="rect">
            <a:avLst/>
          </a:prstGeom>
          <a:gradFill>
            <a:gsLst>
              <a:gs pos="81000">
                <a:srgbClr val="0076A8"/>
              </a:gs>
              <a:gs pos="4000">
                <a:schemeClr val="accent3"/>
              </a:gs>
              <a:gs pos="39000">
                <a:schemeClr val="accent1"/>
              </a:gs>
            </a:gsLst>
            <a:lin ang="2700000" scaled="1"/>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mn-lt"/>
            </a:endParaRPr>
          </a:p>
        </p:txBody>
      </p:sp>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342900" y="5155461"/>
            <a:ext cx="4490721" cy="895983"/>
          </a:xfrm>
          <a:prstGeom prst="rect">
            <a:avLst/>
          </a:prstGeom>
        </p:spPr>
        <p:txBody>
          <a:bodyPr anchor="b" anchorCtr="0">
            <a:noAutofit/>
          </a:bodyPr>
          <a:lstStyle>
            <a:lvl1pPr algn="l">
              <a:lnSpc>
                <a:spcPts val="3200"/>
              </a:lnSpc>
              <a:defRPr sz="3200" b="0">
                <a:solidFill>
                  <a:schemeClr val="accent6"/>
                </a:solidFill>
                <a:latin typeface="+mn-lt"/>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342900" y="6335100"/>
            <a:ext cx="4490721" cy="180000"/>
          </a:xfrm>
          <a:prstGeom prst="rect">
            <a:avLst/>
          </a:prstGeom>
        </p:spPr>
        <p:txBody>
          <a:bodyPr anchor="ctr">
            <a:noAutofit/>
          </a:bodyPr>
          <a:lstStyle>
            <a:lvl1pPr>
              <a:spcAft>
                <a:spcPts val="0"/>
              </a:spcAft>
              <a:defRPr sz="1400" b="1">
                <a:solidFill>
                  <a:schemeClr val="accent6"/>
                </a:solidFill>
                <a:latin typeface="+mn-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3F8A2FFF-A4B2-D935-C7DC-1DB5EDE4A71C}"/>
              </a:ext>
            </a:extLst>
          </p:cNvPr>
          <p:cNvSpPr>
            <a:spLocks noGrp="1"/>
          </p:cNvSpPr>
          <p:nvPr>
            <p:ph type="pic" sz="quarter" idx="11"/>
          </p:nvPr>
        </p:nvSpPr>
        <p:spPr>
          <a:xfrm>
            <a:off x="5959257" y="698373"/>
            <a:ext cx="5544000" cy="5544000"/>
          </a:xfrm>
          <a:prstGeom prst="rect">
            <a:avLst/>
          </a:prstGeom>
        </p:spPr>
        <p:txBody>
          <a:bodyPr/>
          <a:lstStyle>
            <a:lvl1pPr>
              <a:defRPr>
                <a:latin typeface="+mn-lt"/>
              </a:defRPr>
            </a:lvl1pPr>
          </a:lstStyle>
          <a:p>
            <a:r>
              <a:rPr lang="en-US" noProof="0"/>
              <a:t>Click icon to add picture</a:t>
            </a:r>
          </a:p>
        </p:txBody>
      </p:sp>
      <p:sp>
        <p:nvSpPr>
          <p:cNvPr id="5" name="TextBox 4">
            <a:extLst>
              <a:ext uri="{FF2B5EF4-FFF2-40B4-BE49-F238E27FC236}">
                <a16:creationId xmlns:a16="http://schemas.microsoft.com/office/drawing/2014/main" id="{3224372B-4598-C48B-01D1-D42D92336524}"/>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bg1"/>
                </a:solidFill>
                <a:latin typeface="+mn-lt"/>
              </a:rPr>
              <a:t>CLASSIFICATION: CONFIDENTIAL – INTERNAL USE ONLY</a:t>
            </a:r>
          </a:p>
        </p:txBody>
      </p:sp>
    </p:spTree>
    <p:extLst>
      <p:ext uri="{BB962C8B-B14F-4D97-AF65-F5344CB8AC3E}">
        <p14:creationId xmlns:p14="http://schemas.microsoft.com/office/powerpoint/2010/main" val="2482687463"/>
      </p:ext>
    </p:extLst>
  </p:cSld>
  <p:clrMapOvr>
    <a:masterClrMapping/>
  </p:clrMapOvr>
  <p:transition>
    <p:fade/>
  </p:transition>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Dark Green">
    <p:bg bwMode="gray">
      <p:bgPr>
        <a:solidFill>
          <a:schemeClr val="accent4"/>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342900" y="5155461"/>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342900" y="6335100"/>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5BCB8175-C467-0B04-B004-47252C8E68C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sp>
        <p:nvSpPr>
          <p:cNvPr id="3" name="TextBox 2">
            <a:extLst>
              <a:ext uri="{FF2B5EF4-FFF2-40B4-BE49-F238E27FC236}">
                <a16:creationId xmlns:a16="http://schemas.microsoft.com/office/drawing/2014/main" id="{D48F7AF2-89D0-D4F4-BD06-449D9CA215B0}"/>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bg1"/>
                </a:solidFill>
                <a:latin typeface="+mn-lt"/>
              </a:rPr>
              <a:t>CLASSIFICATION: CONFIDENTIAL – INTERNAL USE ONLY</a:t>
            </a:r>
          </a:p>
        </p:txBody>
      </p:sp>
    </p:spTree>
    <p:extLst>
      <p:ext uri="{BB962C8B-B14F-4D97-AF65-F5344CB8AC3E}">
        <p14:creationId xmlns:p14="http://schemas.microsoft.com/office/powerpoint/2010/main" val="3574433454"/>
      </p:ext>
    </p:extLst>
  </p:cSld>
  <p:clrMapOvr>
    <a:masterClrMapping/>
  </p:clrMapOvr>
  <p:transition>
    <p:fade/>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342900" y="5155461"/>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342900" y="6335100"/>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2" name="Picture 1" descr="Deloitte logo lockup with Together makes progress tagline">
            <a:extLst>
              <a:ext uri="{FF2B5EF4-FFF2-40B4-BE49-F238E27FC236}">
                <a16:creationId xmlns:a16="http://schemas.microsoft.com/office/drawing/2014/main" id="{BE86AADC-48FD-960B-F4EC-82693FA499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2779773" cy="1308222"/>
          </a:xfrm>
          <a:prstGeom prst="rect">
            <a:avLst/>
          </a:prstGeom>
        </p:spPr>
      </p:pic>
      <p:sp>
        <p:nvSpPr>
          <p:cNvPr id="3" name="TextBox 2">
            <a:extLst>
              <a:ext uri="{FF2B5EF4-FFF2-40B4-BE49-F238E27FC236}">
                <a16:creationId xmlns:a16="http://schemas.microsoft.com/office/drawing/2014/main" id="{1497B43D-6C3C-6771-F2D6-20A3D10CFD88}"/>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bg1"/>
                </a:solidFill>
                <a:latin typeface="+mn-lt"/>
              </a:rPr>
              <a:t>CLASSIFICATION: CONFIDENTIAL – INTERNAL USE ONLY</a:t>
            </a:r>
          </a:p>
        </p:txBody>
      </p:sp>
    </p:spTree>
    <p:extLst>
      <p:ext uri="{BB962C8B-B14F-4D97-AF65-F5344CB8AC3E}">
        <p14:creationId xmlns:p14="http://schemas.microsoft.com/office/powerpoint/2010/main" val="2162659336"/>
      </p:ext>
    </p:extLst>
  </p:cSld>
  <p:clrMapOvr>
    <a:masterClrMapping/>
  </p:clrMapOvr>
  <p:transition>
    <p:fade/>
  </p:transition>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342900" y="5155461"/>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342900" y="6335100"/>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3" name="TextBox 2">
            <a:extLst>
              <a:ext uri="{FF2B5EF4-FFF2-40B4-BE49-F238E27FC236}">
                <a16:creationId xmlns:a16="http://schemas.microsoft.com/office/drawing/2014/main" id="{11998332-324B-0F15-9814-C9C5EC5A3277}"/>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bg1"/>
                </a:solidFill>
                <a:latin typeface="+mn-lt"/>
              </a:rPr>
              <a:t>CLASSIFICATION: CONFIDENTIAL – INTERNAL USE ONLY</a:t>
            </a:r>
          </a:p>
        </p:txBody>
      </p:sp>
    </p:spTree>
    <p:extLst>
      <p:ext uri="{BB962C8B-B14F-4D97-AF65-F5344CB8AC3E}">
        <p14:creationId xmlns:p14="http://schemas.microsoft.com/office/powerpoint/2010/main" val="3410558785"/>
      </p:ext>
    </p:extLst>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Highlight">
    <p:bg bwMode="gray">
      <p:bgPr>
        <a:solidFill>
          <a:schemeClr val="tx1"/>
        </a:solidFill>
        <a:effectLst/>
      </p:bgPr>
    </p:bg>
    <p:spTree>
      <p:nvGrpSpPr>
        <p:cNvPr id="1" name=""/>
        <p:cNvGrpSpPr/>
        <p:nvPr/>
      </p:nvGrpSpPr>
      <p:grpSpPr>
        <a:xfrm>
          <a:off x="0" y="0"/>
          <a:ext cx="0" cy="0"/>
          <a:chOff x="0" y="0"/>
          <a:chExt cx="0" cy="0"/>
        </a:xfrm>
      </p:grpSpPr>
      <p:pic>
        <p:nvPicPr>
          <p:cNvPr id="3" name="Picture 2" descr="A person and person sitting at a table&#10;&#10;AI-generated content may be incorrect.">
            <a:extLst>
              <a:ext uri="{FF2B5EF4-FFF2-40B4-BE49-F238E27FC236}">
                <a16:creationId xmlns:a16="http://schemas.microsoft.com/office/drawing/2014/main" id="{DF8ADBCB-845C-C2E0-203D-472E8225F4A9}"/>
              </a:ext>
            </a:extLst>
          </p:cNvPr>
          <p:cNvPicPr>
            <a:picLocks noChangeAspect="1"/>
          </p:cNvPicPr>
          <p:nvPr userDrawn="1"/>
        </p:nvPicPr>
        <p:blipFill>
          <a:blip r:embed="rId2"/>
          <a:stretch>
            <a:fillRect/>
          </a:stretch>
        </p:blipFill>
        <p:spPr>
          <a:xfrm>
            <a:off x="762" y="428"/>
            <a:ext cx="12190476" cy="6857143"/>
          </a:xfrm>
          <a:prstGeom prst="rect">
            <a:avLst/>
          </a:prstGeom>
        </p:spPr>
      </p:pic>
      <p:pic>
        <p:nvPicPr>
          <p:cNvPr id="4" name="Picture 3">
            <a:extLst>
              <a:ext uri="{FF2B5EF4-FFF2-40B4-BE49-F238E27FC236}">
                <a16:creationId xmlns:a16="http://schemas.microsoft.com/office/drawing/2014/main" id="{AD2B5769-5F88-4673-A1B6-132BB0C783DF}"/>
              </a:ext>
            </a:extLst>
          </p:cNvPr>
          <p:cNvPicPr>
            <a:picLocks noChangeAspect="1"/>
          </p:cNvPicPr>
          <p:nvPr userDrawn="1"/>
        </p:nvPicPr>
        <p:blipFill>
          <a:blip r:embed="rId3"/>
          <a:srcRect/>
          <a:stretch/>
        </p:blipFill>
        <p:spPr>
          <a:xfrm>
            <a:off x="0" y="0"/>
            <a:ext cx="12192000" cy="6857999"/>
          </a:xfrm>
          <a:prstGeom prst="rect">
            <a:avLst/>
          </a:prstGeom>
        </p:spPr>
      </p:pic>
      <p:pic>
        <p:nvPicPr>
          <p:cNvPr id="8" name="Picture 7" descr="Deloitte logo">
            <a:extLst>
              <a:ext uri="{FF2B5EF4-FFF2-40B4-BE49-F238E27FC236}">
                <a16:creationId xmlns:a16="http://schemas.microsoft.com/office/drawing/2014/main" id="{159AC992-383C-6B20-63BB-DEB1F75CF9E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0" y="0"/>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342900" y="5125907"/>
            <a:ext cx="4490721" cy="895983"/>
          </a:xfrm>
          <a:prstGeom prst="rect">
            <a:avLst/>
          </a:prstGeom>
        </p:spPr>
        <p:txBody>
          <a:bodyPr anchor="b" anchorCtr="0">
            <a:noAutofit/>
          </a:bodyPr>
          <a:lstStyle>
            <a:lvl1pPr algn="l">
              <a:lnSpc>
                <a:spcPts val="3200"/>
              </a:lnSpc>
              <a:defRPr sz="3200" b="0">
                <a:solidFill>
                  <a:schemeClr val="accent5"/>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342900" y="6305546"/>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Tree>
    <p:extLst>
      <p:ext uri="{BB962C8B-B14F-4D97-AF65-F5344CB8AC3E}">
        <p14:creationId xmlns:p14="http://schemas.microsoft.com/office/powerpoint/2010/main" val="893631006"/>
      </p:ext>
    </p:extLst>
  </p:cSld>
  <p:clrMapOvr>
    <a:masterClrMapping/>
  </p:clrMapOvr>
  <p:transition>
    <p:fade/>
  </p:transition>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Black">
    <p:bg bwMode="gray">
      <p:bgPr>
        <a:solidFill>
          <a:schemeClr val="tx1"/>
        </a:solidFill>
        <a:effectLst/>
      </p:bgPr>
    </p:bg>
    <p:spTree>
      <p:nvGrpSpPr>
        <p:cNvPr id="1" name=""/>
        <p:cNvGrpSpPr/>
        <p:nvPr/>
      </p:nvGrpSpPr>
      <p:grpSpPr>
        <a:xfrm>
          <a:off x="0" y="0"/>
          <a:ext cx="0" cy="0"/>
          <a:chOff x="0" y="0"/>
          <a:chExt cx="0" cy="0"/>
        </a:xfrm>
      </p:grpSpPr>
      <p:pic>
        <p:nvPicPr>
          <p:cNvPr id="3" name="Picture 2" descr="A black and grey background&#10;&#10;AI-generated content may be incorrect.">
            <a:extLst>
              <a:ext uri="{FF2B5EF4-FFF2-40B4-BE49-F238E27FC236}">
                <a16:creationId xmlns:a16="http://schemas.microsoft.com/office/drawing/2014/main" id="{79F6B018-5063-E4FF-2932-E8D3731F0695}"/>
              </a:ext>
            </a:extLst>
          </p:cNvPr>
          <p:cNvPicPr>
            <a:picLocks noChangeAspect="1"/>
          </p:cNvPicPr>
          <p:nvPr userDrawn="1"/>
        </p:nvPicPr>
        <p:blipFill>
          <a:blip r:embed="rId3">
            <a:alphaModFix amt="29000"/>
          </a:blip>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7A005E4F-2716-44CE-8F02-6398D5D57009}"/>
              </a:ext>
            </a:extLst>
          </p:cNvPr>
          <p:cNvSpPr/>
          <p:nvPr userDrawn="1"/>
        </p:nvSpPr>
        <p:spPr bwMode="gray">
          <a:xfrm>
            <a:off x="0" y="-2"/>
            <a:ext cx="8432800" cy="6858001"/>
          </a:xfrm>
          <a:prstGeom prst="rect">
            <a:avLst/>
          </a:prstGeom>
          <a:gradFill flip="none" rotWithShape="1">
            <a:gsLst>
              <a:gs pos="86000">
                <a:schemeClr val="tx1">
                  <a:alpha val="0"/>
                </a:schemeClr>
              </a:gs>
              <a:gs pos="32000">
                <a:schemeClr val="tx1"/>
              </a:gs>
            </a:gsLst>
            <a:lin ang="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mn-lt"/>
            </a:endParaRPr>
          </a:p>
        </p:txBody>
      </p:sp>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342900" y="1682496"/>
            <a:ext cx="11506200" cy="1592403"/>
          </a:xfrm>
          <a:prstGeom prst="rect">
            <a:avLst/>
          </a:prstGeom>
        </p:spPr>
        <p:txBody>
          <a:bodyPr vert="horz" anchor="t"/>
          <a:lstStyle>
            <a:lvl1pPr>
              <a:lnSpc>
                <a:spcPct val="95000"/>
              </a:lnSpc>
              <a:defRPr sz="3600" b="1">
                <a:solidFill>
                  <a:schemeClr val="bg1"/>
                </a:solidFill>
                <a:latin typeface="+mn-lt"/>
                <a:ea typeface="Open Sans" panose="020B0606030504020204" pitchFamily="34" charset="0"/>
                <a:cs typeface="Open Sans" panose="020B0606030504020204" pitchFamily="34" charset="0"/>
              </a:defRPr>
            </a:lvl1pPr>
          </a:lstStyle>
          <a:p>
            <a:pPr lvl="0"/>
            <a:r>
              <a:rPr lang="en-US" noProof="0"/>
              <a:t>Click to add text</a:t>
            </a:r>
          </a:p>
        </p:txBody>
      </p:sp>
      <p:sp>
        <p:nvSpPr>
          <p:cNvPr id="6" name="TextBox 5">
            <a:extLst>
              <a:ext uri="{FF2B5EF4-FFF2-40B4-BE49-F238E27FC236}">
                <a16:creationId xmlns:a16="http://schemas.microsoft.com/office/drawing/2014/main" id="{2C46DB11-7F9B-66F0-4381-24BBFBCDF285}"/>
              </a:ext>
            </a:extLst>
          </p:cNvPr>
          <p:cNvSpPr txBox="1"/>
          <p:nvPr userDrawn="1"/>
        </p:nvSpPr>
        <p:spPr>
          <a:xfrm>
            <a:off x="11538231" y="6533960"/>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mn-lt"/>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mn-lt"/>
              <a:cs typeface="Calibri" panose="020F0502020204030204" pitchFamily="34" charset="0"/>
            </a:endParaRPr>
          </a:p>
        </p:txBody>
      </p:sp>
      <p:sp>
        <p:nvSpPr>
          <p:cNvPr id="2" name="TextBox 1">
            <a:extLst>
              <a:ext uri="{FF2B5EF4-FFF2-40B4-BE49-F238E27FC236}">
                <a16:creationId xmlns:a16="http://schemas.microsoft.com/office/drawing/2014/main" id="{7C2D7D61-7440-1224-5495-030EAE5B7D06}"/>
              </a:ext>
            </a:extLst>
          </p:cNvPr>
          <p:cNvSpPr txBox="1"/>
          <p:nvPr userDrawn="1"/>
        </p:nvSpPr>
        <p:spPr>
          <a:xfrm>
            <a:off x="469900" y="6473152"/>
            <a:ext cx="5355167" cy="107722"/>
          </a:xfrm>
          <a:prstGeom prst="rect">
            <a:avLst/>
          </a:prstGeom>
          <a:noFill/>
        </p:spPr>
        <p:txBody>
          <a:bodyPr wrap="square" lIns="0" tIns="0" rIns="0" bIns="0" rtlCol="0">
            <a:spAutoFit/>
          </a:bodyPr>
          <a:lstStyle/>
          <a:p>
            <a:pPr marL="0" indent="0">
              <a:spcBef>
                <a:spcPts val="0"/>
              </a:spcBef>
              <a:spcAft>
                <a:spcPts val="600"/>
              </a:spcAft>
              <a:buSzPct val="100000"/>
              <a:buFont typeface="Arial"/>
              <a:buNone/>
            </a:pPr>
            <a:r>
              <a:rPr lang="en-US" sz="700" noProof="0">
                <a:solidFill>
                  <a:schemeClr val="bg1"/>
                </a:solidFill>
                <a:latin typeface="+mn-lt"/>
              </a:rPr>
              <a:t>© 2026. Deloitte GFS Limited. All rights reserved.</a:t>
            </a:r>
          </a:p>
        </p:txBody>
      </p:sp>
      <p:sp>
        <p:nvSpPr>
          <p:cNvPr id="7" name="TextBox 6">
            <a:extLst>
              <a:ext uri="{FF2B5EF4-FFF2-40B4-BE49-F238E27FC236}">
                <a16:creationId xmlns:a16="http://schemas.microsoft.com/office/drawing/2014/main" id="{CCE54E8A-7DE4-7B3B-F24F-14BFD525FCAD}"/>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bg1"/>
                </a:solidFill>
                <a:latin typeface="+mn-lt"/>
              </a:rPr>
              <a:t>CLASSIFICATION: CONFIDENTIAL – INTERNAL USE ONLY</a:t>
            </a:r>
          </a:p>
        </p:txBody>
      </p:sp>
    </p:spTree>
    <p:extLst>
      <p:ext uri="{BB962C8B-B14F-4D97-AF65-F5344CB8AC3E}">
        <p14:creationId xmlns:p14="http://schemas.microsoft.com/office/powerpoint/2010/main" val="175128202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ivider - Black">
    <p:bg bwMode="gray">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F6B018-5063-E4FF-2932-E8D3731F0695}"/>
              </a:ext>
            </a:extLst>
          </p:cNvPr>
          <p:cNvPicPr>
            <a:picLocks noChangeAspect="1"/>
          </p:cNvPicPr>
          <p:nvPr userDrawn="1"/>
        </p:nvPicPr>
        <p:blipFill>
          <a:blip r:embed="rId3"/>
          <a:srcRect l="72" r="72"/>
          <a:stretch/>
        </p:blipFill>
        <p:spPr>
          <a:xfrm>
            <a:off x="0" y="0"/>
            <a:ext cx="12174420" cy="6858000"/>
          </a:xfrm>
          <a:prstGeom prst="rect">
            <a:avLst/>
          </a:prstGeom>
        </p:spPr>
      </p:pic>
      <p:sp>
        <p:nvSpPr>
          <p:cNvPr id="9" name="Rectangle 8">
            <a:extLst>
              <a:ext uri="{FF2B5EF4-FFF2-40B4-BE49-F238E27FC236}">
                <a16:creationId xmlns:a16="http://schemas.microsoft.com/office/drawing/2014/main" id="{7A005E4F-2716-44CE-8F02-6398D5D57009}"/>
              </a:ext>
            </a:extLst>
          </p:cNvPr>
          <p:cNvSpPr/>
          <p:nvPr userDrawn="1"/>
        </p:nvSpPr>
        <p:spPr bwMode="gray">
          <a:xfrm>
            <a:off x="0" y="-2"/>
            <a:ext cx="8432800" cy="6858001"/>
          </a:xfrm>
          <a:prstGeom prst="rect">
            <a:avLst/>
          </a:prstGeom>
          <a:gradFill flip="none" rotWithShape="1">
            <a:gsLst>
              <a:gs pos="86000">
                <a:schemeClr val="bg1">
                  <a:alpha val="0"/>
                </a:schemeClr>
              </a:gs>
              <a:gs pos="32000">
                <a:schemeClr val="bg1"/>
              </a:gs>
            </a:gsLst>
            <a:lin ang="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mn-lt"/>
            </a:endParaRPr>
          </a:p>
        </p:txBody>
      </p:sp>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CaseCode">
            <a:extLst>
              <a:ext uri="{FF2B5EF4-FFF2-40B4-BE49-F238E27FC236}">
                <a16:creationId xmlns:a16="http://schemas.microsoft.com/office/drawing/2014/main" id="{F66B8CC3-E19E-166A-CD1F-F6FAB287E3C7}"/>
              </a:ext>
            </a:extLst>
          </p:cNvPr>
          <p:cNvSpPr txBox="1"/>
          <p:nvPr userDrawn="1"/>
        </p:nvSpPr>
        <p:spPr>
          <a:xfrm>
            <a:off x="6745039" y="6533960"/>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b="1" noProof="0">
                <a:solidFill>
                  <a:schemeClr val="tx1"/>
                </a:solidFill>
                <a:latin typeface="+mn-lt"/>
                <a:cs typeface="Calibri" panose="020F0502020204030204" pitchFamily="34" charset="0"/>
              </a:rPr>
              <a:t>Global Finance Services </a:t>
            </a:r>
            <a:r>
              <a:rPr lang="en-US" sz="800" noProof="0">
                <a:solidFill>
                  <a:schemeClr val="tx1"/>
                </a:solidFill>
                <a:latin typeface="+mn-lt"/>
                <a:cs typeface="Calibri" panose="020F0502020204030204" pitchFamily="34" charset="0"/>
              </a:rPr>
              <a:t>| Language and style guide</a:t>
            </a:r>
          </a:p>
        </p:txBody>
      </p:sp>
      <p:sp>
        <p:nvSpPr>
          <p:cNvPr id="10" name="TextBox 9">
            <a:extLst>
              <a:ext uri="{FF2B5EF4-FFF2-40B4-BE49-F238E27FC236}">
                <a16:creationId xmlns:a16="http://schemas.microsoft.com/office/drawing/2014/main" id="{41F869D3-2F43-9931-8581-BA62047B0379}"/>
              </a:ext>
            </a:extLst>
          </p:cNvPr>
          <p:cNvSpPr txBox="1"/>
          <p:nvPr userDrawn="1"/>
        </p:nvSpPr>
        <p:spPr>
          <a:xfrm>
            <a:off x="11538231" y="6533960"/>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mn-lt"/>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mn-lt"/>
              <a:cs typeface="Calibri" panose="020F0502020204030204" pitchFamily="34" charset="0"/>
            </a:endParaRPr>
          </a:p>
        </p:txBody>
      </p:sp>
      <p:sp>
        <p:nvSpPr>
          <p:cNvPr id="4" name="TextBox 3">
            <a:extLst>
              <a:ext uri="{FF2B5EF4-FFF2-40B4-BE49-F238E27FC236}">
                <a16:creationId xmlns:a16="http://schemas.microsoft.com/office/drawing/2014/main" id="{EE5F1A02-02DA-A76C-54E3-A7A0734EF66F}"/>
              </a:ext>
            </a:extLst>
          </p:cNvPr>
          <p:cNvSpPr txBox="1"/>
          <p:nvPr userDrawn="1"/>
        </p:nvSpPr>
        <p:spPr>
          <a:xfrm>
            <a:off x="469900" y="6473152"/>
            <a:ext cx="5355167" cy="107722"/>
          </a:xfrm>
          <a:prstGeom prst="rect">
            <a:avLst/>
          </a:prstGeom>
          <a:noFill/>
        </p:spPr>
        <p:txBody>
          <a:bodyPr wrap="square" lIns="0" tIns="0" rIns="0" bIns="0" rtlCol="0">
            <a:spAutoFit/>
          </a:bodyPr>
          <a:lstStyle/>
          <a:p>
            <a:pPr marL="0" indent="0">
              <a:spcBef>
                <a:spcPts val="0"/>
              </a:spcBef>
              <a:spcAft>
                <a:spcPts val="600"/>
              </a:spcAft>
              <a:buSzPct val="100000"/>
              <a:buFont typeface="Arial"/>
              <a:buNone/>
            </a:pPr>
            <a:r>
              <a:rPr lang="en-US" sz="700" noProof="0">
                <a:solidFill>
                  <a:schemeClr val="tx1"/>
                </a:solidFill>
                <a:latin typeface="+mn-lt"/>
              </a:rPr>
              <a:t>© 2026. Deloitte GFS Limited. All rights reserved.</a:t>
            </a:r>
          </a:p>
        </p:txBody>
      </p:sp>
    </p:spTree>
    <p:extLst>
      <p:ext uri="{BB962C8B-B14F-4D97-AF65-F5344CB8AC3E}">
        <p14:creationId xmlns:p14="http://schemas.microsoft.com/office/powerpoint/2010/main" val="304354754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342900" y="345992"/>
            <a:ext cx="11506200" cy="342000"/>
          </a:xfrm>
          <a:prstGeom prst="rect">
            <a:avLst/>
          </a:prstGeom>
        </p:spPr>
        <p:txBody>
          <a:bodyPr vert="horz" lIns="0" tIns="0" rIns="0" bIns="0" rtlCol="0" anchor="t" anchorCtr="0">
            <a:noAutofit/>
          </a:bodyPr>
          <a:lstStyle>
            <a:lvl1pPr>
              <a:defRPr sz="2100" b="0" i="0">
                <a:solidFill>
                  <a:srgbClr val="00A3E0"/>
                </a:solidFill>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2758644826"/>
      </p:ext>
    </p:extLst>
  </p:cSld>
  <p:clrMapOvr>
    <a:masterClrMapping/>
  </p:clrMapOvr>
  <p:transition>
    <p:fade/>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342900" y="684000"/>
            <a:ext cx="115062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mn-lt"/>
              </a:defRPr>
            </a:lvl1pPr>
          </a:lstStyle>
          <a:p>
            <a:pPr lvl="0"/>
            <a:r>
              <a:rPr lang="en-US"/>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342900" y="345992"/>
            <a:ext cx="11506200" cy="342000"/>
          </a:xfrm>
          <a:prstGeom prst="rect">
            <a:avLst/>
          </a:prstGeom>
        </p:spPr>
        <p:txBody>
          <a:bodyPr vert="horz" lIns="0" tIns="0" rIns="0" bIns="0" rtlCol="0" anchor="t" anchorCtr="0">
            <a:noAutofit/>
          </a:bodyPr>
          <a:lstStyle>
            <a:lvl1pPr>
              <a:spcBef>
                <a:spcPts val="0"/>
              </a:spcBef>
              <a:spcAft>
                <a:spcPts val="0"/>
              </a:spcAft>
              <a:defRPr sz="2100" b="0" i="0">
                <a:solidFill>
                  <a:srgbClr val="00A3E0"/>
                </a:solidFill>
                <a:latin typeface="+mn-lt"/>
              </a:defRPr>
            </a:lvl1pPr>
          </a:lstStyle>
          <a:p>
            <a:r>
              <a:rPr lang="en-US"/>
              <a:t>Click to add title</a:t>
            </a:r>
          </a:p>
        </p:txBody>
      </p:sp>
    </p:spTree>
    <p:extLst>
      <p:ext uri="{BB962C8B-B14F-4D97-AF65-F5344CB8AC3E}">
        <p14:creationId xmlns:p14="http://schemas.microsoft.com/office/powerpoint/2010/main" val="1581937135"/>
      </p:ext>
    </p:extLst>
  </p:cSld>
  <p:clrMapOvr>
    <a:masterClrMapping/>
  </p:clrMapOvr>
  <p:transition>
    <p:fade/>
  </p:transition>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pic>
        <p:nvPicPr>
          <p:cNvPr id="20" name="Picture 19" descr="A white background with triangles&#10;&#10;AI-generated content may be incorrect.">
            <a:extLst>
              <a:ext uri="{FF2B5EF4-FFF2-40B4-BE49-F238E27FC236}">
                <a16:creationId xmlns:a16="http://schemas.microsoft.com/office/drawing/2014/main" id="{2ADB54D3-80AD-B4E6-322F-7B8863113182}"/>
              </a:ext>
            </a:extLst>
          </p:cNvPr>
          <p:cNvPicPr>
            <a:picLocks noChangeAspect="1"/>
          </p:cNvPicPr>
          <p:nvPr userDrawn="1"/>
        </p:nvPicPr>
        <p:blipFill>
          <a:blip r:embed="rId3">
            <a:alphaModFix amt="50000"/>
          </a:blip>
          <a:stretch>
            <a:fillRect/>
          </a:stretch>
        </p:blipFill>
        <p:spPr>
          <a:xfrm>
            <a:off x="0" y="0"/>
            <a:ext cx="12182036" cy="6858000"/>
          </a:xfrm>
          <a:prstGeom prst="rect">
            <a:avLst/>
          </a:prstGeom>
        </p:spPr>
      </p:pic>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330200" y="684000"/>
            <a:ext cx="11506200" cy="757255"/>
          </a:xfrm>
          <a:prstGeom prst="rect">
            <a:avLst/>
          </a:prstGeom>
        </p:spPr>
        <p:txBody>
          <a:bodyPr lIns="0" tIns="0" rIns="0" bIns="0" anchor="t" anchorCtr="0">
            <a:noAutofit/>
          </a:bodyPr>
          <a:lstStyle>
            <a:lvl1pPr marL="0" indent="0">
              <a:spcBef>
                <a:spcPts val="0"/>
              </a:spcBef>
              <a:spcAft>
                <a:spcPts val="0"/>
              </a:spcAft>
              <a:buNone/>
              <a:defRPr sz="1800" b="0" i="0">
                <a:solidFill>
                  <a:srgbClr val="19435F"/>
                </a:solidFill>
                <a:latin typeface="Aptos" panose="020B0004020202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330200" y="345992"/>
            <a:ext cx="11506200" cy="342000"/>
          </a:xfrm>
          <a:prstGeom prst="rect">
            <a:avLst/>
          </a:prstGeom>
        </p:spPr>
        <p:txBody>
          <a:bodyPr vert="horz" lIns="0" tIns="0" rIns="0" bIns="0" rtlCol="0" anchor="t" anchorCtr="0">
            <a:noAutofit/>
          </a:bodyPr>
          <a:lstStyle>
            <a:lvl1pPr>
              <a:spcBef>
                <a:spcPts val="0"/>
              </a:spcBef>
              <a:spcAft>
                <a:spcPts val="0"/>
              </a:spcAft>
              <a:defRPr sz="2100" b="0" i="0">
                <a:solidFill>
                  <a:srgbClr val="00A3E0"/>
                </a:solidFill>
                <a:latin typeface="Aptos" panose="020B0004020202020204" pitchFamily="34" charset="0"/>
              </a:defRPr>
            </a:lvl1pPr>
          </a:lstStyle>
          <a:p>
            <a:r>
              <a:rPr lang="en-US"/>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342900" y="1682496"/>
            <a:ext cx="11506200"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Box 7">
            <a:extLst>
              <a:ext uri="{FF2B5EF4-FFF2-40B4-BE49-F238E27FC236}">
                <a16:creationId xmlns:a16="http://schemas.microsoft.com/office/drawing/2014/main" id="{EE0DD0A2-1944-91DC-8F0C-2B9C2EC22701}"/>
              </a:ext>
            </a:extLst>
          </p:cNvPr>
          <p:cNvSpPr txBox="1"/>
          <p:nvPr userDrawn="1"/>
        </p:nvSpPr>
        <p:spPr>
          <a:xfrm>
            <a:off x="11538231" y="6533960"/>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362436643"/>
      </p:ext>
    </p:extLst>
  </p:cSld>
  <p:clrMapOvr>
    <a:masterClrMapping/>
  </p:clrMapOvr>
  <p:transition>
    <p:fade/>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342900" y="4345304"/>
            <a:ext cx="8566108" cy="2169796"/>
          </a:xfrm>
        </p:spPr>
        <p:txBody>
          <a:bodyPr anchor="b" anchorCtr="0">
            <a:normAutofit/>
          </a:bodyPr>
          <a:lstStyle>
            <a:lvl1pPr>
              <a:lnSpc>
                <a:spcPct val="100000"/>
              </a:lnSpc>
              <a:spcBef>
                <a:spcPts val="200"/>
              </a:spcBef>
              <a:spcAft>
                <a:spcPts val="200"/>
              </a:spcAft>
              <a:defRPr sz="800" b="0"/>
            </a:lvl1pPr>
          </a:lstStyle>
          <a:p>
            <a:pPr lvl="0"/>
            <a:r>
              <a:rPr lang="en-US"/>
              <a:t>Click to add text</a:t>
            </a:r>
          </a:p>
        </p:txBody>
      </p:sp>
      <p:pic>
        <p:nvPicPr>
          <p:cNvPr id="2" name="Picture 1" descr="Deloitte logo">
            <a:extLst>
              <a:ext uri="{FF2B5EF4-FFF2-40B4-BE49-F238E27FC236}">
                <a16:creationId xmlns:a16="http://schemas.microsoft.com/office/drawing/2014/main" id="{1BEBA89D-3AAC-3CB0-C580-EB5B545736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2779773" cy="1308222"/>
          </a:xfrm>
          <a:prstGeom prst="rect">
            <a:avLst/>
          </a:prstGeom>
        </p:spPr>
      </p:pic>
      <p:sp>
        <p:nvSpPr>
          <p:cNvPr id="5" name="TextBox 4">
            <a:extLst>
              <a:ext uri="{FF2B5EF4-FFF2-40B4-BE49-F238E27FC236}">
                <a16:creationId xmlns:a16="http://schemas.microsoft.com/office/drawing/2014/main" id="{65064BED-74CE-3FA0-68B6-99F7D8D7C216}"/>
              </a:ext>
            </a:extLst>
          </p:cNvPr>
          <p:cNvSpPr txBox="1"/>
          <p:nvPr userDrawn="1"/>
        </p:nvSpPr>
        <p:spPr>
          <a:xfrm>
            <a:off x="469900" y="6473152"/>
            <a:ext cx="5355167" cy="107722"/>
          </a:xfrm>
          <a:prstGeom prst="rect">
            <a:avLst/>
          </a:prstGeom>
          <a:noFill/>
        </p:spPr>
        <p:txBody>
          <a:bodyPr wrap="square" lIns="0" tIns="0" rIns="0" bIns="0" rtlCol="0">
            <a:spAutoFit/>
          </a:bodyPr>
          <a:lstStyle/>
          <a:p>
            <a:pPr marL="0" indent="0">
              <a:spcBef>
                <a:spcPts val="0"/>
              </a:spcBef>
              <a:spcAft>
                <a:spcPts val="600"/>
              </a:spcAft>
              <a:buSzPct val="100000"/>
              <a:buFont typeface="Arial"/>
              <a:buNone/>
            </a:pPr>
            <a:r>
              <a:rPr lang="en-US" sz="700" noProof="0">
                <a:solidFill>
                  <a:schemeClr val="tx1"/>
                </a:solidFill>
                <a:latin typeface="+mn-lt"/>
              </a:rPr>
              <a:t>© 2026. Deloitte GFS Limited. All rights reserved.</a:t>
            </a:r>
          </a:p>
        </p:txBody>
      </p:sp>
      <p:sp>
        <p:nvSpPr>
          <p:cNvPr id="8" name="TextBox 7">
            <a:extLst>
              <a:ext uri="{FF2B5EF4-FFF2-40B4-BE49-F238E27FC236}">
                <a16:creationId xmlns:a16="http://schemas.microsoft.com/office/drawing/2014/main" id="{56311184-ADA4-EDCE-ACE1-F2A820799E15}"/>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tx1"/>
                </a:solidFill>
                <a:latin typeface="+mn-lt"/>
              </a:rPr>
              <a:t>CLASSIFICATION: CONFIDENTIAL – INTERNAL USE ONLY</a:t>
            </a:r>
          </a:p>
        </p:txBody>
      </p:sp>
    </p:spTree>
    <p:extLst>
      <p:ext uri="{BB962C8B-B14F-4D97-AF65-F5344CB8AC3E}">
        <p14:creationId xmlns:p14="http://schemas.microsoft.com/office/powerpoint/2010/main" val="1598903040"/>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Title, subtitle, 1 column - Light Gray">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65DC73-CAA2-5C4C-3CF6-12AECAD605EC}"/>
              </a:ext>
            </a:extLst>
          </p:cNvPr>
          <p:cNvSpPr/>
          <p:nvPr userDrawn="1"/>
        </p:nvSpPr>
        <p:spPr bwMode="gray">
          <a:xfrm flipV="1">
            <a:off x="0" y="0"/>
            <a:ext cx="12192000" cy="6858000"/>
          </a:xfrm>
          <a:prstGeom prst="rect">
            <a:avLst/>
          </a:prstGeom>
          <a:gradFill flip="none" rotWithShape="1">
            <a:gsLst>
              <a:gs pos="0">
                <a:schemeClr val="accent1"/>
              </a:gs>
              <a:gs pos="100000">
                <a:schemeClr val="accent3"/>
              </a:gs>
            </a:gsLst>
            <a:lin ang="0" scaled="0"/>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mn-lt"/>
            </a:endParaRPr>
          </a:p>
        </p:txBody>
      </p:sp>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342900" y="608466"/>
            <a:ext cx="11506200" cy="398072"/>
          </a:xfrm>
        </p:spPr>
        <p:txBody>
          <a:bodyPr tIns="0" bIns="0">
            <a:noAutofit/>
          </a:bodyPr>
          <a:lstStyle>
            <a:lvl1pPr marL="0" indent="0">
              <a:buNone/>
              <a:defRPr sz="2800" b="1">
                <a:solidFill>
                  <a:schemeClr val="bg1"/>
                </a:solidFill>
                <a:latin typeface="+mn-lt"/>
              </a:defRPr>
            </a:lvl1pPr>
          </a:lstStyle>
          <a:p>
            <a:pPr lvl="0"/>
            <a:r>
              <a:rPr lang="en-US"/>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342900" y="344856"/>
            <a:ext cx="115062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solidFill>
                  <a:schemeClr val="accent4"/>
                </a:solidFill>
                <a:latin typeface="+mn-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87151E83-8288-6276-2D08-DAD18E0328FF}"/>
              </a:ext>
            </a:extLst>
          </p:cNvPr>
          <p:cNvSpPr txBox="1"/>
          <p:nvPr userDrawn="1"/>
        </p:nvSpPr>
        <p:spPr>
          <a:xfrm>
            <a:off x="11538231" y="6533960"/>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mn-lt"/>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mn-lt"/>
              <a:cs typeface="Calibri" panose="020F0502020204030204" pitchFamily="34" charset="0"/>
            </a:endParaRPr>
          </a:p>
        </p:txBody>
      </p:sp>
      <p:sp>
        <p:nvSpPr>
          <p:cNvPr id="7" name="TextBox 6">
            <a:extLst>
              <a:ext uri="{FF2B5EF4-FFF2-40B4-BE49-F238E27FC236}">
                <a16:creationId xmlns:a16="http://schemas.microsoft.com/office/drawing/2014/main" id="{E0866C52-EAC4-C5E2-6EBE-0B4A91F2960E}"/>
              </a:ext>
            </a:extLst>
          </p:cNvPr>
          <p:cNvSpPr txBox="1"/>
          <p:nvPr userDrawn="1"/>
        </p:nvSpPr>
        <p:spPr>
          <a:xfrm>
            <a:off x="469900" y="6473152"/>
            <a:ext cx="5355167" cy="107722"/>
          </a:xfrm>
          <a:prstGeom prst="rect">
            <a:avLst/>
          </a:prstGeom>
          <a:noFill/>
        </p:spPr>
        <p:txBody>
          <a:bodyPr wrap="square" lIns="0" tIns="0" rIns="0" bIns="0" rtlCol="0">
            <a:spAutoFit/>
          </a:bodyPr>
          <a:lstStyle/>
          <a:p>
            <a:pPr marL="0" indent="0">
              <a:spcBef>
                <a:spcPts val="0"/>
              </a:spcBef>
              <a:spcAft>
                <a:spcPts val="600"/>
              </a:spcAft>
              <a:buSzPct val="100000"/>
              <a:buFont typeface="Arial"/>
              <a:buNone/>
            </a:pPr>
            <a:r>
              <a:rPr lang="en-US" sz="700" noProof="0">
                <a:solidFill>
                  <a:schemeClr val="bg1"/>
                </a:solidFill>
                <a:latin typeface="+mn-lt"/>
              </a:rPr>
              <a:t>© 2026. Deloitte GFS Limited. All rights reserved.</a:t>
            </a:r>
          </a:p>
        </p:txBody>
      </p:sp>
      <p:sp>
        <p:nvSpPr>
          <p:cNvPr id="8" name="TextBox 7">
            <a:extLst>
              <a:ext uri="{FF2B5EF4-FFF2-40B4-BE49-F238E27FC236}">
                <a16:creationId xmlns:a16="http://schemas.microsoft.com/office/drawing/2014/main" id="{5D3D4C72-BEDF-72D3-C449-7A8F05DCBC22}"/>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bg1"/>
                </a:solidFill>
                <a:latin typeface="+mn-lt"/>
              </a:rPr>
              <a:t>CLASSIFICATION: CONFIDENTIAL – INTERNAL USE ONLY</a:t>
            </a:r>
          </a:p>
        </p:txBody>
      </p:sp>
    </p:spTree>
    <p:extLst>
      <p:ext uri="{BB962C8B-B14F-4D97-AF65-F5344CB8AC3E}">
        <p14:creationId xmlns:p14="http://schemas.microsoft.com/office/powerpoint/2010/main" val="1100339784"/>
      </p:ext>
    </p:extLst>
  </p:cSld>
  <p:clrMapOvr>
    <a:masterClrMapping/>
  </p:clrMapOvr>
  <p:transition>
    <p:fade/>
  </p:transition>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342900" y="345992"/>
            <a:ext cx="11506200" cy="342000"/>
          </a:xfrm>
          <a:prstGeom prst="rect">
            <a:avLst/>
          </a:prstGeom>
        </p:spPr>
        <p:txBody>
          <a:bodyPr vert="horz" lIns="0" tIns="0" rIns="0" bIns="0" rtlCol="0" anchor="t" anchorCtr="0">
            <a:noAutofit/>
          </a:bodyPr>
          <a:lstStyle>
            <a:lvl1pPr>
              <a:defRPr sz="2100" b="0">
                <a:solidFill>
                  <a:srgbClr val="00A3E0"/>
                </a:solidFill>
                <a:latin typeface="Aptos" panose="020B0004020202020204" pitchFamily="34" charset="0"/>
              </a:defRPr>
            </a:lvl1pPr>
          </a:lstStyle>
          <a:p>
            <a:r>
              <a:rPr lang="en-US"/>
              <a:t>Click to add title</a:t>
            </a:r>
          </a:p>
        </p:txBody>
      </p:sp>
      <p:sp>
        <p:nvSpPr>
          <p:cNvPr id="5" name="TextBox 4">
            <a:extLst>
              <a:ext uri="{FF2B5EF4-FFF2-40B4-BE49-F238E27FC236}">
                <a16:creationId xmlns:a16="http://schemas.microsoft.com/office/drawing/2014/main" id="{B9EFA912-E1EF-48A7-D4FF-000D44222A1C}"/>
              </a:ext>
            </a:extLst>
          </p:cNvPr>
          <p:cNvSpPr txBox="1"/>
          <p:nvPr userDrawn="1"/>
        </p:nvSpPr>
        <p:spPr>
          <a:xfrm>
            <a:off x="11538231" y="6533960"/>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03375574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342900" y="684000"/>
            <a:ext cx="11506200" cy="757255"/>
          </a:xfrm>
          <a:prstGeom prst="rect">
            <a:avLst/>
          </a:prstGeom>
        </p:spPr>
        <p:txBody>
          <a:bodyPr lIns="0" tIns="0" rIns="0" bIns="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342900" y="345992"/>
            <a:ext cx="11506200" cy="342000"/>
          </a:xfrm>
          <a:prstGeom prst="rect">
            <a:avLst/>
          </a:prstGeom>
        </p:spPr>
        <p:txBody>
          <a:bodyPr vert="horz" lIns="0" tIns="0" rIns="0" bIns="0" rtlCol="0" anchor="t" anchorCtr="0">
            <a:noAutofit/>
          </a:bodyPr>
          <a:lstStyle>
            <a:lvl1pPr>
              <a:spcBef>
                <a:spcPts val="0"/>
              </a:spcBef>
              <a:spcAft>
                <a:spcPts val="0"/>
              </a:spcAft>
              <a:defRPr sz="2100" b="0">
                <a:solidFill>
                  <a:srgbClr val="00A3E0"/>
                </a:solidFill>
                <a:latin typeface="Aptos" panose="020B0004020202020204" pitchFamily="34" charset="0"/>
              </a:defRPr>
            </a:lvl1pPr>
          </a:lstStyle>
          <a:p>
            <a:r>
              <a:rPr lang="en-US"/>
              <a:t>Click to add title</a:t>
            </a:r>
          </a:p>
        </p:txBody>
      </p:sp>
      <p:sp>
        <p:nvSpPr>
          <p:cNvPr id="6" name="TextBox 5">
            <a:extLst>
              <a:ext uri="{FF2B5EF4-FFF2-40B4-BE49-F238E27FC236}">
                <a16:creationId xmlns:a16="http://schemas.microsoft.com/office/drawing/2014/main" id="{C93664ED-710E-35AB-5699-0CCAEF9AAC2D}"/>
              </a:ext>
            </a:extLst>
          </p:cNvPr>
          <p:cNvSpPr txBox="1"/>
          <p:nvPr userDrawn="1"/>
        </p:nvSpPr>
        <p:spPr>
          <a:xfrm>
            <a:off x="11538231" y="6533960"/>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290383227"/>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342900" y="1677579"/>
            <a:ext cx="11506200" cy="4681728"/>
          </a:xfrm>
          <a:prstGeom prst="rect">
            <a:avLst/>
          </a:prstGeom>
          <a:solidFill>
            <a:schemeClr val="tx1"/>
          </a:solidFill>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marL="365760">
              <a:spcBef>
                <a:spcPts val="200"/>
              </a:spcBef>
              <a:spcAft>
                <a:spcPts val="200"/>
              </a:spcAft>
              <a:defRPr>
                <a:solidFill>
                  <a:schemeClr val="bg1"/>
                </a:solidFill>
                <a:latin typeface="Aptos" panose="020B0004020202020204" pitchFamily="34" charset="0"/>
              </a:defRPr>
            </a:lvl3pPr>
            <a:lvl4pPr marL="548640" indent="-182880">
              <a:spcBef>
                <a:spcPts val="200"/>
              </a:spcBef>
              <a:spcAft>
                <a:spcPts val="200"/>
              </a:spcAft>
              <a:defRPr>
                <a:solidFill>
                  <a:schemeClr val="bg1"/>
                </a:solidFill>
                <a:latin typeface="Aptos" panose="020B0004020202020204" pitchFamily="34" charset="0"/>
              </a:defRPr>
            </a:lvl4pPr>
            <a:lvl5pPr marL="731520">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342900" y="345992"/>
            <a:ext cx="11506200" cy="342000"/>
          </a:xfrm>
          <a:prstGeom prst="rect">
            <a:avLst/>
          </a:prstGeom>
        </p:spPr>
        <p:txBody>
          <a:bodyPr vert="horz" lIns="0" tIns="0" rIns="0" bIns="0" rtlCol="0" anchor="t" anchorCtr="0">
            <a:noAutofit/>
          </a:bodyPr>
          <a:lstStyle>
            <a:lvl1pPr>
              <a:spcBef>
                <a:spcPts val="0"/>
              </a:spcBef>
              <a:spcAft>
                <a:spcPts val="0"/>
              </a:spcAft>
              <a:defRPr sz="2100" b="0">
                <a:solidFill>
                  <a:srgbClr val="00A3E0"/>
                </a:solidFill>
                <a:latin typeface="Aptos" panose="020B0004020202020204" pitchFamily="34" charset="0"/>
              </a:defRPr>
            </a:lvl1pPr>
          </a:lstStyle>
          <a:p>
            <a:r>
              <a:rPr lang="en-US"/>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342900" y="684000"/>
            <a:ext cx="115062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
        <p:nvSpPr>
          <p:cNvPr id="4" name="TextBox 3">
            <a:extLst>
              <a:ext uri="{FF2B5EF4-FFF2-40B4-BE49-F238E27FC236}">
                <a16:creationId xmlns:a16="http://schemas.microsoft.com/office/drawing/2014/main" id="{B9E2C500-FF3F-4A3E-5F54-8F96E566866B}"/>
              </a:ext>
            </a:extLst>
          </p:cNvPr>
          <p:cNvSpPr txBox="1"/>
          <p:nvPr userDrawn="1"/>
        </p:nvSpPr>
        <p:spPr>
          <a:xfrm>
            <a:off x="11538231" y="6533960"/>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C4B0613-96B2-E326-7EEF-A5004FDC33E3}"/>
              </a:ext>
            </a:extLst>
          </p:cNvPr>
          <p:cNvSpPr txBox="1"/>
          <p:nvPr userDrawn="1"/>
        </p:nvSpPr>
        <p:spPr>
          <a:xfrm>
            <a:off x="469900" y="6473152"/>
            <a:ext cx="5355167" cy="107722"/>
          </a:xfrm>
          <a:prstGeom prst="rect">
            <a:avLst/>
          </a:prstGeom>
          <a:noFill/>
        </p:spPr>
        <p:txBody>
          <a:bodyPr wrap="square" lIns="0" tIns="0" rIns="0" bIns="0" rtlCol="0">
            <a:spAutoFit/>
          </a:bodyPr>
          <a:lstStyle/>
          <a:p>
            <a:pPr marL="0" indent="0">
              <a:spcBef>
                <a:spcPts val="0"/>
              </a:spcBef>
              <a:spcAft>
                <a:spcPts val="600"/>
              </a:spcAft>
              <a:buSzPct val="100000"/>
              <a:buFont typeface="Arial"/>
              <a:buNone/>
            </a:pPr>
            <a:r>
              <a:rPr lang="en-US" sz="700" noProof="0">
                <a:solidFill>
                  <a:schemeClr val="bg1"/>
                </a:solidFill>
                <a:latin typeface="+mn-lt"/>
              </a:rPr>
              <a:t>© 2026. Deloitte GFS Limited. All rights reserved.</a:t>
            </a:r>
          </a:p>
        </p:txBody>
      </p:sp>
      <p:sp>
        <p:nvSpPr>
          <p:cNvPr id="8" name="TextBox 7">
            <a:extLst>
              <a:ext uri="{FF2B5EF4-FFF2-40B4-BE49-F238E27FC236}">
                <a16:creationId xmlns:a16="http://schemas.microsoft.com/office/drawing/2014/main" id="{5B6AF46B-AD62-AAD5-A692-F11CBD46D473}"/>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bg1"/>
                </a:solidFill>
                <a:latin typeface="+mn-lt"/>
              </a:rPr>
              <a:t>CLASSIFICATION: CONFIDENTIAL – INTERNAL USE ONLY</a:t>
            </a:r>
          </a:p>
        </p:txBody>
      </p:sp>
    </p:spTree>
    <p:extLst>
      <p:ext uri="{BB962C8B-B14F-4D97-AF65-F5344CB8AC3E}">
        <p14:creationId xmlns:p14="http://schemas.microsoft.com/office/powerpoint/2010/main" val="2423184692"/>
      </p:ext>
    </p:extLst>
  </p:cSld>
  <p:clrMapOvr>
    <a:masterClrMapping/>
  </p:clrMapOvr>
  <p:transition>
    <p:fade/>
  </p:transition>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372083" y="4170206"/>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a:t>Click to add text</a:t>
            </a:r>
          </a:p>
        </p:txBody>
      </p:sp>
      <p:pic>
        <p:nvPicPr>
          <p:cNvPr id="2" name="Picture 1" descr="Deloitte logo">
            <a:extLst>
              <a:ext uri="{FF2B5EF4-FFF2-40B4-BE49-F238E27FC236}">
                <a16:creationId xmlns:a16="http://schemas.microsoft.com/office/drawing/2014/main" id="{4C074566-129B-653D-CAB9-0DAF93F2A1A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5466"/>
            <a:ext cx="2779773" cy="1308221"/>
          </a:xfrm>
          <a:prstGeom prst="rect">
            <a:avLst/>
          </a:prstGeom>
        </p:spPr>
      </p:pic>
      <p:sp>
        <p:nvSpPr>
          <p:cNvPr id="3" name="TextBox 2">
            <a:extLst>
              <a:ext uri="{FF2B5EF4-FFF2-40B4-BE49-F238E27FC236}">
                <a16:creationId xmlns:a16="http://schemas.microsoft.com/office/drawing/2014/main" id="{238BF8AF-D346-3786-8699-0B3ECC70C4FC}"/>
              </a:ext>
            </a:extLst>
          </p:cNvPr>
          <p:cNvSpPr txBox="1"/>
          <p:nvPr userDrawn="1"/>
        </p:nvSpPr>
        <p:spPr>
          <a:xfrm>
            <a:off x="469900" y="6473152"/>
            <a:ext cx="5355167" cy="107722"/>
          </a:xfrm>
          <a:prstGeom prst="rect">
            <a:avLst/>
          </a:prstGeom>
          <a:noFill/>
        </p:spPr>
        <p:txBody>
          <a:bodyPr wrap="square" lIns="0" tIns="0" rIns="0" bIns="0" rtlCol="0">
            <a:spAutoFit/>
          </a:bodyPr>
          <a:lstStyle/>
          <a:p>
            <a:pPr marL="0" indent="0">
              <a:spcBef>
                <a:spcPts val="0"/>
              </a:spcBef>
              <a:spcAft>
                <a:spcPts val="600"/>
              </a:spcAft>
              <a:buSzPct val="100000"/>
              <a:buFont typeface="Arial"/>
              <a:buNone/>
            </a:pPr>
            <a:r>
              <a:rPr lang="en-US" sz="700" noProof="0">
                <a:solidFill>
                  <a:schemeClr val="bg1"/>
                </a:solidFill>
                <a:latin typeface="+mn-lt"/>
              </a:rPr>
              <a:t>© 2026. Deloitte GFS Limited. All rights reserved.</a:t>
            </a:r>
          </a:p>
        </p:txBody>
      </p:sp>
      <p:sp>
        <p:nvSpPr>
          <p:cNvPr id="4" name="TextBox 3">
            <a:extLst>
              <a:ext uri="{FF2B5EF4-FFF2-40B4-BE49-F238E27FC236}">
                <a16:creationId xmlns:a16="http://schemas.microsoft.com/office/drawing/2014/main" id="{DB9338B1-F1EA-2C52-7221-EF870C49E798}"/>
              </a:ext>
            </a:extLst>
          </p:cNvPr>
          <p:cNvSpPr txBox="1"/>
          <p:nvPr userDrawn="1"/>
        </p:nvSpPr>
        <p:spPr>
          <a:xfrm>
            <a:off x="622300" y="6625552"/>
            <a:ext cx="5355167" cy="107722"/>
          </a:xfrm>
          <a:prstGeom prst="rect">
            <a:avLst/>
          </a:prstGeom>
          <a:noFill/>
        </p:spPr>
        <p:txBody>
          <a:bodyPr wrap="square" lIns="0" tIns="0" rIns="0" bIns="0" rtlCol="0">
            <a:spAutoFit/>
          </a:bodyPr>
          <a:lstStyle/>
          <a:p>
            <a:pPr marL="0" indent="0">
              <a:spcBef>
                <a:spcPts val="0"/>
              </a:spcBef>
              <a:spcAft>
                <a:spcPts val="600"/>
              </a:spcAft>
              <a:buSzPct val="100000"/>
              <a:buFont typeface="Arial"/>
              <a:buNone/>
            </a:pPr>
            <a:r>
              <a:rPr lang="en-US" sz="700" noProof="0">
                <a:solidFill>
                  <a:schemeClr val="tx1"/>
                </a:solidFill>
                <a:latin typeface="+mn-lt"/>
              </a:rPr>
              <a:t>© 2026. Deloitte GFS Limited. All rights reserved.</a:t>
            </a:r>
          </a:p>
        </p:txBody>
      </p:sp>
      <p:sp>
        <p:nvSpPr>
          <p:cNvPr id="5" name="TextBox 4">
            <a:extLst>
              <a:ext uri="{FF2B5EF4-FFF2-40B4-BE49-F238E27FC236}">
                <a16:creationId xmlns:a16="http://schemas.microsoft.com/office/drawing/2014/main" id="{92E59CCF-E398-86FB-7BBC-FE1A1AD20B8F}"/>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bg1"/>
                </a:solidFill>
                <a:latin typeface="+mn-lt"/>
              </a:rPr>
              <a:t>CLASSIFICATION: CONFIDENTIAL – INTERNAL USE ONLY</a:t>
            </a:r>
          </a:p>
        </p:txBody>
      </p:sp>
    </p:spTree>
    <p:extLst>
      <p:ext uri="{BB962C8B-B14F-4D97-AF65-F5344CB8AC3E}">
        <p14:creationId xmlns:p14="http://schemas.microsoft.com/office/powerpoint/2010/main" val="1450639513"/>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342900" y="677001"/>
            <a:ext cx="11506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342900" y="342900"/>
            <a:ext cx="11506200" cy="334102"/>
          </a:xfrm>
          <a:prstGeom prst="rect">
            <a:avLst/>
          </a:prstGeom>
        </p:spPr>
        <p:txBody>
          <a:bodyPr vert="horz" lIns="0" tIns="0" rIns="0" bIns="0" rtlCol="0" anchor="t" anchorCtr="0">
            <a:noAutofit/>
          </a:bodyPr>
          <a:lstStyle>
            <a:lvl1pPr>
              <a:defRPr sz="2100" b="0">
                <a:solidFill>
                  <a:srgbClr val="00A3E0"/>
                </a:solidFill>
              </a:defRPr>
            </a:lvl1pPr>
          </a:lstStyle>
          <a:p>
            <a:r>
              <a:rPr lang="en-US" noProof="0"/>
              <a:t>Click to edit Master title style</a:t>
            </a:r>
          </a:p>
        </p:txBody>
      </p:sp>
    </p:spTree>
    <p:extLst>
      <p:ext uri="{BB962C8B-B14F-4D97-AF65-F5344CB8AC3E}">
        <p14:creationId xmlns:p14="http://schemas.microsoft.com/office/powerpoint/2010/main" val="316170170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4" name="Text Placeholder 3"/>
          <p:cNvSpPr>
            <a:spLocks noGrp="1"/>
          </p:cNvSpPr>
          <p:nvPr>
            <p:ph type="body" sz="quarter" idx="14"/>
          </p:nvPr>
        </p:nvSpPr>
        <p:spPr>
          <a:xfrm>
            <a:off x="475325" y="4108704"/>
            <a:ext cx="8595360" cy="2243137"/>
          </a:xfrm>
        </p:spPr>
        <p:txBody>
          <a:bodyPr anchor="b"/>
          <a:lstStyle>
            <a:lvl1pPr>
              <a:spcAft>
                <a:spcPts val="400"/>
              </a:spcAft>
              <a:defRPr sz="800"/>
            </a:lvl1pPr>
          </a:lstStyle>
          <a:p>
            <a:pPr lvl="0"/>
            <a:r>
              <a:rPr lang="en-US"/>
              <a:t>Edit Master text styles</a:t>
            </a:r>
          </a:p>
        </p:txBody>
      </p:sp>
      <p:sp>
        <p:nvSpPr>
          <p:cNvPr id="6" name="TextBox 5">
            <a:extLst>
              <a:ext uri="{FF2B5EF4-FFF2-40B4-BE49-F238E27FC236}">
                <a16:creationId xmlns:a16="http://schemas.microsoft.com/office/drawing/2014/main" id="{51824A36-829E-FFC2-6E36-94D5303CB531}"/>
              </a:ext>
            </a:extLst>
          </p:cNvPr>
          <p:cNvSpPr txBox="1"/>
          <p:nvPr userDrawn="1"/>
        </p:nvSpPr>
        <p:spPr>
          <a:xfrm>
            <a:off x="469900" y="6473152"/>
            <a:ext cx="5355167" cy="107722"/>
          </a:xfrm>
          <a:prstGeom prst="rect">
            <a:avLst/>
          </a:prstGeom>
          <a:noFill/>
        </p:spPr>
        <p:txBody>
          <a:bodyPr wrap="square" lIns="0" tIns="0" rIns="0" bIns="0" rtlCol="0">
            <a:spAutoFit/>
          </a:bodyPr>
          <a:lstStyle/>
          <a:p>
            <a:pPr marL="0" indent="0">
              <a:spcBef>
                <a:spcPts val="0"/>
              </a:spcBef>
              <a:spcAft>
                <a:spcPts val="600"/>
              </a:spcAft>
              <a:buSzPct val="100000"/>
              <a:buFont typeface="Arial"/>
              <a:buNone/>
            </a:pPr>
            <a:r>
              <a:rPr lang="en-US" sz="700" noProof="0">
                <a:solidFill>
                  <a:schemeClr val="tx1"/>
                </a:solidFill>
                <a:latin typeface="+mn-lt"/>
              </a:rPr>
              <a:t>© 2026. Deloitte GFS Limited. All rights reserved.</a:t>
            </a:r>
          </a:p>
        </p:txBody>
      </p:sp>
      <p:sp>
        <p:nvSpPr>
          <p:cNvPr id="7" name="TextBox 6">
            <a:extLst>
              <a:ext uri="{FF2B5EF4-FFF2-40B4-BE49-F238E27FC236}">
                <a16:creationId xmlns:a16="http://schemas.microsoft.com/office/drawing/2014/main" id="{74D5DC30-FEFC-06A4-201F-8DA49EF34254}"/>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tx1"/>
                </a:solidFill>
                <a:latin typeface="+mn-lt"/>
              </a:rPr>
              <a:t>CLASSIFICATION: CONFIDENTIAL – INTERNAL USE ONLY</a:t>
            </a:r>
          </a:p>
        </p:txBody>
      </p:sp>
      <p:pic>
        <p:nvPicPr>
          <p:cNvPr id="2" name="Picture 1" descr="Deloitte logo lockup with Together makes progress tagline">
            <a:extLst>
              <a:ext uri="{FF2B5EF4-FFF2-40B4-BE49-F238E27FC236}">
                <a16:creationId xmlns:a16="http://schemas.microsoft.com/office/drawing/2014/main" id="{5C303E79-EEE9-520F-E482-4F0AE9E175A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2779776" cy="1308222"/>
          </a:xfrm>
          <a:prstGeom prst="rect">
            <a:avLst/>
          </a:prstGeom>
        </p:spPr>
      </p:pic>
    </p:spTree>
    <p:extLst>
      <p:ext uri="{BB962C8B-B14F-4D97-AF65-F5344CB8AC3E}">
        <p14:creationId xmlns:p14="http://schemas.microsoft.com/office/powerpoint/2010/main" val="9380955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Divider - Black">
    <p:bg bwMode="gray">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F6B018-5063-E4FF-2932-E8D3731F0695}"/>
              </a:ext>
            </a:extLst>
          </p:cNvPr>
          <p:cNvPicPr>
            <a:picLocks noChangeAspect="1"/>
          </p:cNvPicPr>
          <p:nvPr userDrawn="1"/>
        </p:nvPicPr>
        <p:blipFill>
          <a:blip r:embed="rId3"/>
          <a:srcRect l="72" r="72"/>
          <a:stretch/>
        </p:blipFill>
        <p:spPr>
          <a:xfrm>
            <a:off x="0" y="0"/>
            <a:ext cx="12174420" cy="6858000"/>
          </a:xfrm>
          <a:prstGeom prst="rect">
            <a:avLst/>
          </a:prstGeom>
        </p:spPr>
      </p:pic>
      <p:sp>
        <p:nvSpPr>
          <p:cNvPr id="9" name="Rectangle 8">
            <a:extLst>
              <a:ext uri="{FF2B5EF4-FFF2-40B4-BE49-F238E27FC236}">
                <a16:creationId xmlns:a16="http://schemas.microsoft.com/office/drawing/2014/main" id="{7A005E4F-2716-44CE-8F02-6398D5D57009}"/>
              </a:ext>
            </a:extLst>
          </p:cNvPr>
          <p:cNvSpPr/>
          <p:nvPr userDrawn="1"/>
        </p:nvSpPr>
        <p:spPr bwMode="gray">
          <a:xfrm>
            <a:off x="0" y="-2"/>
            <a:ext cx="8432800" cy="6858001"/>
          </a:xfrm>
          <a:prstGeom prst="rect">
            <a:avLst/>
          </a:prstGeom>
          <a:gradFill flip="none" rotWithShape="1">
            <a:gsLst>
              <a:gs pos="86000">
                <a:schemeClr val="bg1">
                  <a:alpha val="0"/>
                </a:schemeClr>
              </a:gs>
              <a:gs pos="32000">
                <a:schemeClr val="bg1"/>
              </a:gs>
            </a:gsLst>
            <a:lin ang="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8CC5C41F-9504-0A15-E8EC-52390CDA102F}"/>
              </a:ext>
            </a:extLst>
          </p:cNvPr>
          <p:cNvSpPr txBox="1"/>
          <p:nvPr userDrawn="1"/>
        </p:nvSpPr>
        <p:spPr>
          <a:xfrm>
            <a:off x="11541125"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rgbClr val="75787B"/>
              </a:solidFill>
              <a:latin typeface="Aptos" panose="020B000402020202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4400629C-61F4-A86B-F43A-1A300D38E4DA}"/>
              </a:ext>
            </a:extLst>
          </p:cNvPr>
          <p:cNvSpPr txBox="1"/>
          <p:nvPr userDrawn="1"/>
        </p:nvSpPr>
        <p:spPr>
          <a:xfrm>
            <a:off x="469900" y="6473152"/>
            <a:ext cx="5355167" cy="107722"/>
          </a:xfrm>
          <a:prstGeom prst="rect">
            <a:avLst/>
          </a:prstGeom>
          <a:noFill/>
        </p:spPr>
        <p:txBody>
          <a:bodyPr wrap="square" lIns="0" tIns="0" rIns="0" bIns="0" rtlCol="0">
            <a:spAutoFit/>
          </a:bodyPr>
          <a:lstStyle/>
          <a:p>
            <a:pPr marL="0" indent="0">
              <a:spcBef>
                <a:spcPts val="0"/>
              </a:spcBef>
              <a:spcAft>
                <a:spcPts val="600"/>
              </a:spcAft>
              <a:buSzPct val="100000"/>
              <a:buFont typeface="Arial"/>
              <a:buNone/>
            </a:pPr>
            <a:r>
              <a:rPr lang="en-US" sz="700" noProof="0">
                <a:solidFill>
                  <a:schemeClr val="tx1"/>
                </a:solidFill>
                <a:latin typeface="+mn-lt"/>
              </a:rPr>
              <a:t>© 2026. Deloitte GFS Limited. All rights reserved.</a:t>
            </a:r>
          </a:p>
        </p:txBody>
      </p:sp>
      <p:sp>
        <p:nvSpPr>
          <p:cNvPr id="6" name="TextBox 5">
            <a:extLst>
              <a:ext uri="{FF2B5EF4-FFF2-40B4-BE49-F238E27FC236}">
                <a16:creationId xmlns:a16="http://schemas.microsoft.com/office/drawing/2014/main" id="{10DEC812-ECB1-2B6E-D3D9-39B70DABBEBF}"/>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tx1"/>
                </a:solidFill>
                <a:latin typeface="+mn-lt"/>
              </a:rPr>
              <a:t>CLASSIFICATION: CONFIDENTIAL – INTERNAL USE ONLY</a:t>
            </a:r>
          </a:p>
        </p:txBody>
      </p:sp>
    </p:spTree>
    <p:extLst>
      <p:ext uri="{BB962C8B-B14F-4D97-AF65-F5344CB8AC3E}">
        <p14:creationId xmlns:p14="http://schemas.microsoft.com/office/powerpoint/2010/main" val="89692567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pic>
        <p:nvPicPr>
          <p:cNvPr id="4" name="Picture 3" descr="Deloitte logo">
            <a:extLst>
              <a:ext uri="{FF2B5EF4-FFF2-40B4-BE49-F238E27FC236}">
                <a16:creationId xmlns:a16="http://schemas.microsoft.com/office/drawing/2014/main" id="{C3C894EF-62A5-17A7-3703-B8A9D4DB7FF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2126" t="25842" r="20029" b="46199"/>
          <a:stretch/>
        </p:blipFill>
        <p:spPr>
          <a:xfrm>
            <a:off x="433388" y="332613"/>
            <a:ext cx="1885949" cy="365760"/>
          </a:xfrm>
          <a:prstGeom prst="rect">
            <a:avLst/>
          </a:prstGeom>
        </p:spPr>
      </p:pic>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pic>
        <p:nvPicPr>
          <p:cNvPr id="2" name="Picture 1" descr="Deloitte logo">
            <a:extLst>
              <a:ext uri="{FF2B5EF4-FFF2-40B4-BE49-F238E27FC236}">
                <a16:creationId xmlns:a16="http://schemas.microsoft.com/office/drawing/2014/main" id="{266FC4B3-A2DD-209A-7FC6-81DEDF5A8C5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2127" t="25842" r="20029" b="46199"/>
          <a:stretch/>
        </p:blipFill>
        <p:spPr>
          <a:xfrm>
            <a:off x="433388" y="332613"/>
            <a:ext cx="1885949" cy="365760"/>
          </a:xfrm>
          <a:prstGeom prst="rect">
            <a:avLst/>
          </a:prstGeom>
        </p:spPr>
      </p:pic>
    </p:spTree>
    <p:extLst>
      <p:ext uri="{BB962C8B-B14F-4D97-AF65-F5344CB8AC3E}">
        <p14:creationId xmlns:p14="http://schemas.microsoft.com/office/powerpoint/2010/main" val="2783079461"/>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pic>
        <p:nvPicPr>
          <p:cNvPr id="6" name="Picture 5" descr="Deloitte logo">
            <a:extLst>
              <a:ext uri="{FF2B5EF4-FFF2-40B4-BE49-F238E27FC236}">
                <a16:creationId xmlns:a16="http://schemas.microsoft.com/office/drawing/2014/main" id="{7DEBB00A-5F33-06A2-D80B-5D4C983EC3C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2126" t="25842" r="20029" b="46199"/>
          <a:stretch/>
        </p:blipFill>
        <p:spPr>
          <a:xfrm>
            <a:off x="433388" y="332613"/>
            <a:ext cx="1885949" cy="365760"/>
          </a:xfrm>
          <a:prstGeom prst="rect">
            <a:avLst/>
          </a:prstGeom>
        </p:spPr>
      </p:pic>
    </p:spTree>
    <p:extLst>
      <p:ext uri="{BB962C8B-B14F-4D97-AF65-F5344CB8AC3E}">
        <p14:creationId xmlns:p14="http://schemas.microsoft.com/office/powerpoint/2010/main" val="121222021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pic>
        <p:nvPicPr>
          <p:cNvPr id="4" name="Picture 3" descr="Deloitte logo">
            <a:extLst>
              <a:ext uri="{FF2B5EF4-FFF2-40B4-BE49-F238E27FC236}">
                <a16:creationId xmlns:a16="http://schemas.microsoft.com/office/drawing/2014/main" id="{DDC72EFA-1D17-2045-BAEF-0E99F083195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2127" t="25842" r="20029" b="46199"/>
          <a:stretch/>
        </p:blipFill>
        <p:spPr>
          <a:xfrm>
            <a:off x="433388" y="332613"/>
            <a:ext cx="1885949" cy="365760"/>
          </a:xfrm>
          <a:prstGeom prst="rect">
            <a:avLst/>
          </a:prstGeom>
        </p:spPr>
      </p:pic>
    </p:spTree>
    <p:extLst>
      <p:ext uri="{BB962C8B-B14F-4D97-AF65-F5344CB8AC3E}">
        <p14:creationId xmlns:p14="http://schemas.microsoft.com/office/powerpoint/2010/main" val="52761153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pic>
        <p:nvPicPr>
          <p:cNvPr id="4" name="Picture 3" descr="A green text on a black background&#10;&#10;Description automatically generated with low confidence">
            <a:extLst>
              <a:ext uri="{FF2B5EF4-FFF2-40B4-BE49-F238E27FC236}">
                <a16:creationId xmlns:a16="http://schemas.microsoft.com/office/drawing/2014/main" id="{EA7929C7-A794-485E-BD96-16B4A6AB8692}"/>
              </a:ext>
            </a:extLst>
          </p:cNvPr>
          <p:cNvPicPr>
            <a:picLocks noChangeAspect="1"/>
          </p:cNvPicPr>
          <p:nvPr userDrawn="1"/>
        </p:nvPicPr>
        <p:blipFill>
          <a:blip r:embed="rId3"/>
          <a:stretch>
            <a:fillRect/>
          </a:stretch>
        </p:blipFill>
        <p:spPr>
          <a:xfrm>
            <a:off x="10400592" y="332613"/>
            <a:ext cx="1358020" cy="548640"/>
          </a:xfrm>
          <a:prstGeom prst="rect">
            <a:avLst/>
          </a:prstGeom>
        </p:spPr>
      </p:pic>
      <p:pic>
        <p:nvPicPr>
          <p:cNvPr id="6" name="Picture 5" descr="Deloitte logo">
            <a:extLst>
              <a:ext uri="{FF2B5EF4-FFF2-40B4-BE49-F238E27FC236}">
                <a16:creationId xmlns:a16="http://schemas.microsoft.com/office/drawing/2014/main" id="{1FC4B705-2EAF-EA95-7742-ED58FA8924E6}"/>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2126" t="25842" r="20029" b="46199"/>
          <a:stretch/>
        </p:blipFill>
        <p:spPr>
          <a:xfrm>
            <a:off x="433388" y="332613"/>
            <a:ext cx="1885949" cy="365760"/>
          </a:xfrm>
          <a:prstGeom prst="rect">
            <a:avLst/>
          </a:prstGeom>
        </p:spPr>
      </p:pic>
    </p:spTree>
    <p:extLst>
      <p:ext uri="{BB962C8B-B14F-4D97-AF65-F5344CB8AC3E}">
        <p14:creationId xmlns:p14="http://schemas.microsoft.com/office/powerpoint/2010/main" val="29197825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pic>
        <p:nvPicPr>
          <p:cNvPr id="2" name="Picture 1" descr="A picture containing text, clipart, vector graphics, sign&#10;&#10;Description automatically generated">
            <a:extLst>
              <a:ext uri="{FF2B5EF4-FFF2-40B4-BE49-F238E27FC236}">
                <a16:creationId xmlns:a16="http://schemas.microsoft.com/office/drawing/2014/main" id="{0B5B29AC-0164-CA93-89C2-8E9FE363E538}"/>
              </a:ext>
            </a:extLst>
          </p:cNvPr>
          <p:cNvPicPr>
            <a:picLocks noChangeAspect="1"/>
          </p:cNvPicPr>
          <p:nvPr userDrawn="1"/>
        </p:nvPicPr>
        <p:blipFill>
          <a:blip r:embed="rId2"/>
          <a:stretch>
            <a:fillRect/>
          </a:stretch>
        </p:blipFill>
        <p:spPr>
          <a:xfrm>
            <a:off x="10400592" y="338328"/>
            <a:ext cx="1358020" cy="548640"/>
          </a:xfrm>
          <a:prstGeom prst="rect">
            <a:avLst/>
          </a:prstGeom>
        </p:spPr>
      </p:pic>
      <p:pic>
        <p:nvPicPr>
          <p:cNvPr id="4" name="Picture 3" descr="Deloitte logo">
            <a:extLst>
              <a:ext uri="{FF2B5EF4-FFF2-40B4-BE49-F238E27FC236}">
                <a16:creationId xmlns:a16="http://schemas.microsoft.com/office/drawing/2014/main" id="{3A970813-C694-7A52-FF45-D5EB3CB21D3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2127" t="25842" r="20029" b="46199"/>
          <a:stretch/>
        </p:blipFill>
        <p:spPr>
          <a:xfrm>
            <a:off x="433388" y="332613"/>
            <a:ext cx="1885949" cy="365760"/>
          </a:xfrm>
          <a:prstGeom prst="rect">
            <a:avLst/>
          </a:prstGeom>
        </p:spPr>
      </p:pic>
    </p:spTree>
    <p:extLst>
      <p:ext uri="{BB962C8B-B14F-4D97-AF65-F5344CB8AC3E}">
        <p14:creationId xmlns:p14="http://schemas.microsoft.com/office/powerpoint/2010/main" val="245377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rgbClr val="041E42"/>
        </a:solidFill>
        <a:effectLst/>
      </p:bgPr>
    </p:bg>
    <p:spTree>
      <p:nvGrpSpPr>
        <p:cNvPr id="1" name=""/>
        <p:cNvGrpSpPr/>
        <p:nvPr/>
      </p:nvGrpSpPr>
      <p:grpSpPr>
        <a:xfrm>
          <a:off x="0" y="0"/>
          <a:ext cx="0" cy="0"/>
          <a:chOff x="0" y="0"/>
          <a:chExt cx="0" cy="0"/>
        </a:xfrm>
      </p:grpSpPr>
      <p:sp>
        <p:nvSpPr>
          <p:cNvPr id="14" name="TextBox 13"/>
          <p:cNvSpPr txBox="1"/>
          <p:nvPr userDrawn="1"/>
        </p:nvSpPr>
        <p:spPr>
          <a:xfrm>
            <a:off x="11414125"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solidFill>
              </a:rPr>
              <a:pPr marL="0" indent="0" algn="r">
                <a:spcBef>
                  <a:spcPts val="800"/>
                </a:spcBef>
                <a:buSzPct val="100000"/>
                <a:buFont typeface="Arial"/>
                <a:buNone/>
              </a:pPr>
              <a:t>‹#›</a:t>
            </a:fld>
            <a:endParaRPr lang="en-US" sz="700" noProof="0">
              <a:solidFill>
                <a:schemeClr val="bg1"/>
              </a:solidFill>
            </a:endParaRPr>
          </a:p>
        </p:txBody>
      </p:sp>
      <p:sp>
        <p:nvSpPr>
          <p:cNvPr id="6" name="TextBox 5">
            <a:extLst>
              <a:ext uri="{FF2B5EF4-FFF2-40B4-BE49-F238E27FC236}">
                <a16:creationId xmlns:a16="http://schemas.microsoft.com/office/drawing/2014/main" id="{B28F1F42-84AD-7646-B64F-FD83B2B5427E}"/>
              </a:ext>
            </a:extLst>
          </p:cNvPr>
          <p:cNvSpPr txBox="1"/>
          <p:nvPr userDrawn="1"/>
        </p:nvSpPr>
        <p:spPr>
          <a:xfrm>
            <a:off x="469900" y="6477000"/>
            <a:ext cx="5355167" cy="107722"/>
          </a:xfrm>
          <a:prstGeom prst="rect">
            <a:avLst/>
          </a:prstGeom>
          <a:noFill/>
        </p:spPr>
        <p:txBody>
          <a:bodyPr wrap="square" lIns="0" tIns="0" rIns="0" bIns="0" rtlCol="0">
            <a:spAutoFit/>
          </a:bodyPr>
          <a:lstStyle/>
          <a:p>
            <a:pPr marL="0" indent="0">
              <a:spcBef>
                <a:spcPts val="800"/>
              </a:spcBef>
              <a:buSzPct val="100000"/>
              <a:buFont typeface="Arial"/>
              <a:buNone/>
            </a:pPr>
            <a:r>
              <a:rPr lang="en-US" sz="700" noProof="0">
                <a:solidFill>
                  <a:schemeClr val="bg1"/>
                </a:solidFill>
              </a:rPr>
              <a:t>© 2025. Deloitte GFS Limited. All rights reserved.</a:t>
            </a:r>
          </a:p>
        </p:txBody>
      </p:sp>
      <p:sp>
        <p:nvSpPr>
          <p:cNvPr id="4" name="Title 1">
            <a:extLst>
              <a:ext uri="{FF2B5EF4-FFF2-40B4-BE49-F238E27FC236}">
                <a16:creationId xmlns:a16="http://schemas.microsoft.com/office/drawing/2014/main" id="{058CA0B0-E0A8-A3F5-5E89-897E15D7031B}"/>
              </a:ext>
            </a:extLst>
          </p:cNvPr>
          <p:cNvSpPr>
            <a:spLocks noGrp="1"/>
          </p:cNvSpPr>
          <p:nvPr>
            <p:ph type="title"/>
          </p:nvPr>
        </p:nvSpPr>
        <p:spPr bwMode="gray">
          <a:xfrm>
            <a:off x="469900" y="1705668"/>
            <a:ext cx="10418233" cy="1592403"/>
          </a:xfr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5" name="Text Placeholder 2">
            <a:extLst>
              <a:ext uri="{FF2B5EF4-FFF2-40B4-BE49-F238E27FC236}">
                <a16:creationId xmlns:a16="http://schemas.microsoft.com/office/drawing/2014/main" id="{03A56402-9BCA-ADDB-7E93-7AC5102A4031}"/>
              </a:ext>
            </a:extLst>
          </p:cNvPr>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1045741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5">
    <p:bg bwMode="gray">
      <p:bgPr>
        <a:solidFill>
          <a:srgbClr val="005587"/>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 name="TextBox 1">
            <a:extLst>
              <a:ext uri="{FF2B5EF4-FFF2-40B4-BE49-F238E27FC236}">
                <a16:creationId xmlns:a16="http://schemas.microsoft.com/office/drawing/2014/main" id="{11D6C364-EB97-A6F6-D0BF-E0E433DDD81D}"/>
              </a:ext>
            </a:extLst>
          </p:cNvPr>
          <p:cNvSpPr txBox="1"/>
          <p:nvPr userDrawn="1"/>
        </p:nvSpPr>
        <p:spPr>
          <a:xfrm>
            <a:off x="11414125"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solidFill>
              </a:rPr>
              <a:pPr marL="0" indent="0" algn="r">
                <a:spcBef>
                  <a:spcPts val="800"/>
                </a:spcBef>
                <a:buSzPct val="100000"/>
                <a:buFont typeface="Arial"/>
                <a:buNone/>
              </a:pPr>
              <a:t>‹#›</a:t>
            </a:fld>
            <a:endParaRPr lang="en-US" sz="700" noProof="0">
              <a:solidFill>
                <a:schemeClr val="bg1"/>
              </a:solidFill>
            </a:endParaRPr>
          </a:p>
        </p:txBody>
      </p:sp>
      <p:sp>
        <p:nvSpPr>
          <p:cNvPr id="3" name="TextBox 2">
            <a:extLst>
              <a:ext uri="{FF2B5EF4-FFF2-40B4-BE49-F238E27FC236}">
                <a16:creationId xmlns:a16="http://schemas.microsoft.com/office/drawing/2014/main" id="{46940080-8E2B-32EF-382D-F0681A37C5E3}"/>
              </a:ext>
            </a:extLst>
          </p:cNvPr>
          <p:cNvSpPr txBox="1"/>
          <p:nvPr userDrawn="1"/>
        </p:nvSpPr>
        <p:spPr>
          <a:xfrm>
            <a:off x="469900" y="6477000"/>
            <a:ext cx="5355167" cy="107722"/>
          </a:xfrm>
          <a:prstGeom prst="rect">
            <a:avLst/>
          </a:prstGeom>
          <a:noFill/>
        </p:spPr>
        <p:txBody>
          <a:bodyPr wrap="square" lIns="0" tIns="0" rIns="0" bIns="0" rtlCol="0">
            <a:spAutoFit/>
          </a:bodyPr>
          <a:lstStyle/>
          <a:p>
            <a:pPr marL="0" indent="0">
              <a:spcBef>
                <a:spcPts val="800"/>
              </a:spcBef>
              <a:buSzPct val="100000"/>
              <a:buFont typeface="Arial"/>
              <a:buNone/>
            </a:pPr>
            <a:r>
              <a:rPr lang="en-US" sz="700" noProof="0">
                <a:solidFill>
                  <a:schemeClr val="bg1"/>
                </a:solidFill>
              </a:rPr>
              <a:t>© 2025. Deloitte GFS Limited. All rights reserved.</a:t>
            </a:r>
          </a:p>
        </p:txBody>
      </p:sp>
    </p:spTree>
    <p:extLst>
      <p:ext uri="{BB962C8B-B14F-4D97-AF65-F5344CB8AC3E}">
        <p14:creationId xmlns:p14="http://schemas.microsoft.com/office/powerpoint/2010/main" val="19764826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4">
    <p:bg bwMode="gray">
      <p:bgPr>
        <a:solidFill>
          <a:srgbClr val="0076A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4" name="TextBox 3">
            <a:extLst>
              <a:ext uri="{FF2B5EF4-FFF2-40B4-BE49-F238E27FC236}">
                <a16:creationId xmlns:a16="http://schemas.microsoft.com/office/drawing/2014/main" id="{19873DC3-215D-C587-DFCB-8CD8A360F246}"/>
              </a:ext>
            </a:extLst>
          </p:cNvPr>
          <p:cNvSpPr txBox="1"/>
          <p:nvPr userDrawn="1"/>
        </p:nvSpPr>
        <p:spPr>
          <a:xfrm>
            <a:off x="11414125"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solidFill>
              </a:rPr>
              <a:pPr marL="0" indent="0" algn="r">
                <a:spcBef>
                  <a:spcPts val="800"/>
                </a:spcBef>
                <a:buSzPct val="100000"/>
                <a:buFont typeface="Arial"/>
                <a:buNone/>
              </a:pPr>
              <a:t>‹#›</a:t>
            </a:fld>
            <a:endParaRPr lang="en-US" sz="700" noProof="0">
              <a:solidFill>
                <a:schemeClr val="bg1"/>
              </a:solidFill>
            </a:endParaRPr>
          </a:p>
        </p:txBody>
      </p:sp>
      <p:sp>
        <p:nvSpPr>
          <p:cNvPr id="5" name="TextBox 4">
            <a:extLst>
              <a:ext uri="{FF2B5EF4-FFF2-40B4-BE49-F238E27FC236}">
                <a16:creationId xmlns:a16="http://schemas.microsoft.com/office/drawing/2014/main" id="{0E8BF739-1F95-2D1E-C6A8-AEB762FCB754}"/>
              </a:ext>
            </a:extLst>
          </p:cNvPr>
          <p:cNvSpPr txBox="1"/>
          <p:nvPr userDrawn="1"/>
        </p:nvSpPr>
        <p:spPr>
          <a:xfrm>
            <a:off x="469900" y="6477000"/>
            <a:ext cx="5355167" cy="107722"/>
          </a:xfrm>
          <a:prstGeom prst="rect">
            <a:avLst/>
          </a:prstGeom>
          <a:noFill/>
        </p:spPr>
        <p:txBody>
          <a:bodyPr wrap="square" lIns="0" tIns="0" rIns="0" bIns="0" rtlCol="0">
            <a:spAutoFit/>
          </a:bodyPr>
          <a:lstStyle/>
          <a:p>
            <a:pPr marL="0" indent="0">
              <a:spcBef>
                <a:spcPts val="800"/>
              </a:spcBef>
              <a:buSzPct val="100000"/>
              <a:buFont typeface="Arial"/>
              <a:buNone/>
            </a:pPr>
            <a:r>
              <a:rPr lang="en-US" sz="700" noProof="0">
                <a:solidFill>
                  <a:schemeClr val="bg1"/>
                </a:solidFill>
              </a:rPr>
              <a:t>© 2025. Deloitte GFS Limited. All rights reserved.</a:t>
            </a:r>
          </a:p>
        </p:txBody>
      </p:sp>
    </p:spTree>
    <p:extLst>
      <p:ext uri="{BB962C8B-B14F-4D97-AF65-F5344CB8AC3E}">
        <p14:creationId xmlns:p14="http://schemas.microsoft.com/office/powerpoint/2010/main" val="165402145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3">
    <p:bg bwMode="gray">
      <p:bgPr>
        <a:solidFill>
          <a:srgbClr val="00A3E0"/>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 name="TextBox 1">
            <a:extLst>
              <a:ext uri="{FF2B5EF4-FFF2-40B4-BE49-F238E27FC236}">
                <a16:creationId xmlns:a16="http://schemas.microsoft.com/office/drawing/2014/main" id="{552086EB-255B-262C-7FD6-021C2F230C21}"/>
              </a:ext>
            </a:extLst>
          </p:cNvPr>
          <p:cNvSpPr txBox="1"/>
          <p:nvPr userDrawn="1"/>
        </p:nvSpPr>
        <p:spPr>
          <a:xfrm>
            <a:off x="11414125"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solidFill>
              </a:rPr>
              <a:pPr marL="0" indent="0" algn="r">
                <a:spcBef>
                  <a:spcPts val="800"/>
                </a:spcBef>
                <a:buSzPct val="100000"/>
                <a:buFont typeface="Arial"/>
                <a:buNone/>
              </a:pPr>
              <a:t>‹#›</a:t>
            </a:fld>
            <a:endParaRPr lang="en-US" sz="700" noProof="0">
              <a:solidFill>
                <a:schemeClr val="bg1"/>
              </a:solidFill>
            </a:endParaRPr>
          </a:p>
        </p:txBody>
      </p:sp>
      <p:sp>
        <p:nvSpPr>
          <p:cNvPr id="3" name="TextBox 2">
            <a:extLst>
              <a:ext uri="{FF2B5EF4-FFF2-40B4-BE49-F238E27FC236}">
                <a16:creationId xmlns:a16="http://schemas.microsoft.com/office/drawing/2014/main" id="{EAF9EDB2-33E7-13CB-281C-6CF691C8371C}"/>
              </a:ext>
            </a:extLst>
          </p:cNvPr>
          <p:cNvSpPr txBox="1"/>
          <p:nvPr userDrawn="1"/>
        </p:nvSpPr>
        <p:spPr>
          <a:xfrm>
            <a:off x="469900" y="6477000"/>
            <a:ext cx="5355167" cy="107722"/>
          </a:xfrm>
          <a:prstGeom prst="rect">
            <a:avLst/>
          </a:prstGeom>
          <a:noFill/>
        </p:spPr>
        <p:txBody>
          <a:bodyPr wrap="square" lIns="0" tIns="0" rIns="0" bIns="0" rtlCol="0">
            <a:spAutoFit/>
          </a:bodyPr>
          <a:lstStyle/>
          <a:p>
            <a:pPr marL="0" indent="0">
              <a:spcBef>
                <a:spcPts val="800"/>
              </a:spcBef>
              <a:buSzPct val="100000"/>
              <a:buFont typeface="Arial"/>
              <a:buNone/>
            </a:pPr>
            <a:r>
              <a:rPr lang="en-US" sz="700" noProof="0">
                <a:solidFill>
                  <a:schemeClr val="bg1"/>
                </a:solidFill>
              </a:rPr>
              <a:t>© 2025. Deloitte GFS Limited. All rights reserved.</a:t>
            </a:r>
          </a:p>
        </p:txBody>
      </p:sp>
    </p:spTree>
    <p:extLst>
      <p:ext uri="{BB962C8B-B14F-4D97-AF65-F5344CB8AC3E}">
        <p14:creationId xmlns:p14="http://schemas.microsoft.com/office/powerpoint/2010/main" val="127237144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 name="TextBox 1">
            <a:extLst>
              <a:ext uri="{FF2B5EF4-FFF2-40B4-BE49-F238E27FC236}">
                <a16:creationId xmlns:a16="http://schemas.microsoft.com/office/drawing/2014/main" id="{0B602619-49E5-188E-0A2D-3D6F395C0A61}"/>
              </a:ext>
            </a:extLst>
          </p:cNvPr>
          <p:cNvSpPr txBox="1"/>
          <p:nvPr userDrawn="1"/>
        </p:nvSpPr>
        <p:spPr>
          <a:xfrm>
            <a:off x="11414125"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solidFill>
              </a:rPr>
              <a:pPr marL="0" indent="0" algn="r">
                <a:spcBef>
                  <a:spcPts val="800"/>
                </a:spcBef>
                <a:buSzPct val="100000"/>
                <a:buFont typeface="Arial"/>
                <a:buNone/>
              </a:pPr>
              <a:t>‹#›</a:t>
            </a:fld>
            <a:endParaRPr lang="en-US" sz="700" noProof="0">
              <a:solidFill>
                <a:schemeClr val="bg1"/>
              </a:solidFill>
            </a:endParaRPr>
          </a:p>
        </p:txBody>
      </p:sp>
      <p:sp>
        <p:nvSpPr>
          <p:cNvPr id="3" name="TextBox 2">
            <a:extLst>
              <a:ext uri="{FF2B5EF4-FFF2-40B4-BE49-F238E27FC236}">
                <a16:creationId xmlns:a16="http://schemas.microsoft.com/office/drawing/2014/main" id="{461408AA-F2FA-C1EF-612A-A949D8D1E6AD}"/>
              </a:ext>
            </a:extLst>
          </p:cNvPr>
          <p:cNvSpPr txBox="1"/>
          <p:nvPr userDrawn="1"/>
        </p:nvSpPr>
        <p:spPr>
          <a:xfrm>
            <a:off x="469900" y="6477000"/>
            <a:ext cx="5355167" cy="107722"/>
          </a:xfrm>
          <a:prstGeom prst="rect">
            <a:avLst/>
          </a:prstGeom>
          <a:noFill/>
        </p:spPr>
        <p:txBody>
          <a:bodyPr wrap="square" lIns="0" tIns="0" rIns="0" bIns="0" rtlCol="0">
            <a:spAutoFit/>
          </a:bodyPr>
          <a:lstStyle/>
          <a:p>
            <a:pPr marL="0" indent="0">
              <a:spcBef>
                <a:spcPts val="800"/>
              </a:spcBef>
              <a:buSzPct val="100000"/>
              <a:buFont typeface="Arial"/>
              <a:buNone/>
            </a:pPr>
            <a:r>
              <a:rPr lang="en-US" sz="700" noProof="0">
                <a:solidFill>
                  <a:schemeClr val="bg1"/>
                </a:solidFill>
              </a:rPr>
              <a:t>© 2025. Deloitte GFS Limited. All rights reserved.</a:t>
            </a:r>
          </a:p>
        </p:txBody>
      </p:sp>
    </p:spTree>
    <p:extLst>
      <p:ext uri="{BB962C8B-B14F-4D97-AF65-F5344CB8AC3E}">
        <p14:creationId xmlns:p14="http://schemas.microsoft.com/office/powerpoint/2010/main" val="193697899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5016" cy="1592403"/>
          </a:xfrm>
        </p:spPr>
        <p:txBody>
          <a:bodyPr anchor="b"/>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5016" cy="1566532"/>
          </a:xfrm>
        </p:spPr>
        <p:txBody>
          <a:bodyPr lIns="0" tIns="0" rIns="0" bIns="0">
            <a:noAutofit/>
          </a:bodyPr>
          <a:lstStyle>
            <a:lvl1pPr marL="0" indent="0">
              <a:lnSpc>
                <a:spcPct val="95000"/>
              </a:lnSpc>
              <a:spcAft>
                <a:spcPts val="0"/>
              </a:spcAft>
              <a:buNone/>
              <a:defRPr sz="36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Key statement blue 7">
    <p:bg>
      <p:bgPr>
        <a:solidFill>
          <a:srgbClr val="041E4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2" name="TextBox 1">
            <a:extLst>
              <a:ext uri="{FF2B5EF4-FFF2-40B4-BE49-F238E27FC236}">
                <a16:creationId xmlns:a16="http://schemas.microsoft.com/office/drawing/2014/main" id="{A441CB07-AF8F-3514-D67B-EB57BF3B43B6}"/>
              </a:ext>
            </a:extLst>
          </p:cNvPr>
          <p:cNvSpPr txBox="1"/>
          <p:nvPr userDrawn="1"/>
        </p:nvSpPr>
        <p:spPr>
          <a:xfrm>
            <a:off x="11414125"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solidFill>
              </a:rPr>
              <a:pPr marL="0" indent="0" algn="r">
                <a:spcBef>
                  <a:spcPts val="800"/>
                </a:spcBef>
                <a:buSzPct val="100000"/>
                <a:buFont typeface="Arial"/>
                <a:buNone/>
              </a:pPr>
              <a:t>‹#›</a:t>
            </a:fld>
            <a:endParaRPr lang="en-US" sz="700" noProof="0">
              <a:solidFill>
                <a:schemeClr val="bg1"/>
              </a:solidFill>
            </a:endParaRPr>
          </a:p>
        </p:txBody>
      </p:sp>
      <p:sp>
        <p:nvSpPr>
          <p:cNvPr id="3" name="TextBox 2">
            <a:extLst>
              <a:ext uri="{FF2B5EF4-FFF2-40B4-BE49-F238E27FC236}">
                <a16:creationId xmlns:a16="http://schemas.microsoft.com/office/drawing/2014/main" id="{E2613BEE-58B4-60FD-EB36-4F130D7A0980}"/>
              </a:ext>
            </a:extLst>
          </p:cNvPr>
          <p:cNvSpPr txBox="1"/>
          <p:nvPr userDrawn="1"/>
        </p:nvSpPr>
        <p:spPr>
          <a:xfrm>
            <a:off x="469900" y="6477000"/>
            <a:ext cx="5355167" cy="107722"/>
          </a:xfrm>
          <a:prstGeom prst="rect">
            <a:avLst/>
          </a:prstGeom>
          <a:noFill/>
        </p:spPr>
        <p:txBody>
          <a:bodyPr wrap="square" lIns="0" tIns="0" rIns="0" bIns="0" rtlCol="0">
            <a:spAutoFit/>
          </a:bodyPr>
          <a:lstStyle/>
          <a:p>
            <a:pPr marL="0" indent="0">
              <a:spcBef>
                <a:spcPts val="800"/>
              </a:spcBef>
              <a:buSzPct val="100000"/>
              <a:buFont typeface="Arial"/>
              <a:buNone/>
            </a:pPr>
            <a:r>
              <a:rPr lang="en-US" sz="700" noProof="0">
                <a:solidFill>
                  <a:schemeClr val="bg1"/>
                </a:solidFill>
              </a:rPr>
              <a:t>© 2025. Deloitte GFS Limited. All rights reserved.</a:t>
            </a: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Key statement blue 6">
    <p:bg>
      <p:bgPr>
        <a:solidFill>
          <a:srgbClr val="012169"/>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2" name="TextBox 1">
            <a:extLst>
              <a:ext uri="{FF2B5EF4-FFF2-40B4-BE49-F238E27FC236}">
                <a16:creationId xmlns:a16="http://schemas.microsoft.com/office/drawing/2014/main" id="{8BB55E31-7F02-54EF-1908-47F329C319AA}"/>
              </a:ext>
            </a:extLst>
          </p:cNvPr>
          <p:cNvSpPr txBox="1"/>
          <p:nvPr userDrawn="1"/>
        </p:nvSpPr>
        <p:spPr>
          <a:xfrm>
            <a:off x="11414125"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solidFill>
              </a:rPr>
              <a:pPr marL="0" indent="0" algn="r">
                <a:spcBef>
                  <a:spcPts val="800"/>
                </a:spcBef>
                <a:buSzPct val="100000"/>
                <a:buFont typeface="Arial"/>
                <a:buNone/>
              </a:pPr>
              <a:t>‹#›</a:t>
            </a:fld>
            <a:endParaRPr lang="en-US" sz="700" noProof="0">
              <a:solidFill>
                <a:schemeClr val="bg1"/>
              </a:solidFill>
            </a:endParaRPr>
          </a:p>
        </p:txBody>
      </p:sp>
      <p:sp>
        <p:nvSpPr>
          <p:cNvPr id="3" name="TextBox 2">
            <a:extLst>
              <a:ext uri="{FF2B5EF4-FFF2-40B4-BE49-F238E27FC236}">
                <a16:creationId xmlns:a16="http://schemas.microsoft.com/office/drawing/2014/main" id="{67D9A417-5D6C-727A-983F-09DF21993CD1}"/>
              </a:ext>
            </a:extLst>
          </p:cNvPr>
          <p:cNvSpPr txBox="1"/>
          <p:nvPr userDrawn="1"/>
        </p:nvSpPr>
        <p:spPr>
          <a:xfrm>
            <a:off x="469900" y="6477000"/>
            <a:ext cx="5355167" cy="107722"/>
          </a:xfrm>
          <a:prstGeom prst="rect">
            <a:avLst/>
          </a:prstGeom>
          <a:noFill/>
        </p:spPr>
        <p:txBody>
          <a:bodyPr wrap="square" lIns="0" tIns="0" rIns="0" bIns="0" rtlCol="0">
            <a:spAutoFit/>
          </a:bodyPr>
          <a:lstStyle/>
          <a:p>
            <a:pPr marL="0" indent="0">
              <a:spcBef>
                <a:spcPts val="800"/>
              </a:spcBef>
              <a:buSzPct val="100000"/>
              <a:buFont typeface="Arial"/>
              <a:buNone/>
            </a:pPr>
            <a:r>
              <a:rPr lang="en-US" sz="700" noProof="0">
                <a:solidFill>
                  <a:schemeClr val="bg1"/>
                </a:solidFill>
              </a:rPr>
              <a:t>© 2025. Deloitte GFS Limited. All rights reserved.</a:t>
            </a: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Key statement blue 5">
    <p:bg>
      <p:bgPr>
        <a:solidFill>
          <a:srgbClr val="005587"/>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2" name="TextBox 1">
            <a:extLst>
              <a:ext uri="{FF2B5EF4-FFF2-40B4-BE49-F238E27FC236}">
                <a16:creationId xmlns:a16="http://schemas.microsoft.com/office/drawing/2014/main" id="{C95F25D3-B111-A420-F6C1-068E1E34B16F}"/>
              </a:ext>
            </a:extLst>
          </p:cNvPr>
          <p:cNvSpPr txBox="1"/>
          <p:nvPr userDrawn="1"/>
        </p:nvSpPr>
        <p:spPr>
          <a:xfrm>
            <a:off x="11414125"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solidFill>
              </a:rPr>
              <a:pPr marL="0" indent="0" algn="r">
                <a:spcBef>
                  <a:spcPts val="800"/>
                </a:spcBef>
                <a:buSzPct val="100000"/>
                <a:buFont typeface="Arial"/>
                <a:buNone/>
              </a:pPr>
              <a:t>‹#›</a:t>
            </a:fld>
            <a:endParaRPr lang="en-US" sz="700" noProof="0">
              <a:solidFill>
                <a:schemeClr val="bg1"/>
              </a:solidFill>
            </a:endParaRPr>
          </a:p>
        </p:txBody>
      </p:sp>
      <p:sp>
        <p:nvSpPr>
          <p:cNvPr id="3" name="TextBox 2">
            <a:extLst>
              <a:ext uri="{FF2B5EF4-FFF2-40B4-BE49-F238E27FC236}">
                <a16:creationId xmlns:a16="http://schemas.microsoft.com/office/drawing/2014/main" id="{9F904BF3-9FCA-8A7C-BA01-18B980796D90}"/>
              </a:ext>
            </a:extLst>
          </p:cNvPr>
          <p:cNvSpPr txBox="1"/>
          <p:nvPr userDrawn="1"/>
        </p:nvSpPr>
        <p:spPr>
          <a:xfrm>
            <a:off x="469900" y="6477000"/>
            <a:ext cx="5355167" cy="107722"/>
          </a:xfrm>
          <a:prstGeom prst="rect">
            <a:avLst/>
          </a:prstGeom>
          <a:noFill/>
        </p:spPr>
        <p:txBody>
          <a:bodyPr wrap="square" lIns="0" tIns="0" rIns="0" bIns="0" rtlCol="0">
            <a:spAutoFit/>
          </a:bodyPr>
          <a:lstStyle/>
          <a:p>
            <a:pPr marL="0" indent="0">
              <a:spcBef>
                <a:spcPts val="800"/>
              </a:spcBef>
              <a:buSzPct val="100000"/>
              <a:buFont typeface="Arial"/>
              <a:buNone/>
            </a:pPr>
            <a:r>
              <a:rPr lang="en-US" sz="700" noProof="0">
                <a:solidFill>
                  <a:schemeClr val="bg1"/>
                </a:solidFill>
              </a:rPr>
              <a:t>© 2025. Deloitte GFS Limited. All rights reserved.</a:t>
            </a: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Key statement blue 4">
    <p:bg>
      <p:bgPr>
        <a:solidFill>
          <a:srgbClr val="0076A8"/>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2" name="TextBox 1">
            <a:extLst>
              <a:ext uri="{FF2B5EF4-FFF2-40B4-BE49-F238E27FC236}">
                <a16:creationId xmlns:a16="http://schemas.microsoft.com/office/drawing/2014/main" id="{17E1C77E-D18E-1EB2-5F5D-50D02BEC2864}"/>
              </a:ext>
            </a:extLst>
          </p:cNvPr>
          <p:cNvSpPr txBox="1"/>
          <p:nvPr userDrawn="1"/>
        </p:nvSpPr>
        <p:spPr>
          <a:xfrm>
            <a:off x="11414125"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solidFill>
              </a:rPr>
              <a:pPr marL="0" indent="0" algn="r">
                <a:spcBef>
                  <a:spcPts val="800"/>
                </a:spcBef>
                <a:buSzPct val="100000"/>
                <a:buFont typeface="Arial"/>
                <a:buNone/>
              </a:pPr>
              <a:t>‹#›</a:t>
            </a:fld>
            <a:endParaRPr lang="en-US" sz="700" noProof="0">
              <a:solidFill>
                <a:schemeClr val="bg1"/>
              </a:solidFill>
            </a:endParaRPr>
          </a:p>
        </p:txBody>
      </p:sp>
      <p:sp>
        <p:nvSpPr>
          <p:cNvPr id="3" name="TextBox 2">
            <a:extLst>
              <a:ext uri="{FF2B5EF4-FFF2-40B4-BE49-F238E27FC236}">
                <a16:creationId xmlns:a16="http://schemas.microsoft.com/office/drawing/2014/main" id="{31F20255-EC1E-8CF8-F2CA-A55536027A6F}"/>
              </a:ext>
            </a:extLst>
          </p:cNvPr>
          <p:cNvSpPr txBox="1"/>
          <p:nvPr userDrawn="1"/>
        </p:nvSpPr>
        <p:spPr>
          <a:xfrm>
            <a:off x="469900" y="6477000"/>
            <a:ext cx="5355167" cy="107722"/>
          </a:xfrm>
          <a:prstGeom prst="rect">
            <a:avLst/>
          </a:prstGeom>
          <a:noFill/>
        </p:spPr>
        <p:txBody>
          <a:bodyPr wrap="square" lIns="0" tIns="0" rIns="0" bIns="0" rtlCol="0">
            <a:spAutoFit/>
          </a:bodyPr>
          <a:lstStyle/>
          <a:p>
            <a:pPr marL="0" indent="0">
              <a:spcBef>
                <a:spcPts val="800"/>
              </a:spcBef>
              <a:buSzPct val="100000"/>
              <a:buFont typeface="Arial"/>
              <a:buNone/>
            </a:pPr>
            <a:r>
              <a:rPr lang="en-US" sz="700" noProof="0">
                <a:solidFill>
                  <a:schemeClr val="bg1"/>
                </a:solidFill>
              </a:rPr>
              <a:t>© 2025. Deloitte GFS Limited. All rights reserved.</a:t>
            </a: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4pPr marL="347472" indent="-173736">
              <a:buFont typeface="Aptos" panose="020B0004020202020204" pitchFamily="34" charset="0"/>
              <a:buChar char="−"/>
              <a:defRPr/>
            </a:lvl4pPr>
            <a:lvl5pPr marL="521208" indent="-173736">
              <a:buFont typeface="Aptos" panose="020B0004020202020204" pitchFamily="34" charset="0"/>
              <a:buChar cha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65818"/>
            <a:ext cx="11252200" cy="357187"/>
          </a:xfrm>
        </p:spPr>
        <p:txBody>
          <a:bodyPr/>
          <a:lstStyle/>
          <a:p>
            <a:pPr lvl="0"/>
            <a:r>
              <a:rPr lang="en-US" noProof="0"/>
              <a:t>Edit Master text styles</a:t>
            </a:r>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65289"/>
            <a:ext cx="3600000" cy="356616"/>
          </a:xfrm>
        </p:spPr>
        <p:txBody>
          <a:bodyPr/>
          <a:lstStyle/>
          <a:p>
            <a:pPr lvl="0"/>
            <a:r>
              <a:rPr lang="en-US" noProof="0"/>
              <a:t>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296003" y="1665288"/>
            <a:ext cx="3600000" cy="356616"/>
          </a:xfrm>
        </p:spPr>
        <p:txBody>
          <a:bodyPr/>
          <a:lstStyle/>
          <a:p>
            <a:pPr lvl="0"/>
            <a:r>
              <a:rPr lang="en-US" noProof="0"/>
              <a:t>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086959" y="1659145"/>
            <a:ext cx="3600000" cy="356616"/>
          </a:xfrm>
        </p:spPr>
        <p:txBody>
          <a:bodyPr/>
          <a:lstStyle/>
          <a:p>
            <a:pPr lvl="0"/>
            <a:r>
              <a:rPr lang="en-US" noProof="0"/>
              <a:t>Edit Master text styles</a:t>
            </a:r>
          </a:p>
        </p:txBody>
      </p:sp>
      <p:sp>
        <p:nvSpPr>
          <p:cNvPr id="11"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marL="347472" indent="-173736">
              <a:tabLst>
                <a:tab pos="6705432" algn="r"/>
              </a:tabLst>
              <a:defRPr lang="en-US" sz="1200" kern="1200" baseline="0" noProof="0" dirty="0">
                <a:solidFill>
                  <a:schemeClr val="tx1"/>
                </a:solidFill>
                <a:latin typeface="+mn-lt"/>
                <a:ea typeface="+mn-ea"/>
                <a:cs typeface="Calibri" panose="020F0502020204030204" pitchFamily="34" charset="0"/>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marL="347472" lvl="3" indent="-173736" algn="l" defTabSz="1219170" rtl="0" eaLnBrk="1" latinLnBrk="0" hangingPunct="1">
              <a:spcBef>
                <a:spcPts val="0"/>
              </a:spcBef>
              <a:spcAft>
                <a:spcPts val="600"/>
              </a:spcAft>
              <a:buClrTx/>
              <a:buSzPct val="100000"/>
              <a:buFont typeface="Verdana" panose="020B0604030504040204" pitchFamily="34" charset="0"/>
              <a:buChar char="−"/>
            </a:pPr>
            <a:r>
              <a:rPr lang="en-US" noProof="0"/>
              <a:t>Fourth level</a:t>
            </a:r>
          </a:p>
          <a:p>
            <a:pPr lvl="4"/>
            <a:r>
              <a:rPr lang="en-US"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Edit Master text styles</a:t>
            </a:r>
          </a:p>
        </p:txBody>
      </p:sp>
      <p:sp>
        <p:nvSpPr>
          <p:cNvPr id="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Edit Master text styles</a:t>
            </a:r>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
        <p:nvSpPr>
          <p:cNvPr id="2" name="Picture Placeholder 29">
            <a:extLst>
              <a:ext uri="{FF2B5EF4-FFF2-40B4-BE49-F238E27FC236}">
                <a16:creationId xmlns:a16="http://schemas.microsoft.com/office/drawing/2014/main" id="{10966E2A-0B8C-0FAB-9066-CF2E1674D438}"/>
              </a:ext>
            </a:extLst>
          </p:cNvPr>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solidFill>
                  <a:schemeClr val="tx1"/>
                </a:solidFill>
              </a:defRPr>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3" name="Picture Placeholder 29">
            <a:extLst>
              <a:ext uri="{FF2B5EF4-FFF2-40B4-BE49-F238E27FC236}">
                <a16:creationId xmlns:a16="http://schemas.microsoft.com/office/drawing/2014/main" id="{A6A49AFB-02F4-5C3D-1C83-284D78029229}"/>
              </a:ext>
            </a:extLst>
          </p:cNvPr>
          <p:cNvSpPr>
            <a:spLocks noGrp="1"/>
          </p:cNvSpPr>
          <p:nvPr>
            <p:ph type="pic" sz="quarter" idx="24" hasCustomPrompt="1"/>
          </p:nvPr>
        </p:nvSpPr>
        <p:spPr>
          <a:xfrm>
            <a:off x="4754494" y="4255707"/>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solidFill>
                  <a:schemeClr val="tx1"/>
                </a:solidFill>
              </a:defRPr>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4" name="Picture Placeholder 29">
            <a:extLst>
              <a:ext uri="{FF2B5EF4-FFF2-40B4-BE49-F238E27FC236}">
                <a16:creationId xmlns:a16="http://schemas.microsoft.com/office/drawing/2014/main" id="{CFE34601-A6A6-B7F6-FE95-073B1534BA71}"/>
              </a:ext>
            </a:extLst>
          </p:cNvPr>
          <p:cNvSpPr>
            <a:spLocks noGrp="1"/>
          </p:cNvSpPr>
          <p:nvPr>
            <p:ph type="pic" sz="quarter" idx="25" hasCustomPrompt="1"/>
          </p:nvPr>
        </p:nvSpPr>
        <p:spPr>
          <a:xfrm>
            <a:off x="10424617" y="4249683"/>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solidFill>
                  <a:schemeClr val="tx1"/>
                </a:solidFill>
              </a:defRPr>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5" name="Picture Placeholder 29">
            <a:extLst>
              <a:ext uri="{FF2B5EF4-FFF2-40B4-BE49-F238E27FC236}">
                <a16:creationId xmlns:a16="http://schemas.microsoft.com/office/drawing/2014/main" id="{000DEA0E-0548-18BE-DE6B-AA488B813111}"/>
              </a:ext>
            </a:extLst>
          </p:cNvPr>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solidFill>
                  <a:schemeClr val="tx1"/>
                </a:solidFill>
              </a:defRPr>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Tree>
    <p:extLst>
      <p:ext uri="{BB962C8B-B14F-4D97-AF65-F5344CB8AC3E}">
        <p14:creationId xmlns:p14="http://schemas.microsoft.com/office/powerpoint/2010/main" val="3812161032"/>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Overview with photos">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8" name="Picture Placeholder 11"/>
          <p:cNvSpPr>
            <a:spLocks noGrp="1"/>
          </p:cNvSpPr>
          <p:nvPr>
            <p:ph type="pic" sz="quarter" idx="25"/>
          </p:nvPr>
        </p:nvSpPr>
        <p:spPr>
          <a:xfrm>
            <a:off x="476780" y="1880212"/>
            <a:ext cx="2116800" cy="1944001"/>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04097" y="1880211"/>
            <a:ext cx="2116800" cy="1944001"/>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481779" y="4256210"/>
            <a:ext cx="2116800" cy="1944001"/>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04097" y="4256210"/>
            <a:ext cx="2116800" cy="1944001"/>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69900" y="1700213"/>
            <a:ext cx="3627438" cy="2052830"/>
          </a:xfrm>
        </p:spPr>
        <p:txBody>
          <a:bodyPr/>
          <a:lstStyle/>
          <a:p>
            <a:r>
              <a:rPr lang="en-US" noProof="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p>
        </p:txBody>
      </p:sp>
      <p:sp>
        <p:nvSpPr>
          <p:cNvPr id="9" name="Text Placeholder 18"/>
          <p:cNvSpPr>
            <a:spLocks noGrp="1"/>
          </p:cNvSpPr>
          <p:nvPr>
            <p:ph idx="1" hasCustomPrompt="1"/>
          </p:nvPr>
        </p:nvSpPr>
        <p:spPr>
          <a:xfrm>
            <a:off x="469900" y="3832225"/>
            <a:ext cx="3627438" cy="218144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Overviews with photos 2x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Picture Placeholder 2"/>
          <p:cNvSpPr>
            <a:spLocks noGrp="1"/>
          </p:cNvSpPr>
          <p:nvPr>
            <p:ph type="pic" sz="quarter" idx="22"/>
          </p:nvPr>
        </p:nvSpPr>
        <p:spPr>
          <a:xfrm>
            <a:off x="4181475" y="1857375"/>
            <a:ext cx="1832535" cy="1695968"/>
          </a:xfrm>
        </p:spPr>
        <p:txBody>
          <a:bodyPr/>
          <a:lstStyle/>
          <a:p>
            <a:r>
              <a:rPr lang="en-US"/>
              <a:t>Click icon to add picture</a:t>
            </a:r>
          </a:p>
        </p:txBody>
      </p:sp>
      <p:sp>
        <p:nvSpPr>
          <p:cNvPr id="12" name="Picture Placeholder 2"/>
          <p:cNvSpPr>
            <a:spLocks noGrp="1"/>
          </p:cNvSpPr>
          <p:nvPr>
            <p:ph type="pic" sz="quarter" idx="23"/>
          </p:nvPr>
        </p:nvSpPr>
        <p:spPr>
          <a:xfrm>
            <a:off x="9888927" y="1857375"/>
            <a:ext cx="1832535" cy="1695968"/>
          </a:xfrm>
        </p:spPr>
        <p:txBody>
          <a:bodyPr/>
          <a:lstStyle/>
          <a:p>
            <a:r>
              <a:rPr lang="en-US"/>
              <a:t>Click icon to add picture</a:t>
            </a:r>
          </a:p>
        </p:txBody>
      </p:sp>
    </p:spTree>
    <p:extLst>
      <p:ext uri="{BB962C8B-B14F-4D97-AF65-F5344CB8AC3E}">
        <p14:creationId xmlns:p14="http://schemas.microsoft.com/office/powerpoint/2010/main" val="135250624"/>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verviews with photo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177462"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22"/>
          </p:nvPr>
        </p:nvSpPr>
        <p:spPr>
          <a:xfrm>
            <a:off x="469899"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177460"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
        <p:nvSpPr>
          <p:cNvPr id="16" name="Picture Placeholder 2"/>
          <p:cNvSpPr>
            <a:spLocks noGrp="1"/>
          </p:cNvSpPr>
          <p:nvPr>
            <p:ph type="pic" sz="quarter" idx="24"/>
          </p:nvPr>
        </p:nvSpPr>
        <p:spPr>
          <a:xfrm>
            <a:off x="4181475" y="1857375"/>
            <a:ext cx="1832535" cy="1695968"/>
          </a:xfrm>
        </p:spPr>
        <p:txBody>
          <a:bodyPr/>
          <a:lstStyle/>
          <a:p>
            <a:r>
              <a:rPr lang="en-US"/>
              <a:t>Click icon to add picture</a:t>
            </a:r>
          </a:p>
        </p:txBody>
      </p:sp>
      <p:sp>
        <p:nvSpPr>
          <p:cNvPr id="20" name="Picture Placeholder 2"/>
          <p:cNvSpPr>
            <a:spLocks noGrp="1"/>
          </p:cNvSpPr>
          <p:nvPr>
            <p:ph type="pic" sz="quarter" idx="25"/>
          </p:nvPr>
        </p:nvSpPr>
        <p:spPr>
          <a:xfrm>
            <a:off x="9888927" y="1857375"/>
            <a:ext cx="1832535" cy="1695968"/>
          </a:xfrm>
        </p:spPr>
        <p:txBody>
          <a:bodyPr/>
          <a:lstStyle/>
          <a:p>
            <a:r>
              <a:rPr lang="en-US"/>
              <a:t>Click icon to add picture</a:t>
            </a:r>
          </a:p>
        </p:txBody>
      </p:sp>
      <p:sp>
        <p:nvSpPr>
          <p:cNvPr id="21" name="Picture Placeholder 2"/>
          <p:cNvSpPr>
            <a:spLocks noGrp="1"/>
          </p:cNvSpPr>
          <p:nvPr>
            <p:ph type="pic" sz="quarter" idx="26"/>
          </p:nvPr>
        </p:nvSpPr>
        <p:spPr>
          <a:xfrm>
            <a:off x="4181475" y="4249681"/>
            <a:ext cx="1832535" cy="1695968"/>
          </a:xfrm>
        </p:spPr>
        <p:txBody>
          <a:bodyPr/>
          <a:lstStyle/>
          <a:p>
            <a:r>
              <a:rPr lang="en-US"/>
              <a:t>Click icon to add picture</a:t>
            </a:r>
          </a:p>
        </p:txBody>
      </p:sp>
      <p:sp>
        <p:nvSpPr>
          <p:cNvPr id="22" name="Picture Placeholder 2"/>
          <p:cNvSpPr>
            <a:spLocks noGrp="1"/>
          </p:cNvSpPr>
          <p:nvPr>
            <p:ph type="pic" sz="quarter" idx="27"/>
          </p:nvPr>
        </p:nvSpPr>
        <p:spPr>
          <a:xfrm>
            <a:off x="9888927" y="4249681"/>
            <a:ext cx="1832535" cy="1695968"/>
          </a:xfrm>
        </p:spPr>
        <p:txBody>
          <a:bodyPr/>
          <a:lstStyle/>
          <a:p>
            <a:r>
              <a:rPr lang="en-US"/>
              <a:t>Click icon to add picture</a:t>
            </a:r>
          </a:p>
        </p:txBody>
      </p:sp>
    </p:spTree>
    <p:extLst>
      <p:ext uri="{BB962C8B-B14F-4D97-AF65-F5344CB8AC3E}">
        <p14:creationId xmlns:p14="http://schemas.microsoft.com/office/powerpoint/2010/main" val="202772717"/>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rg chart 1">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
        <p:nvSpPr>
          <p:cNvPr id="6" name="Picture Placeholder 67"/>
          <p:cNvSpPr>
            <a:spLocks noGrp="1" noChangeAspect="1"/>
          </p:cNvSpPr>
          <p:nvPr>
            <p:ph type="pic" sz="quarter" idx="15"/>
          </p:nvPr>
        </p:nvSpPr>
        <p:spPr>
          <a:xfrm>
            <a:off x="748069" y="3695325"/>
            <a:ext cx="978408" cy="978408"/>
          </a:xfrm>
          <a:ln w="9525">
            <a:solidFill>
              <a:schemeClr val="accent6">
                <a:lumMod val="20000"/>
                <a:lumOff val="80000"/>
              </a:schemeClr>
            </a:solidFill>
          </a:ln>
        </p:spPr>
        <p:txBody>
          <a:bodyPr/>
          <a:lstStyle/>
          <a:p>
            <a:r>
              <a:rPr lang="en-US"/>
              <a:t>Click icon to add picture</a:t>
            </a:r>
          </a:p>
        </p:txBody>
      </p:sp>
      <p:sp>
        <p:nvSpPr>
          <p:cNvPr id="7" name="Picture Placeholder 67"/>
          <p:cNvSpPr>
            <a:spLocks noGrp="1" noChangeAspect="1"/>
          </p:cNvSpPr>
          <p:nvPr>
            <p:ph type="pic" sz="quarter" idx="14"/>
          </p:nvPr>
        </p:nvSpPr>
        <p:spPr>
          <a:xfrm>
            <a:off x="5041869" y="1876985"/>
            <a:ext cx="978408" cy="978408"/>
          </a:xfrm>
          <a:ln>
            <a:solidFill>
              <a:schemeClr val="accent6">
                <a:lumMod val="20000"/>
                <a:lumOff val="80000"/>
              </a:schemeClr>
            </a:solidFill>
          </a:ln>
        </p:spPr>
        <p:txBody>
          <a:bodyPr/>
          <a:lstStyle/>
          <a:p>
            <a:r>
              <a:rPr lang="en-US"/>
              <a:t>Click icon to add picture</a:t>
            </a:r>
          </a:p>
        </p:txBody>
      </p:sp>
      <p:sp>
        <p:nvSpPr>
          <p:cNvPr id="8" name="Picture Placeholder 67"/>
          <p:cNvSpPr>
            <a:spLocks noGrp="1" noChangeAspect="1"/>
          </p:cNvSpPr>
          <p:nvPr>
            <p:ph type="pic" sz="quarter" idx="51"/>
          </p:nvPr>
        </p:nvSpPr>
        <p:spPr>
          <a:xfrm>
            <a:off x="1832444" y="3695325"/>
            <a:ext cx="978408" cy="978408"/>
          </a:xfrm>
          <a:ln w="9525">
            <a:solidFill>
              <a:schemeClr val="accent6">
                <a:lumMod val="20000"/>
                <a:lumOff val="80000"/>
              </a:schemeClr>
            </a:solidFill>
          </a:ln>
        </p:spPr>
        <p:txBody>
          <a:bodyPr/>
          <a:lstStyle/>
          <a:p>
            <a:r>
              <a:rPr lang="en-US"/>
              <a:t>Click icon to add picture</a:t>
            </a:r>
          </a:p>
        </p:txBody>
      </p:sp>
      <p:sp>
        <p:nvSpPr>
          <p:cNvPr id="9" name="Picture Placeholder 67"/>
          <p:cNvSpPr>
            <a:spLocks noGrp="1" noChangeAspect="1"/>
          </p:cNvSpPr>
          <p:nvPr>
            <p:ph type="pic" sz="quarter" idx="54"/>
          </p:nvPr>
        </p:nvSpPr>
        <p:spPr>
          <a:xfrm>
            <a:off x="2928882" y="3695325"/>
            <a:ext cx="978408" cy="978408"/>
          </a:xfrm>
          <a:ln w="9525">
            <a:solidFill>
              <a:schemeClr val="accent6">
                <a:lumMod val="20000"/>
                <a:lumOff val="80000"/>
              </a:schemeClr>
            </a:solidFill>
          </a:ln>
        </p:spPr>
        <p:txBody>
          <a:bodyPr/>
          <a:lstStyle/>
          <a:p>
            <a:r>
              <a:rPr lang="en-US"/>
              <a:t>Click icon to add picture</a:t>
            </a:r>
          </a:p>
        </p:txBody>
      </p:sp>
      <p:sp>
        <p:nvSpPr>
          <p:cNvPr id="10" name="Picture Placeholder 67"/>
          <p:cNvSpPr>
            <a:spLocks noGrp="1" noChangeAspect="1"/>
          </p:cNvSpPr>
          <p:nvPr>
            <p:ph type="pic" sz="quarter" idx="57"/>
          </p:nvPr>
        </p:nvSpPr>
        <p:spPr>
          <a:xfrm>
            <a:off x="4008335" y="3695325"/>
            <a:ext cx="978408" cy="978408"/>
          </a:xfrm>
          <a:ln w="9525">
            <a:solidFill>
              <a:schemeClr val="accent6">
                <a:lumMod val="20000"/>
                <a:lumOff val="80000"/>
              </a:schemeClr>
            </a:solidFill>
          </a:ln>
        </p:spPr>
        <p:txBody>
          <a:bodyPr/>
          <a:lstStyle/>
          <a:p>
            <a:r>
              <a:rPr lang="en-US"/>
              <a:t>Click icon to add picture</a:t>
            </a:r>
          </a:p>
        </p:txBody>
      </p:sp>
      <p:sp>
        <p:nvSpPr>
          <p:cNvPr id="11" name="Picture Placeholder 67"/>
          <p:cNvSpPr>
            <a:spLocks noGrp="1" noChangeAspect="1"/>
          </p:cNvSpPr>
          <p:nvPr>
            <p:ph type="pic" sz="quarter" idx="60"/>
          </p:nvPr>
        </p:nvSpPr>
        <p:spPr>
          <a:xfrm>
            <a:off x="5084286" y="3695325"/>
            <a:ext cx="978408" cy="978408"/>
          </a:xfrm>
          <a:ln w="9525">
            <a:solidFill>
              <a:schemeClr val="accent6">
                <a:lumMod val="20000"/>
                <a:lumOff val="80000"/>
              </a:schemeClr>
            </a:solidFill>
          </a:ln>
        </p:spPr>
        <p:txBody>
          <a:bodyPr/>
          <a:lstStyle/>
          <a:p>
            <a:r>
              <a:rPr lang="en-US"/>
              <a:t>Click icon to add picture</a:t>
            </a:r>
          </a:p>
        </p:txBody>
      </p:sp>
      <p:sp>
        <p:nvSpPr>
          <p:cNvPr id="12" name="Picture Placeholder 67"/>
          <p:cNvSpPr>
            <a:spLocks noGrp="1" noChangeAspect="1"/>
          </p:cNvSpPr>
          <p:nvPr>
            <p:ph type="pic" sz="quarter" idx="63"/>
          </p:nvPr>
        </p:nvSpPr>
        <p:spPr>
          <a:xfrm>
            <a:off x="6166448" y="3695325"/>
            <a:ext cx="978408" cy="978408"/>
          </a:xfrm>
          <a:ln w="9525">
            <a:solidFill>
              <a:schemeClr val="accent6">
                <a:lumMod val="20000"/>
                <a:lumOff val="80000"/>
              </a:schemeClr>
            </a:solidFill>
          </a:ln>
        </p:spPr>
        <p:txBody>
          <a:bodyPr/>
          <a:lstStyle/>
          <a:p>
            <a:r>
              <a:rPr lang="en-US"/>
              <a:t>Click icon to add picture</a:t>
            </a:r>
          </a:p>
        </p:txBody>
      </p:sp>
      <p:sp>
        <p:nvSpPr>
          <p:cNvPr id="13" name="Picture Placeholder 67"/>
          <p:cNvSpPr>
            <a:spLocks noGrp="1" noChangeAspect="1"/>
          </p:cNvSpPr>
          <p:nvPr>
            <p:ph type="pic" sz="quarter" idx="66"/>
          </p:nvPr>
        </p:nvSpPr>
        <p:spPr>
          <a:xfrm>
            <a:off x="7247047" y="3695325"/>
            <a:ext cx="978408" cy="978408"/>
          </a:xfrm>
          <a:ln w="9525">
            <a:solidFill>
              <a:schemeClr val="accent6">
                <a:lumMod val="20000"/>
                <a:lumOff val="80000"/>
              </a:schemeClr>
            </a:solidFill>
          </a:ln>
        </p:spPr>
        <p:txBody>
          <a:bodyPr/>
          <a:lstStyle/>
          <a:p>
            <a:r>
              <a:rPr lang="en-US"/>
              <a:t>Click icon to add picture</a:t>
            </a:r>
          </a:p>
        </p:txBody>
      </p:sp>
      <p:sp>
        <p:nvSpPr>
          <p:cNvPr id="14" name="Picture Placeholder 67"/>
          <p:cNvSpPr>
            <a:spLocks noGrp="1" noChangeAspect="1"/>
          </p:cNvSpPr>
          <p:nvPr>
            <p:ph type="pic" sz="quarter" idx="74"/>
          </p:nvPr>
        </p:nvSpPr>
        <p:spPr>
          <a:xfrm>
            <a:off x="8325341" y="3694660"/>
            <a:ext cx="978408" cy="978408"/>
          </a:xfrm>
          <a:ln w="9525">
            <a:solidFill>
              <a:schemeClr val="accent6">
                <a:lumMod val="20000"/>
                <a:lumOff val="80000"/>
              </a:schemeClr>
            </a:solidFill>
          </a:ln>
        </p:spPr>
        <p:txBody>
          <a:bodyPr/>
          <a:lstStyle/>
          <a:p>
            <a:r>
              <a:rPr lang="en-US"/>
              <a:t>Click icon to add picture</a:t>
            </a:r>
          </a:p>
        </p:txBody>
      </p:sp>
      <p:sp>
        <p:nvSpPr>
          <p:cNvPr id="15" name="Picture Placeholder 67"/>
          <p:cNvSpPr>
            <a:spLocks noGrp="1" noChangeAspect="1"/>
          </p:cNvSpPr>
          <p:nvPr>
            <p:ph type="pic" sz="quarter" idx="76"/>
          </p:nvPr>
        </p:nvSpPr>
        <p:spPr>
          <a:xfrm>
            <a:off x="9417648" y="3694660"/>
            <a:ext cx="978408" cy="978408"/>
          </a:xfrm>
          <a:ln w="9525">
            <a:solidFill>
              <a:schemeClr val="accent6">
                <a:lumMod val="20000"/>
                <a:lumOff val="80000"/>
              </a:schemeClr>
            </a:solidFill>
          </a:ln>
        </p:spPr>
        <p:txBody>
          <a:bodyPr/>
          <a:lstStyle/>
          <a:p>
            <a:r>
              <a:rPr lang="en-US"/>
              <a:t>Click icon to add picture</a:t>
            </a:r>
          </a:p>
        </p:txBody>
      </p:sp>
      <p:sp>
        <p:nvSpPr>
          <p:cNvPr id="16" name="Picture Placeholder 67"/>
          <p:cNvSpPr>
            <a:spLocks noGrp="1" noChangeAspect="1"/>
          </p:cNvSpPr>
          <p:nvPr>
            <p:ph type="pic" sz="quarter" idx="78"/>
          </p:nvPr>
        </p:nvSpPr>
        <p:spPr>
          <a:xfrm>
            <a:off x="10495074" y="3694660"/>
            <a:ext cx="978408" cy="978408"/>
          </a:xfrm>
          <a:ln w="9525">
            <a:solidFill>
              <a:schemeClr val="accent6">
                <a:lumMod val="20000"/>
                <a:lumOff val="80000"/>
              </a:schemeClr>
            </a:solidFill>
          </a:ln>
        </p:spPr>
        <p:txBody>
          <a:bodyPr/>
          <a:lstStyle/>
          <a:p>
            <a:r>
              <a:rPr lang="en-US"/>
              <a:t>Click icon to add picture</a:t>
            </a:r>
          </a:p>
        </p:txBody>
      </p:sp>
      <p:sp>
        <p:nvSpPr>
          <p:cNvPr id="17" name="Text Placeholder 5"/>
          <p:cNvSpPr>
            <a:spLocks noGrp="1"/>
          </p:cNvSpPr>
          <p:nvPr>
            <p:ph type="body" sz="quarter" idx="110"/>
          </p:nvPr>
        </p:nvSpPr>
        <p:spPr>
          <a:xfrm>
            <a:off x="747331" y="3216767"/>
            <a:ext cx="967821" cy="394349"/>
          </a:xfrm>
          <a:solidFill>
            <a:srgbClr val="E7E6E6"/>
          </a:solidFill>
        </p:spPr>
        <p:txBody>
          <a:bodyPr anchor="ctr"/>
          <a:lstStyle>
            <a:lvl1pPr algn="ctr">
              <a:spcAft>
                <a:spcPts val="0"/>
              </a:spcAft>
              <a:defRPr sz="900"/>
            </a:lvl1pPr>
          </a:lstStyle>
          <a:p>
            <a:pPr lvl="0"/>
            <a:r>
              <a:rPr lang="en-US"/>
              <a:t>Edit Master text styles</a:t>
            </a:r>
          </a:p>
        </p:txBody>
      </p:sp>
      <p:sp>
        <p:nvSpPr>
          <p:cNvPr id="18" name="Text Placeholder 5"/>
          <p:cNvSpPr>
            <a:spLocks noGrp="1"/>
          </p:cNvSpPr>
          <p:nvPr>
            <p:ph type="body" sz="quarter" idx="112"/>
          </p:nvPr>
        </p:nvSpPr>
        <p:spPr>
          <a:xfrm>
            <a:off x="747331" y="4750001"/>
            <a:ext cx="979146"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19" name="Text Placeholder 5"/>
          <p:cNvSpPr>
            <a:spLocks noGrp="1"/>
          </p:cNvSpPr>
          <p:nvPr>
            <p:ph type="body" sz="quarter" idx="113"/>
          </p:nvPr>
        </p:nvSpPr>
        <p:spPr>
          <a:xfrm>
            <a:off x="6096000" y="1864988"/>
            <a:ext cx="967821" cy="394349"/>
          </a:xfrm>
          <a:solidFill>
            <a:srgbClr val="E7E6E6"/>
          </a:solidFill>
        </p:spPr>
        <p:txBody>
          <a:bodyPr anchor="ctr"/>
          <a:lstStyle>
            <a:lvl1pPr algn="ctr">
              <a:spcAft>
                <a:spcPts val="0"/>
              </a:spcAft>
              <a:defRPr sz="900"/>
            </a:lvl1pPr>
          </a:lstStyle>
          <a:p>
            <a:pPr lvl="0"/>
            <a:r>
              <a:rPr lang="en-US"/>
              <a:t>Edit Master text styles</a:t>
            </a:r>
          </a:p>
        </p:txBody>
      </p:sp>
      <p:sp>
        <p:nvSpPr>
          <p:cNvPr id="20" name="Text Placeholder 5"/>
          <p:cNvSpPr>
            <a:spLocks noGrp="1"/>
          </p:cNvSpPr>
          <p:nvPr>
            <p:ph type="body" sz="quarter" idx="114"/>
          </p:nvPr>
        </p:nvSpPr>
        <p:spPr>
          <a:xfrm>
            <a:off x="6096000" y="2320545"/>
            <a:ext cx="967821" cy="534848"/>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21" name="Text Placeholder 5"/>
          <p:cNvSpPr>
            <a:spLocks noGrp="1"/>
          </p:cNvSpPr>
          <p:nvPr>
            <p:ph type="body" sz="quarter" idx="115"/>
          </p:nvPr>
        </p:nvSpPr>
        <p:spPr>
          <a:xfrm>
            <a:off x="8324603" y="3216767"/>
            <a:ext cx="3148879" cy="205824"/>
          </a:xfrm>
          <a:solidFill>
            <a:srgbClr val="E7E6E6"/>
          </a:solidFill>
        </p:spPr>
        <p:txBody>
          <a:bodyPr anchor="ctr"/>
          <a:lstStyle>
            <a:lvl1pPr algn="ctr">
              <a:spcAft>
                <a:spcPts val="0"/>
              </a:spcAft>
              <a:defRPr sz="900" cap="all" baseline="0"/>
            </a:lvl1pPr>
          </a:lstStyle>
          <a:p>
            <a:pPr lvl="0"/>
            <a:r>
              <a:rPr lang="en-US"/>
              <a:t>Edit Master text styles</a:t>
            </a:r>
          </a:p>
        </p:txBody>
      </p:sp>
      <p:sp>
        <p:nvSpPr>
          <p:cNvPr id="22" name="Text Placeholder 5"/>
          <p:cNvSpPr>
            <a:spLocks noGrp="1"/>
          </p:cNvSpPr>
          <p:nvPr>
            <p:ph type="body" sz="quarter" idx="116"/>
          </p:nvPr>
        </p:nvSpPr>
        <p:spPr>
          <a:xfrm>
            <a:off x="8324604" y="3478932"/>
            <a:ext cx="979146" cy="159387"/>
          </a:xfrm>
          <a:noFill/>
        </p:spPr>
        <p:txBody>
          <a:bodyPr anchor="ctr"/>
          <a:lstStyle>
            <a:lvl1pPr algn="ctr">
              <a:defRPr sz="800"/>
            </a:lvl1pPr>
          </a:lstStyle>
          <a:p>
            <a:pPr lvl="0"/>
            <a:r>
              <a:rPr lang="en-US"/>
              <a:t>Edit Master text styles</a:t>
            </a:r>
          </a:p>
        </p:txBody>
      </p:sp>
      <p:sp>
        <p:nvSpPr>
          <p:cNvPr id="23" name="Text Placeholder 5"/>
          <p:cNvSpPr>
            <a:spLocks noGrp="1"/>
          </p:cNvSpPr>
          <p:nvPr>
            <p:ph type="body" sz="quarter" idx="117"/>
          </p:nvPr>
        </p:nvSpPr>
        <p:spPr>
          <a:xfrm>
            <a:off x="9417279" y="3478932"/>
            <a:ext cx="979146" cy="159387"/>
          </a:xfrm>
          <a:noFill/>
        </p:spPr>
        <p:txBody>
          <a:bodyPr anchor="ctr"/>
          <a:lstStyle>
            <a:lvl1pPr algn="ctr">
              <a:defRPr sz="800"/>
            </a:lvl1pPr>
          </a:lstStyle>
          <a:p>
            <a:pPr lvl="0"/>
            <a:r>
              <a:rPr lang="en-US"/>
              <a:t>Edit Master text styles</a:t>
            </a:r>
          </a:p>
        </p:txBody>
      </p:sp>
      <p:sp>
        <p:nvSpPr>
          <p:cNvPr id="24" name="Text Placeholder 5"/>
          <p:cNvSpPr>
            <a:spLocks noGrp="1"/>
          </p:cNvSpPr>
          <p:nvPr>
            <p:ph type="body" sz="quarter" idx="118"/>
          </p:nvPr>
        </p:nvSpPr>
        <p:spPr>
          <a:xfrm>
            <a:off x="10478031" y="3478932"/>
            <a:ext cx="979146" cy="159387"/>
          </a:xfrm>
          <a:noFill/>
        </p:spPr>
        <p:txBody>
          <a:bodyPr anchor="ctr"/>
          <a:lstStyle>
            <a:lvl1pPr algn="ctr">
              <a:defRPr sz="800"/>
            </a:lvl1pPr>
          </a:lstStyle>
          <a:p>
            <a:pPr lvl="0"/>
            <a:r>
              <a:rPr lang="en-US"/>
              <a:t>Edit Master text styles</a:t>
            </a:r>
          </a:p>
        </p:txBody>
      </p:sp>
      <p:sp>
        <p:nvSpPr>
          <p:cNvPr id="25" name="Text Placeholder 5"/>
          <p:cNvSpPr>
            <a:spLocks noGrp="1"/>
          </p:cNvSpPr>
          <p:nvPr>
            <p:ph type="body" sz="quarter" idx="119"/>
          </p:nvPr>
        </p:nvSpPr>
        <p:spPr>
          <a:xfrm>
            <a:off x="8324602" y="4750001"/>
            <a:ext cx="978408"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26" name="Text Placeholder 5"/>
          <p:cNvSpPr>
            <a:spLocks noGrp="1"/>
          </p:cNvSpPr>
          <p:nvPr>
            <p:ph type="body" sz="quarter" idx="120"/>
          </p:nvPr>
        </p:nvSpPr>
        <p:spPr>
          <a:xfrm>
            <a:off x="9415130" y="4750001"/>
            <a:ext cx="978408"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27" name="Text Placeholder 5"/>
          <p:cNvSpPr>
            <a:spLocks noGrp="1"/>
          </p:cNvSpPr>
          <p:nvPr>
            <p:ph type="body" sz="quarter" idx="121"/>
          </p:nvPr>
        </p:nvSpPr>
        <p:spPr>
          <a:xfrm>
            <a:off x="10495074" y="4750001"/>
            <a:ext cx="978408"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28" name="Text Placeholder 5"/>
          <p:cNvSpPr>
            <a:spLocks noGrp="1"/>
          </p:cNvSpPr>
          <p:nvPr>
            <p:ph type="body" sz="quarter" idx="122"/>
          </p:nvPr>
        </p:nvSpPr>
        <p:spPr>
          <a:xfrm>
            <a:off x="1828668" y="3216767"/>
            <a:ext cx="967821" cy="394349"/>
          </a:xfrm>
          <a:solidFill>
            <a:srgbClr val="E7E6E6"/>
          </a:solidFill>
        </p:spPr>
        <p:txBody>
          <a:bodyPr anchor="ctr"/>
          <a:lstStyle>
            <a:lvl1pPr algn="ctr">
              <a:spcAft>
                <a:spcPts val="0"/>
              </a:spcAft>
              <a:defRPr sz="900"/>
            </a:lvl1pPr>
          </a:lstStyle>
          <a:p>
            <a:pPr lvl="0"/>
            <a:r>
              <a:rPr lang="en-US"/>
              <a:t>Edit Master text styles</a:t>
            </a:r>
          </a:p>
        </p:txBody>
      </p:sp>
      <p:sp>
        <p:nvSpPr>
          <p:cNvPr id="29" name="Text Placeholder 5"/>
          <p:cNvSpPr>
            <a:spLocks noGrp="1"/>
          </p:cNvSpPr>
          <p:nvPr>
            <p:ph type="body" sz="quarter" idx="123"/>
          </p:nvPr>
        </p:nvSpPr>
        <p:spPr>
          <a:xfrm>
            <a:off x="1828668" y="4750001"/>
            <a:ext cx="979146"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30" name="Text Placeholder 5"/>
          <p:cNvSpPr>
            <a:spLocks noGrp="1"/>
          </p:cNvSpPr>
          <p:nvPr>
            <p:ph type="body" sz="quarter" idx="124"/>
          </p:nvPr>
        </p:nvSpPr>
        <p:spPr>
          <a:xfrm>
            <a:off x="2925435" y="3216767"/>
            <a:ext cx="967821" cy="394349"/>
          </a:xfrm>
          <a:solidFill>
            <a:srgbClr val="E7E6E6"/>
          </a:solidFill>
        </p:spPr>
        <p:txBody>
          <a:bodyPr anchor="ctr"/>
          <a:lstStyle>
            <a:lvl1pPr algn="ctr">
              <a:spcAft>
                <a:spcPts val="0"/>
              </a:spcAft>
              <a:defRPr sz="900"/>
            </a:lvl1pPr>
          </a:lstStyle>
          <a:p>
            <a:pPr lvl="0"/>
            <a:r>
              <a:rPr lang="en-US"/>
              <a:t>Edit Master text styles</a:t>
            </a:r>
          </a:p>
        </p:txBody>
      </p:sp>
      <p:sp>
        <p:nvSpPr>
          <p:cNvPr id="31" name="Text Placeholder 5"/>
          <p:cNvSpPr>
            <a:spLocks noGrp="1"/>
          </p:cNvSpPr>
          <p:nvPr>
            <p:ph type="body" sz="quarter" idx="125"/>
          </p:nvPr>
        </p:nvSpPr>
        <p:spPr>
          <a:xfrm>
            <a:off x="2925435" y="4750001"/>
            <a:ext cx="979146"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32" name="Text Placeholder 5"/>
          <p:cNvSpPr>
            <a:spLocks noGrp="1"/>
          </p:cNvSpPr>
          <p:nvPr>
            <p:ph type="body" sz="quarter" idx="126"/>
          </p:nvPr>
        </p:nvSpPr>
        <p:spPr>
          <a:xfrm>
            <a:off x="4006308" y="3216767"/>
            <a:ext cx="967821" cy="394349"/>
          </a:xfrm>
          <a:solidFill>
            <a:srgbClr val="E7E6E6"/>
          </a:solidFill>
        </p:spPr>
        <p:txBody>
          <a:bodyPr anchor="ctr"/>
          <a:lstStyle>
            <a:lvl1pPr algn="ctr">
              <a:spcAft>
                <a:spcPts val="0"/>
              </a:spcAft>
              <a:defRPr sz="900"/>
            </a:lvl1pPr>
          </a:lstStyle>
          <a:p>
            <a:pPr lvl="0"/>
            <a:r>
              <a:rPr lang="en-US"/>
              <a:t>Edit Master text styles</a:t>
            </a:r>
          </a:p>
        </p:txBody>
      </p:sp>
      <p:sp>
        <p:nvSpPr>
          <p:cNvPr id="33" name="Text Placeholder 5"/>
          <p:cNvSpPr>
            <a:spLocks noGrp="1"/>
          </p:cNvSpPr>
          <p:nvPr>
            <p:ph type="body" sz="quarter" idx="127"/>
          </p:nvPr>
        </p:nvSpPr>
        <p:spPr>
          <a:xfrm>
            <a:off x="4006308" y="4750001"/>
            <a:ext cx="979146"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34" name="Text Placeholder 5"/>
          <p:cNvSpPr>
            <a:spLocks noGrp="1"/>
          </p:cNvSpPr>
          <p:nvPr>
            <p:ph type="body" sz="quarter" idx="128"/>
          </p:nvPr>
        </p:nvSpPr>
        <p:spPr>
          <a:xfrm>
            <a:off x="5065075" y="3216767"/>
            <a:ext cx="967821" cy="394349"/>
          </a:xfrm>
          <a:solidFill>
            <a:srgbClr val="E7E6E6"/>
          </a:solidFill>
        </p:spPr>
        <p:txBody>
          <a:bodyPr anchor="ctr"/>
          <a:lstStyle>
            <a:lvl1pPr algn="ctr">
              <a:spcAft>
                <a:spcPts val="0"/>
              </a:spcAft>
              <a:defRPr sz="900"/>
            </a:lvl1pPr>
          </a:lstStyle>
          <a:p>
            <a:pPr lvl="0"/>
            <a:r>
              <a:rPr lang="en-US"/>
              <a:t>Edit Master text styles</a:t>
            </a:r>
          </a:p>
        </p:txBody>
      </p:sp>
      <p:sp>
        <p:nvSpPr>
          <p:cNvPr id="35" name="Text Placeholder 5"/>
          <p:cNvSpPr>
            <a:spLocks noGrp="1"/>
          </p:cNvSpPr>
          <p:nvPr>
            <p:ph type="body" sz="quarter" idx="129"/>
          </p:nvPr>
        </p:nvSpPr>
        <p:spPr>
          <a:xfrm>
            <a:off x="5065075" y="4750001"/>
            <a:ext cx="979146"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36" name="Text Placeholder 5"/>
          <p:cNvSpPr>
            <a:spLocks noGrp="1"/>
          </p:cNvSpPr>
          <p:nvPr>
            <p:ph type="body" sz="quarter" idx="130"/>
          </p:nvPr>
        </p:nvSpPr>
        <p:spPr>
          <a:xfrm>
            <a:off x="6165710" y="3216767"/>
            <a:ext cx="967821" cy="394349"/>
          </a:xfrm>
          <a:solidFill>
            <a:srgbClr val="E7E6E6"/>
          </a:solidFill>
        </p:spPr>
        <p:txBody>
          <a:bodyPr anchor="ctr"/>
          <a:lstStyle>
            <a:lvl1pPr algn="ctr">
              <a:spcAft>
                <a:spcPts val="0"/>
              </a:spcAft>
              <a:defRPr sz="900"/>
            </a:lvl1pPr>
          </a:lstStyle>
          <a:p>
            <a:pPr lvl="0"/>
            <a:r>
              <a:rPr lang="en-US"/>
              <a:t>Edit Master text styles</a:t>
            </a:r>
          </a:p>
        </p:txBody>
      </p:sp>
      <p:sp>
        <p:nvSpPr>
          <p:cNvPr id="37" name="Text Placeholder 5"/>
          <p:cNvSpPr>
            <a:spLocks noGrp="1"/>
          </p:cNvSpPr>
          <p:nvPr>
            <p:ph type="body" sz="quarter" idx="131"/>
          </p:nvPr>
        </p:nvSpPr>
        <p:spPr>
          <a:xfrm>
            <a:off x="6165710" y="4750001"/>
            <a:ext cx="979146"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38" name="Text Placeholder 5"/>
          <p:cNvSpPr>
            <a:spLocks noGrp="1"/>
          </p:cNvSpPr>
          <p:nvPr>
            <p:ph type="body" sz="quarter" idx="132"/>
          </p:nvPr>
        </p:nvSpPr>
        <p:spPr>
          <a:xfrm>
            <a:off x="7245526" y="3216767"/>
            <a:ext cx="967821" cy="394349"/>
          </a:xfrm>
          <a:solidFill>
            <a:srgbClr val="E7E6E6"/>
          </a:solidFill>
        </p:spPr>
        <p:txBody>
          <a:bodyPr anchor="ctr"/>
          <a:lstStyle>
            <a:lvl1pPr algn="ctr">
              <a:spcAft>
                <a:spcPts val="0"/>
              </a:spcAft>
              <a:defRPr sz="900"/>
            </a:lvl1pPr>
          </a:lstStyle>
          <a:p>
            <a:pPr lvl="0"/>
            <a:r>
              <a:rPr lang="en-US"/>
              <a:t>Edit Master text styles</a:t>
            </a:r>
          </a:p>
        </p:txBody>
      </p:sp>
      <p:sp>
        <p:nvSpPr>
          <p:cNvPr id="39" name="Text Placeholder 5"/>
          <p:cNvSpPr>
            <a:spLocks noGrp="1"/>
          </p:cNvSpPr>
          <p:nvPr>
            <p:ph type="body" sz="quarter" idx="133"/>
          </p:nvPr>
        </p:nvSpPr>
        <p:spPr>
          <a:xfrm>
            <a:off x="7245526" y="4750001"/>
            <a:ext cx="979146"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Tree>
    <p:extLst>
      <p:ext uri="{BB962C8B-B14F-4D97-AF65-F5344CB8AC3E}">
        <p14:creationId xmlns:p14="http://schemas.microsoft.com/office/powerpoint/2010/main" val="2837800194"/>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rg chart 2">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
        <p:nvSpPr>
          <p:cNvPr id="40" name="Picture Placeholder 67"/>
          <p:cNvSpPr>
            <a:spLocks noGrp="1" noChangeAspect="1"/>
          </p:cNvSpPr>
          <p:nvPr>
            <p:ph type="pic" sz="quarter" idx="63"/>
          </p:nvPr>
        </p:nvSpPr>
        <p:spPr>
          <a:xfrm>
            <a:off x="8113685" y="3283631"/>
            <a:ext cx="978408" cy="978408"/>
          </a:xfrm>
          <a:ln>
            <a:solidFill>
              <a:schemeClr val="accent6">
                <a:lumMod val="20000"/>
                <a:lumOff val="80000"/>
              </a:schemeClr>
            </a:solidFill>
          </a:ln>
        </p:spPr>
        <p:txBody>
          <a:bodyPr/>
          <a:lstStyle/>
          <a:p>
            <a:r>
              <a:rPr lang="en-US"/>
              <a:t>Click icon to add picture</a:t>
            </a:r>
          </a:p>
        </p:txBody>
      </p:sp>
      <p:sp>
        <p:nvSpPr>
          <p:cNvPr id="41" name="Picture Placeholder 67"/>
          <p:cNvSpPr>
            <a:spLocks noGrp="1" noChangeAspect="1"/>
          </p:cNvSpPr>
          <p:nvPr>
            <p:ph type="pic" sz="quarter" idx="83"/>
          </p:nvPr>
        </p:nvSpPr>
        <p:spPr>
          <a:xfrm>
            <a:off x="3094648" y="3283631"/>
            <a:ext cx="978408" cy="978408"/>
          </a:xfrm>
          <a:ln>
            <a:solidFill>
              <a:schemeClr val="accent6">
                <a:lumMod val="20000"/>
                <a:lumOff val="80000"/>
              </a:schemeClr>
            </a:solidFill>
          </a:ln>
        </p:spPr>
        <p:txBody>
          <a:bodyPr/>
          <a:lstStyle/>
          <a:p>
            <a:r>
              <a:rPr lang="en-US"/>
              <a:t>Click icon to add picture</a:t>
            </a:r>
          </a:p>
        </p:txBody>
      </p:sp>
      <p:sp>
        <p:nvSpPr>
          <p:cNvPr id="42" name="Picture Placeholder 67"/>
          <p:cNvSpPr>
            <a:spLocks noGrp="1" noChangeAspect="1"/>
          </p:cNvSpPr>
          <p:nvPr>
            <p:ph type="pic" sz="quarter" idx="86"/>
          </p:nvPr>
        </p:nvSpPr>
        <p:spPr>
          <a:xfrm>
            <a:off x="4349407" y="3283631"/>
            <a:ext cx="978408" cy="978408"/>
          </a:xfrm>
          <a:ln>
            <a:solidFill>
              <a:schemeClr val="accent6">
                <a:lumMod val="20000"/>
                <a:lumOff val="80000"/>
              </a:schemeClr>
            </a:solidFill>
          </a:ln>
        </p:spPr>
        <p:txBody>
          <a:bodyPr/>
          <a:lstStyle/>
          <a:p>
            <a:r>
              <a:rPr lang="en-US"/>
              <a:t>Click icon to add picture</a:t>
            </a:r>
          </a:p>
        </p:txBody>
      </p:sp>
      <p:sp>
        <p:nvSpPr>
          <p:cNvPr id="43" name="Picture Placeholder 67"/>
          <p:cNvSpPr>
            <a:spLocks noGrp="1" noChangeAspect="1"/>
          </p:cNvSpPr>
          <p:nvPr>
            <p:ph type="pic" sz="quarter" idx="89"/>
          </p:nvPr>
        </p:nvSpPr>
        <p:spPr>
          <a:xfrm>
            <a:off x="5604904" y="3282826"/>
            <a:ext cx="978408" cy="978408"/>
          </a:xfrm>
          <a:ln>
            <a:solidFill>
              <a:schemeClr val="accent6">
                <a:lumMod val="20000"/>
                <a:lumOff val="80000"/>
              </a:schemeClr>
            </a:solidFill>
          </a:ln>
        </p:spPr>
        <p:txBody>
          <a:bodyPr/>
          <a:lstStyle/>
          <a:p>
            <a:r>
              <a:rPr lang="en-US"/>
              <a:t>Click icon to add picture</a:t>
            </a:r>
          </a:p>
        </p:txBody>
      </p:sp>
      <p:sp>
        <p:nvSpPr>
          <p:cNvPr id="44" name="Picture Placeholder 67"/>
          <p:cNvSpPr>
            <a:spLocks noGrp="1" noChangeAspect="1"/>
          </p:cNvSpPr>
          <p:nvPr>
            <p:ph type="pic" sz="quarter" idx="92"/>
          </p:nvPr>
        </p:nvSpPr>
        <p:spPr>
          <a:xfrm>
            <a:off x="6858925" y="3282826"/>
            <a:ext cx="978408" cy="978408"/>
          </a:xfrm>
          <a:ln>
            <a:solidFill>
              <a:schemeClr val="accent6">
                <a:lumMod val="20000"/>
                <a:lumOff val="80000"/>
              </a:schemeClr>
            </a:solidFill>
          </a:ln>
        </p:spPr>
        <p:txBody>
          <a:bodyPr/>
          <a:lstStyle/>
          <a:p>
            <a:r>
              <a:rPr lang="en-US"/>
              <a:t>Click icon to add picture</a:t>
            </a:r>
          </a:p>
        </p:txBody>
      </p:sp>
      <p:sp>
        <p:nvSpPr>
          <p:cNvPr id="45" name="Picture Placeholder 67"/>
          <p:cNvSpPr>
            <a:spLocks noGrp="1" noChangeAspect="1"/>
          </p:cNvSpPr>
          <p:nvPr>
            <p:ph type="pic" sz="quarter" idx="14"/>
          </p:nvPr>
        </p:nvSpPr>
        <p:spPr>
          <a:xfrm>
            <a:off x="5041869" y="1597825"/>
            <a:ext cx="978408" cy="990405"/>
          </a:xfrm>
          <a:ln>
            <a:solidFill>
              <a:schemeClr val="accent6">
                <a:lumMod val="20000"/>
                <a:lumOff val="80000"/>
              </a:schemeClr>
            </a:solidFill>
          </a:ln>
        </p:spPr>
        <p:txBody>
          <a:bodyPr/>
          <a:lstStyle/>
          <a:p>
            <a:r>
              <a:rPr lang="en-US"/>
              <a:t>Click icon to add picture</a:t>
            </a:r>
          </a:p>
        </p:txBody>
      </p:sp>
      <p:sp>
        <p:nvSpPr>
          <p:cNvPr id="46" name="Text Placeholder 5"/>
          <p:cNvSpPr>
            <a:spLocks noGrp="1"/>
          </p:cNvSpPr>
          <p:nvPr>
            <p:ph type="body" sz="quarter" idx="113"/>
          </p:nvPr>
        </p:nvSpPr>
        <p:spPr>
          <a:xfrm>
            <a:off x="6096000" y="1597825"/>
            <a:ext cx="967821" cy="394349"/>
          </a:xfrm>
          <a:solidFill>
            <a:srgbClr val="E7E6E6"/>
          </a:solidFill>
        </p:spPr>
        <p:txBody>
          <a:bodyPr anchor="ctr"/>
          <a:lstStyle>
            <a:lvl1pPr algn="ctr">
              <a:spcAft>
                <a:spcPts val="0"/>
              </a:spcAft>
              <a:defRPr sz="900"/>
            </a:lvl1pPr>
          </a:lstStyle>
          <a:p>
            <a:pPr lvl="0"/>
            <a:r>
              <a:rPr lang="en-US"/>
              <a:t>Edit Master text styles</a:t>
            </a:r>
          </a:p>
        </p:txBody>
      </p:sp>
      <p:sp>
        <p:nvSpPr>
          <p:cNvPr id="47" name="Text Placeholder 5"/>
          <p:cNvSpPr>
            <a:spLocks noGrp="1"/>
          </p:cNvSpPr>
          <p:nvPr>
            <p:ph type="body" sz="quarter" idx="114"/>
          </p:nvPr>
        </p:nvSpPr>
        <p:spPr>
          <a:xfrm>
            <a:off x="6096000" y="2053382"/>
            <a:ext cx="967821" cy="534848"/>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48" name="Text Placeholder 5"/>
          <p:cNvSpPr>
            <a:spLocks noGrp="1"/>
          </p:cNvSpPr>
          <p:nvPr>
            <p:ph type="body" sz="quarter" idx="115"/>
          </p:nvPr>
        </p:nvSpPr>
        <p:spPr>
          <a:xfrm>
            <a:off x="3093911" y="2764207"/>
            <a:ext cx="5998182" cy="394349"/>
          </a:xfrm>
          <a:solidFill>
            <a:srgbClr val="E7E6E6"/>
          </a:solidFill>
        </p:spPr>
        <p:txBody>
          <a:bodyPr anchor="ctr"/>
          <a:lstStyle>
            <a:lvl1pPr algn="ctr">
              <a:spcAft>
                <a:spcPts val="0"/>
              </a:spcAft>
              <a:defRPr sz="900" cap="all" baseline="0"/>
            </a:lvl1pPr>
          </a:lstStyle>
          <a:p>
            <a:pPr lvl="0"/>
            <a:r>
              <a:rPr lang="en-US"/>
              <a:t>Edit Master text styles</a:t>
            </a:r>
          </a:p>
        </p:txBody>
      </p:sp>
      <p:sp>
        <p:nvSpPr>
          <p:cNvPr id="49" name="Text Placeholder 5"/>
          <p:cNvSpPr>
            <a:spLocks noGrp="1"/>
          </p:cNvSpPr>
          <p:nvPr>
            <p:ph type="body" sz="quarter" idx="112"/>
          </p:nvPr>
        </p:nvSpPr>
        <p:spPr>
          <a:xfrm>
            <a:off x="3093910" y="4337954"/>
            <a:ext cx="979146"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50" name="Text Placeholder 5"/>
          <p:cNvSpPr>
            <a:spLocks noGrp="1"/>
          </p:cNvSpPr>
          <p:nvPr>
            <p:ph type="body" sz="quarter" idx="116"/>
          </p:nvPr>
        </p:nvSpPr>
        <p:spPr>
          <a:xfrm>
            <a:off x="4347932" y="4337954"/>
            <a:ext cx="979146"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51" name="Text Placeholder 5"/>
          <p:cNvSpPr>
            <a:spLocks noGrp="1"/>
          </p:cNvSpPr>
          <p:nvPr>
            <p:ph type="body" sz="quarter" idx="117"/>
          </p:nvPr>
        </p:nvSpPr>
        <p:spPr>
          <a:xfrm>
            <a:off x="5600764" y="4337954"/>
            <a:ext cx="979146"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52" name="Text Placeholder 5"/>
          <p:cNvSpPr>
            <a:spLocks noGrp="1"/>
          </p:cNvSpPr>
          <p:nvPr>
            <p:ph type="body" sz="quarter" idx="118"/>
          </p:nvPr>
        </p:nvSpPr>
        <p:spPr>
          <a:xfrm>
            <a:off x="6852121" y="4337954"/>
            <a:ext cx="979146"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53" name="Text Placeholder 5"/>
          <p:cNvSpPr>
            <a:spLocks noGrp="1"/>
          </p:cNvSpPr>
          <p:nvPr>
            <p:ph type="body" sz="quarter" idx="119"/>
          </p:nvPr>
        </p:nvSpPr>
        <p:spPr>
          <a:xfrm>
            <a:off x="8100076" y="4337954"/>
            <a:ext cx="979146" cy="394349"/>
          </a:xfrm>
          <a:solidFill>
            <a:schemeClr val="accent5"/>
          </a:solidFill>
        </p:spPr>
        <p:txBody>
          <a:bodyPr lIns="45720" tIns="18288" rIns="45720" bIns="18288" anchor="ctr"/>
          <a:lstStyle>
            <a:lvl1pPr algn="l">
              <a:spcAft>
                <a:spcPts val="0"/>
              </a:spcAft>
              <a:defRPr sz="900">
                <a:solidFill>
                  <a:schemeClr val="bg1"/>
                </a:solidFill>
              </a:defRPr>
            </a:lvl1pPr>
          </a:lstStyle>
          <a:p>
            <a:pPr lvl="0"/>
            <a:r>
              <a:rPr lang="en-US"/>
              <a:t>Edit Master text styles</a:t>
            </a:r>
          </a:p>
        </p:txBody>
      </p:sp>
      <p:sp>
        <p:nvSpPr>
          <p:cNvPr id="54" name="Text Placeholder 2"/>
          <p:cNvSpPr>
            <a:spLocks noGrp="1"/>
          </p:cNvSpPr>
          <p:nvPr>
            <p:ph type="body" sz="quarter" idx="121"/>
          </p:nvPr>
        </p:nvSpPr>
        <p:spPr>
          <a:xfrm>
            <a:off x="4348163" y="4886834"/>
            <a:ext cx="979487" cy="1221003"/>
          </a:xfrm>
        </p:spPr>
        <p:txBody>
          <a:bodyPr/>
          <a:lstStyle>
            <a:lvl1pPr marL="171450" indent="-171450">
              <a:spcAft>
                <a:spcPts val="0"/>
              </a:spcAft>
              <a:buFont typeface="Arial" panose="020B0604020202020204" pitchFamily="34" charset="0"/>
              <a:buChar char="•"/>
              <a:defRPr sz="800"/>
            </a:lvl1pPr>
            <a:lvl2pPr marL="171450" indent="-171450">
              <a:spcAft>
                <a:spcPts val="0"/>
              </a:spcAft>
              <a:buFont typeface="Arial" panose="020B0604020202020204" pitchFamily="34" charset="0"/>
              <a:buChar char="•"/>
              <a:defRPr sz="800"/>
            </a:lvl2pPr>
            <a:lvl3pPr>
              <a:spcAft>
                <a:spcPts val="0"/>
              </a:spcAft>
              <a:defRPr sz="800"/>
            </a:lvl3pPr>
            <a:lvl4pPr>
              <a:spcAft>
                <a:spcPts val="0"/>
              </a:spcAft>
              <a:defRPr sz="800"/>
            </a:lvl4pPr>
            <a:lvl5pPr>
              <a:spcAft>
                <a:spcPts val="0"/>
              </a:spcAft>
              <a:defRPr sz="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5" name="Text Placeholder 2"/>
          <p:cNvSpPr>
            <a:spLocks noGrp="1"/>
          </p:cNvSpPr>
          <p:nvPr>
            <p:ph type="body" sz="quarter" idx="122"/>
          </p:nvPr>
        </p:nvSpPr>
        <p:spPr>
          <a:xfrm>
            <a:off x="3093569" y="4886834"/>
            <a:ext cx="979487" cy="1221003"/>
          </a:xfrm>
        </p:spPr>
        <p:txBody>
          <a:bodyPr/>
          <a:lstStyle>
            <a:lvl1pPr marL="171450" indent="-171450">
              <a:spcAft>
                <a:spcPts val="0"/>
              </a:spcAft>
              <a:buFont typeface="Arial" panose="020B0604020202020204" pitchFamily="34" charset="0"/>
              <a:buChar char="•"/>
              <a:defRPr sz="800"/>
            </a:lvl1pPr>
            <a:lvl2pPr marL="171450" indent="-171450">
              <a:spcAft>
                <a:spcPts val="0"/>
              </a:spcAft>
              <a:buFont typeface="Arial" panose="020B0604020202020204" pitchFamily="34" charset="0"/>
              <a:buChar char="•"/>
              <a:defRPr sz="800"/>
            </a:lvl2pPr>
            <a:lvl3pPr>
              <a:spcAft>
                <a:spcPts val="0"/>
              </a:spcAft>
              <a:defRPr sz="800"/>
            </a:lvl3pPr>
            <a:lvl4pPr>
              <a:spcAft>
                <a:spcPts val="0"/>
              </a:spcAft>
              <a:defRPr sz="800"/>
            </a:lvl4pPr>
            <a:lvl5pPr>
              <a:spcAft>
                <a:spcPts val="0"/>
              </a:spcAft>
              <a:defRPr sz="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6" name="Text Placeholder 2"/>
          <p:cNvSpPr>
            <a:spLocks noGrp="1"/>
          </p:cNvSpPr>
          <p:nvPr>
            <p:ph type="body" sz="quarter" idx="123"/>
          </p:nvPr>
        </p:nvSpPr>
        <p:spPr>
          <a:xfrm>
            <a:off x="5600764" y="4886834"/>
            <a:ext cx="979487" cy="1221003"/>
          </a:xfrm>
        </p:spPr>
        <p:txBody>
          <a:bodyPr/>
          <a:lstStyle>
            <a:lvl1pPr marL="171450" indent="-171450">
              <a:spcAft>
                <a:spcPts val="0"/>
              </a:spcAft>
              <a:buFont typeface="Arial" panose="020B0604020202020204" pitchFamily="34" charset="0"/>
              <a:buChar char="•"/>
              <a:defRPr sz="800"/>
            </a:lvl1pPr>
            <a:lvl2pPr marL="171450" indent="-171450">
              <a:spcAft>
                <a:spcPts val="0"/>
              </a:spcAft>
              <a:buFont typeface="Arial" panose="020B0604020202020204" pitchFamily="34" charset="0"/>
              <a:buChar char="•"/>
              <a:defRPr sz="800"/>
            </a:lvl2pPr>
            <a:lvl3pPr>
              <a:spcAft>
                <a:spcPts val="0"/>
              </a:spcAft>
              <a:defRPr sz="800"/>
            </a:lvl3pPr>
            <a:lvl4pPr>
              <a:spcAft>
                <a:spcPts val="0"/>
              </a:spcAft>
              <a:defRPr sz="800"/>
            </a:lvl4pPr>
            <a:lvl5pPr>
              <a:spcAft>
                <a:spcPts val="0"/>
              </a:spcAft>
              <a:defRPr sz="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7" name="Text Placeholder 2"/>
          <p:cNvSpPr>
            <a:spLocks noGrp="1"/>
          </p:cNvSpPr>
          <p:nvPr>
            <p:ph type="body" sz="quarter" idx="124"/>
          </p:nvPr>
        </p:nvSpPr>
        <p:spPr>
          <a:xfrm>
            <a:off x="6851780" y="4886834"/>
            <a:ext cx="979487" cy="1221003"/>
          </a:xfrm>
        </p:spPr>
        <p:txBody>
          <a:bodyPr/>
          <a:lstStyle>
            <a:lvl1pPr marL="171450" indent="-171450">
              <a:spcAft>
                <a:spcPts val="0"/>
              </a:spcAft>
              <a:buFont typeface="Arial" panose="020B0604020202020204" pitchFamily="34" charset="0"/>
              <a:buChar char="•"/>
              <a:defRPr sz="800"/>
            </a:lvl1pPr>
            <a:lvl2pPr marL="171450" indent="-171450">
              <a:spcAft>
                <a:spcPts val="0"/>
              </a:spcAft>
              <a:buFont typeface="Arial" panose="020B0604020202020204" pitchFamily="34" charset="0"/>
              <a:buChar char="•"/>
              <a:defRPr sz="800"/>
            </a:lvl2pPr>
            <a:lvl3pPr>
              <a:spcAft>
                <a:spcPts val="0"/>
              </a:spcAft>
              <a:defRPr sz="800"/>
            </a:lvl3pPr>
            <a:lvl4pPr>
              <a:spcAft>
                <a:spcPts val="0"/>
              </a:spcAft>
              <a:defRPr sz="800"/>
            </a:lvl4pPr>
            <a:lvl5pPr>
              <a:spcAft>
                <a:spcPts val="0"/>
              </a:spcAft>
              <a:defRPr sz="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Text Placeholder 2"/>
          <p:cNvSpPr>
            <a:spLocks noGrp="1"/>
          </p:cNvSpPr>
          <p:nvPr>
            <p:ph type="body" sz="quarter" idx="125"/>
          </p:nvPr>
        </p:nvSpPr>
        <p:spPr>
          <a:xfrm>
            <a:off x="8100076" y="4886834"/>
            <a:ext cx="979487" cy="1221003"/>
          </a:xfrm>
        </p:spPr>
        <p:txBody>
          <a:bodyPr/>
          <a:lstStyle>
            <a:lvl1pPr marL="171450" indent="-171450">
              <a:spcAft>
                <a:spcPts val="0"/>
              </a:spcAft>
              <a:buFont typeface="Arial" panose="020B0604020202020204" pitchFamily="34" charset="0"/>
              <a:buChar char="•"/>
              <a:defRPr sz="800"/>
            </a:lvl1pPr>
            <a:lvl2pPr marL="171450" indent="-171450">
              <a:spcAft>
                <a:spcPts val="0"/>
              </a:spcAft>
              <a:buFont typeface="Arial" panose="020B0604020202020204" pitchFamily="34" charset="0"/>
              <a:buChar char="•"/>
              <a:defRPr sz="800"/>
            </a:lvl2pPr>
            <a:lvl3pPr>
              <a:spcAft>
                <a:spcPts val="0"/>
              </a:spcAft>
              <a:defRPr sz="800"/>
            </a:lvl3pPr>
            <a:lvl4pPr>
              <a:spcAft>
                <a:spcPts val="0"/>
              </a:spcAft>
              <a:defRPr sz="800"/>
            </a:lvl4pPr>
            <a:lvl5pPr>
              <a:spcAft>
                <a:spcPts val="0"/>
              </a:spcAft>
              <a:defRPr sz="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6335707"/>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 column icon blue 7">
    <p:bg>
      <p:bgPr>
        <a:solidFill>
          <a:srgbClr val="041E4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solidFill>
                  <a:schemeClr val="bg1"/>
                </a:solidFill>
              </a:defRPr>
            </a:lvl1pPr>
          </a:lstStyle>
          <a:p>
            <a:r>
              <a:rPr lang="en-US" noProof="0"/>
              <a:t>Click to edit Master title style</a:t>
            </a:r>
          </a:p>
        </p:txBody>
      </p:sp>
      <p:sp>
        <p:nvSpPr>
          <p:cNvPr id="2" name="TextBox 1">
            <a:extLst>
              <a:ext uri="{FF2B5EF4-FFF2-40B4-BE49-F238E27FC236}">
                <a16:creationId xmlns:a16="http://schemas.microsoft.com/office/drawing/2014/main" id="{2C68CEA0-9DA4-3D8E-14BB-EC6F5562D17C}"/>
              </a:ext>
            </a:extLst>
          </p:cNvPr>
          <p:cNvSpPr txBox="1"/>
          <p:nvPr userDrawn="1"/>
        </p:nvSpPr>
        <p:spPr>
          <a:xfrm>
            <a:off x="11414125"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solidFill>
              </a:rPr>
              <a:pPr marL="0" indent="0" algn="r">
                <a:spcBef>
                  <a:spcPts val="800"/>
                </a:spcBef>
                <a:buSzPct val="100000"/>
                <a:buFont typeface="Arial"/>
                <a:buNone/>
              </a:pPr>
              <a:t>‹#›</a:t>
            </a:fld>
            <a:endParaRPr lang="en-US" sz="700" noProof="0">
              <a:solidFill>
                <a:schemeClr val="bg1"/>
              </a:solidFill>
            </a:endParaRPr>
          </a:p>
        </p:txBody>
      </p:sp>
      <p:sp>
        <p:nvSpPr>
          <p:cNvPr id="3" name="TextBox 2">
            <a:extLst>
              <a:ext uri="{FF2B5EF4-FFF2-40B4-BE49-F238E27FC236}">
                <a16:creationId xmlns:a16="http://schemas.microsoft.com/office/drawing/2014/main" id="{6CD0FF53-6E1A-91D0-96A4-883E393A9FC2}"/>
              </a:ext>
            </a:extLst>
          </p:cNvPr>
          <p:cNvSpPr txBox="1"/>
          <p:nvPr userDrawn="1"/>
        </p:nvSpPr>
        <p:spPr>
          <a:xfrm>
            <a:off x="469900" y="6477000"/>
            <a:ext cx="5355167" cy="107722"/>
          </a:xfrm>
          <a:prstGeom prst="rect">
            <a:avLst/>
          </a:prstGeom>
          <a:noFill/>
        </p:spPr>
        <p:txBody>
          <a:bodyPr wrap="square" lIns="0" tIns="0" rIns="0" bIns="0" rtlCol="0">
            <a:spAutoFit/>
          </a:bodyPr>
          <a:lstStyle/>
          <a:p>
            <a:pPr marL="0" indent="0">
              <a:spcBef>
                <a:spcPts val="800"/>
              </a:spcBef>
              <a:buSzPct val="100000"/>
              <a:buFont typeface="Arial"/>
              <a:buNone/>
            </a:pPr>
            <a:r>
              <a:rPr lang="en-US" sz="700" noProof="0">
                <a:solidFill>
                  <a:schemeClr val="bg1"/>
                </a:solidFill>
              </a:rPr>
              <a:t>© 2025. Deloitte GFS Limited. All rights reserved.</a:t>
            </a:r>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100"/>
            </a:lvl1pPr>
          </a:lstStyle>
          <a:p>
            <a:r>
              <a:rPr lang="en-US" noProof="0"/>
              <a:t>Click to edit Master title style</a:t>
            </a:r>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End slide">
    <p:spTree>
      <p:nvGrpSpPr>
        <p:cNvPr id="1" name=""/>
        <p:cNvGrpSpPr/>
        <p:nvPr/>
      </p:nvGrpSpPr>
      <p:grpSpPr>
        <a:xfrm>
          <a:off x="0" y="0"/>
          <a:ext cx="0" cy="0"/>
          <a:chOff x="0" y="0"/>
          <a:chExt cx="0" cy="0"/>
        </a:xfrm>
      </p:grpSpPr>
      <p:sp>
        <p:nvSpPr>
          <p:cNvPr id="4" name="Text Placeholder 3"/>
          <p:cNvSpPr>
            <a:spLocks noGrp="1"/>
          </p:cNvSpPr>
          <p:nvPr>
            <p:ph type="body" sz="quarter" idx="14"/>
          </p:nvPr>
        </p:nvSpPr>
        <p:spPr>
          <a:xfrm>
            <a:off x="475325" y="4108704"/>
            <a:ext cx="8595360" cy="2243137"/>
          </a:xfrm>
        </p:spPr>
        <p:txBody>
          <a:bodyPr anchor="b"/>
          <a:lstStyle>
            <a:lvl1pPr>
              <a:spcAft>
                <a:spcPts val="400"/>
              </a:spcAft>
              <a:defRPr sz="800"/>
            </a:lvl1pPr>
          </a:lstStyle>
          <a:p>
            <a:pPr lvl="0"/>
            <a:r>
              <a:rPr lang="en-US"/>
              <a:t>Edit Master text styles</a:t>
            </a:r>
          </a:p>
        </p:txBody>
      </p:sp>
      <p:pic>
        <p:nvPicPr>
          <p:cNvPr id="3" name="Picture 2" descr="Deloitte logo">
            <a:extLst>
              <a:ext uri="{FF2B5EF4-FFF2-40B4-BE49-F238E27FC236}">
                <a16:creationId xmlns:a16="http://schemas.microsoft.com/office/drawing/2014/main" id="{AAFAA116-4CCD-F0E0-EBCA-417472B00E6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2127" t="25842" r="20029" b="46199"/>
          <a:stretch/>
        </p:blipFill>
        <p:spPr>
          <a:xfrm>
            <a:off x="433388" y="332613"/>
            <a:ext cx="1885949" cy="365760"/>
          </a:xfrm>
          <a:prstGeom prst="rect">
            <a:avLst/>
          </a:prstGeom>
        </p:spPr>
      </p:pic>
    </p:spTree>
    <p:extLst>
      <p:ext uri="{BB962C8B-B14F-4D97-AF65-F5344CB8AC3E}">
        <p14:creationId xmlns:p14="http://schemas.microsoft.com/office/powerpoint/2010/main" val="6576600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2_End slide">
    <p:bg>
      <p:bgPr>
        <a:solidFill>
          <a:schemeClr val="tx1"/>
        </a:solidFill>
        <a:effectLst/>
      </p:bgPr>
    </p:bg>
    <p:spTree>
      <p:nvGrpSpPr>
        <p:cNvPr id="1" name=""/>
        <p:cNvGrpSpPr/>
        <p:nvPr/>
      </p:nvGrpSpPr>
      <p:grpSpPr>
        <a:xfrm>
          <a:off x="0" y="0"/>
          <a:ext cx="0" cy="0"/>
          <a:chOff x="0" y="0"/>
          <a:chExt cx="0" cy="0"/>
        </a:xfrm>
      </p:grpSpPr>
      <p:sp>
        <p:nvSpPr>
          <p:cNvPr id="38" name="Text Placeholder 2"/>
          <p:cNvSpPr>
            <a:spLocks noGrp="1"/>
          </p:cNvSpPr>
          <p:nvPr>
            <p:ph type="body" sz="quarter" idx="13"/>
          </p:nvPr>
        </p:nvSpPr>
        <p:spPr>
          <a:xfrm>
            <a:off x="475324" y="4102914"/>
            <a:ext cx="8595360" cy="2248928"/>
          </a:xfrm>
        </p:spPr>
        <p:txBody>
          <a:bodyPr anchor="b"/>
          <a:lstStyle>
            <a:lvl1pPr>
              <a:spcAft>
                <a:spcPts val="400"/>
              </a:spcAft>
              <a:defRPr sz="800">
                <a:solidFill>
                  <a:schemeClr val="bg1"/>
                </a:solidFill>
              </a:defRPr>
            </a:lvl1pPr>
          </a:lstStyle>
          <a:p>
            <a:pPr lvl="0"/>
            <a:r>
              <a:rPr lang="en-US"/>
              <a:t>Edit Master text styles</a:t>
            </a:r>
          </a:p>
        </p:txBody>
      </p:sp>
      <p:pic>
        <p:nvPicPr>
          <p:cNvPr id="2" name="Picture 1" descr="Deloitte logo">
            <a:extLst>
              <a:ext uri="{FF2B5EF4-FFF2-40B4-BE49-F238E27FC236}">
                <a16:creationId xmlns:a16="http://schemas.microsoft.com/office/drawing/2014/main" id="{E4C600B3-9611-8B21-4708-D581B2A45D8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2126" t="25842" r="20029" b="46199"/>
          <a:stretch/>
        </p:blipFill>
        <p:spPr>
          <a:xfrm>
            <a:off x="433388" y="332613"/>
            <a:ext cx="1885949" cy="365760"/>
          </a:xfrm>
          <a:prstGeom prst="rect">
            <a:avLst/>
          </a:prstGeom>
        </p:spPr>
      </p:pic>
    </p:spTree>
    <p:extLst>
      <p:ext uri="{BB962C8B-B14F-4D97-AF65-F5344CB8AC3E}">
        <p14:creationId xmlns:p14="http://schemas.microsoft.com/office/powerpoint/2010/main" val="370251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9" Type="http://schemas.openxmlformats.org/officeDocument/2006/relationships/slideLayout" Target="../slideLayouts/slideLayout62.xml"/><Relationship Id="rId21" Type="http://schemas.openxmlformats.org/officeDocument/2006/relationships/slideLayout" Target="../slideLayouts/slideLayout44.xml"/><Relationship Id="rId34" Type="http://schemas.openxmlformats.org/officeDocument/2006/relationships/slideLayout" Target="../slideLayouts/slideLayout57.xml"/><Relationship Id="rId42" Type="http://schemas.openxmlformats.org/officeDocument/2006/relationships/slideLayout" Target="../slideLayouts/slideLayout65.xml"/><Relationship Id="rId47" Type="http://schemas.openxmlformats.org/officeDocument/2006/relationships/image" Target="../media/image1.emf"/><Relationship Id="rId7" Type="http://schemas.openxmlformats.org/officeDocument/2006/relationships/slideLayout" Target="../slideLayouts/slideLayout3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9" Type="http://schemas.openxmlformats.org/officeDocument/2006/relationships/slideLayout" Target="../slideLayouts/slideLayout52.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32" Type="http://schemas.openxmlformats.org/officeDocument/2006/relationships/slideLayout" Target="../slideLayouts/slideLayout55.xml"/><Relationship Id="rId37" Type="http://schemas.openxmlformats.org/officeDocument/2006/relationships/slideLayout" Target="../slideLayouts/slideLayout60.xml"/><Relationship Id="rId40" Type="http://schemas.openxmlformats.org/officeDocument/2006/relationships/slideLayout" Target="../slideLayouts/slideLayout63.xml"/><Relationship Id="rId45" Type="http://schemas.openxmlformats.org/officeDocument/2006/relationships/tags" Target="../tags/tag10.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36" Type="http://schemas.openxmlformats.org/officeDocument/2006/relationships/slideLayout" Target="../slideLayouts/slideLayout59.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slideLayout" Target="../slideLayouts/slideLayout54.xml"/><Relationship Id="rId44" Type="http://schemas.openxmlformats.org/officeDocument/2006/relationships/theme" Target="../theme/theme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slideLayout" Target="../slideLayouts/slideLayout53.xml"/><Relationship Id="rId35" Type="http://schemas.openxmlformats.org/officeDocument/2006/relationships/slideLayout" Target="../slideLayouts/slideLayout58.xml"/><Relationship Id="rId43" Type="http://schemas.openxmlformats.org/officeDocument/2006/relationships/slideLayout" Target="../slideLayouts/slideLayout66.xml"/><Relationship Id="rId8" Type="http://schemas.openxmlformats.org/officeDocument/2006/relationships/slideLayout" Target="../slideLayouts/slideLayout31.xml"/><Relationship Id="rId3" Type="http://schemas.openxmlformats.org/officeDocument/2006/relationships/slideLayout" Target="../slideLayouts/slideLayout26.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33" Type="http://schemas.openxmlformats.org/officeDocument/2006/relationships/slideLayout" Target="../slideLayouts/slideLayout56.xml"/><Relationship Id="rId38" Type="http://schemas.openxmlformats.org/officeDocument/2006/relationships/slideLayout" Target="../slideLayouts/slideLayout61.xml"/><Relationship Id="rId46" Type="http://schemas.openxmlformats.org/officeDocument/2006/relationships/oleObject" Target="../embeddings/oleObject4.bin"/><Relationship Id="rId20" Type="http://schemas.openxmlformats.org/officeDocument/2006/relationships/slideLayout" Target="../slideLayouts/slideLayout43.xml"/><Relationship Id="rId41"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5"/>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26" imgW="270" imgH="270" progId="TCLayout.ActiveDocument.1">
                  <p:embed/>
                </p:oleObj>
              </mc:Choice>
              <mc:Fallback>
                <p:oleObj name="think-cell Slide" r:id="rId26" imgW="270" imgH="270" progId="TCLayout.ActiveDocument.1">
                  <p:embed/>
                  <p:pic>
                    <p:nvPicPr>
                      <p:cNvPr id="4" name="Object 3" hidden="1"/>
                      <p:cNvPicPr/>
                      <p:nvPr/>
                    </p:nvPicPr>
                    <p:blipFill>
                      <a:blip r:embed="rId27"/>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42899" y="345664"/>
            <a:ext cx="11503307" cy="340136"/>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345792" y="1679602"/>
            <a:ext cx="11503307" cy="466191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538231" y="6533960"/>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rgbClr val="75787B"/>
              </a:solidFill>
              <a:latin typeface="Aptos" panose="020B000402020202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3C6C57BD-9ED2-FAD8-B251-7E7F83DA0F0B}"/>
              </a:ext>
            </a:extLst>
          </p:cNvPr>
          <p:cNvSpPr txBox="1"/>
          <p:nvPr userDrawn="1"/>
        </p:nvSpPr>
        <p:spPr>
          <a:xfrm>
            <a:off x="469900" y="6473152"/>
            <a:ext cx="5355167" cy="107722"/>
          </a:xfrm>
          <a:prstGeom prst="rect">
            <a:avLst/>
          </a:prstGeom>
          <a:noFill/>
        </p:spPr>
        <p:txBody>
          <a:bodyPr wrap="square" lIns="0" tIns="0" rIns="0" bIns="0" rtlCol="0">
            <a:spAutoFit/>
          </a:bodyPr>
          <a:lstStyle/>
          <a:p>
            <a:pPr marL="0" indent="0">
              <a:spcBef>
                <a:spcPts val="0"/>
              </a:spcBef>
              <a:spcAft>
                <a:spcPts val="600"/>
              </a:spcAft>
              <a:buSzPct val="100000"/>
              <a:buFont typeface="Arial"/>
              <a:buNone/>
            </a:pPr>
            <a:r>
              <a:rPr lang="en-US" sz="700" noProof="0">
                <a:solidFill>
                  <a:schemeClr val="tx1"/>
                </a:solidFill>
                <a:latin typeface="+mn-lt"/>
              </a:rPr>
              <a:t>© 2026. Deloitte GFS Limited. All rights reserved.</a:t>
            </a:r>
          </a:p>
        </p:txBody>
      </p:sp>
      <p:sp>
        <p:nvSpPr>
          <p:cNvPr id="6" name="TextBox 5">
            <a:extLst>
              <a:ext uri="{FF2B5EF4-FFF2-40B4-BE49-F238E27FC236}">
                <a16:creationId xmlns:a16="http://schemas.microsoft.com/office/drawing/2014/main" id="{19F61B1E-02EB-0951-4824-CD5CB8710051}"/>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tx1"/>
                </a:solidFill>
                <a:latin typeface="+mn-lt"/>
              </a:rPr>
              <a:t>CLASSIFICATION: CONFIDENTIAL – INTERNAL USE ONLY</a:t>
            </a:r>
          </a:p>
        </p:txBody>
      </p:sp>
    </p:spTree>
    <p:extLst>
      <p:ext uri="{BB962C8B-B14F-4D97-AF65-F5344CB8AC3E}">
        <p14:creationId xmlns:p14="http://schemas.microsoft.com/office/powerpoint/2010/main" val="2160118255"/>
      </p:ext>
    </p:extLst>
  </p:cSld>
  <p:clrMap bg1="lt1" tx1="dk1" bg2="lt2" tx2="dk2" accent1="accent1" accent2="accent2" accent3="accent3" accent4="accent4" accent5="accent5" accent6="accent6" hlink="hlink" folHlink="folHlink"/>
  <p:sldLayoutIdLst>
    <p:sldLayoutId id="2147484349" r:id="rId1"/>
    <p:sldLayoutId id="2147484348" r:id="rId2"/>
    <p:sldLayoutId id="2147484351" r:id="rId3"/>
    <p:sldLayoutId id="2147484350" r:id="rId4"/>
    <p:sldLayoutId id="2147484383" r:id="rId5"/>
    <p:sldLayoutId id="2147484382" r:id="rId6"/>
    <p:sldLayoutId id="2147484386" r:id="rId7"/>
    <p:sldLayoutId id="2147484352" r:id="rId8"/>
    <p:sldLayoutId id="2147484390" r:id="rId9"/>
    <p:sldLayoutId id="2147484357" r:id="rId10"/>
    <p:sldLayoutId id="2147484411" r:id="rId11"/>
    <p:sldLayoutId id="2147484359" r:id="rId12"/>
    <p:sldLayoutId id="2147484360" r:id="rId13"/>
    <p:sldLayoutId id="2147484361" r:id="rId14"/>
    <p:sldLayoutId id="2147484367" r:id="rId15"/>
    <p:sldLayoutId id="2147484410" r:id="rId16"/>
    <p:sldLayoutId id="2147484369" r:id="rId17"/>
    <p:sldLayoutId id="2147484370" r:id="rId18"/>
    <p:sldLayoutId id="2147484371" r:id="rId19"/>
    <p:sldLayoutId id="2147484377" r:id="rId20"/>
    <p:sldLayoutId id="2147484414" r:id="rId21"/>
    <p:sldLayoutId id="2147484415" r:id="rId22"/>
    <p:sldLayoutId id="2147484416" r:id="rId23"/>
  </p:sldLayoutIdLst>
  <p:transition>
    <p:fade/>
  </p:transition>
  <p:hf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16" userDrawn="1">
          <p15:clr>
            <a:srgbClr val="F26B43"/>
          </p15:clr>
        </p15:guide>
        <p15:guide id="4" pos="2584" userDrawn="1">
          <p15:clr>
            <a:srgbClr val="F26B43"/>
          </p15:clr>
        </p15:guide>
        <p15:guide id="5" pos="2656" userDrawn="1">
          <p15:clr>
            <a:srgbClr val="F26B43"/>
          </p15:clr>
        </p15:guide>
        <p15:guide id="6" pos="5024" userDrawn="1">
          <p15:clr>
            <a:srgbClr val="F26B43"/>
          </p15:clr>
        </p15:guide>
        <p15:guide id="7" pos="5096" userDrawn="1">
          <p15:clr>
            <a:srgbClr val="F26B43"/>
          </p15:clr>
        </p15:guide>
        <p15:guide id="8" pos="7464" userDrawn="1">
          <p15:clr>
            <a:srgbClr val="F26B43"/>
          </p15:clr>
        </p15:guide>
        <p15:guide id="9" orient="horz" userDrawn="1">
          <p15:clr>
            <a:srgbClr val="F26B43"/>
          </p15:clr>
        </p15:guide>
        <p15:guide id="10" orient="horz" pos="4320" userDrawn="1">
          <p15:clr>
            <a:srgbClr val="F26B43"/>
          </p15:clr>
        </p15:guide>
        <p15:guide id="11" orient="horz" pos="216" userDrawn="1">
          <p15:clr>
            <a:srgbClr val="F26B43"/>
          </p15:clr>
        </p15:guide>
        <p15:guide id="12" orient="horz" pos="1416" userDrawn="1">
          <p15:clr>
            <a:srgbClr val="F26B43"/>
          </p15:clr>
        </p15:guide>
        <p15:guide id="13" orient="horz" pos="1560" userDrawn="1">
          <p15:clr>
            <a:srgbClr val="F26B43"/>
          </p15:clr>
        </p15:guide>
        <p15:guide id="14" orient="horz" pos="2760" userDrawn="1">
          <p15:clr>
            <a:srgbClr val="F26B43"/>
          </p15:clr>
        </p15:guide>
        <p15:guide id="15" orient="horz" pos="2904" userDrawn="1">
          <p15:clr>
            <a:srgbClr val="F26B43"/>
          </p15:clr>
        </p15:guide>
        <p15:guide id="16" orient="horz" pos="410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Box 11"/>
          <p:cNvSpPr txBox="1"/>
          <p:nvPr userDrawn="1"/>
        </p:nvSpPr>
        <p:spPr>
          <a:xfrm>
            <a:off x="11414125" y="6473152"/>
            <a:ext cx="307975"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fld id="{C58DF478-B544-4ED8-9ED4-6A2648E2D233}" type="slidenum">
              <a:rPr lang="en-US" sz="700" noProof="0" smtClean="0">
                <a:solidFill>
                  <a:schemeClr val="tx1"/>
                </a:solidFill>
                <a:latin typeface="+mn-lt"/>
              </a:rPr>
              <a:pPr marL="0" indent="0" algn="r">
                <a:spcBef>
                  <a:spcPts val="0"/>
                </a:spcBef>
                <a:spcAft>
                  <a:spcPts val="600"/>
                </a:spcAft>
                <a:buSzPct val="100000"/>
                <a:buFont typeface="Arial"/>
                <a:buNone/>
              </a:pPr>
              <a:t>‹#›</a:t>
            </a:fld>
            <a:endParaRPr lang="en-US" sz="700" noProof="0">
              <a:solidFill>
                <a:schemeClr val="tx1"/>
              </a:solidFill>
              <a:latin typeface="+mn-lt"/>
            </a:endParaRPr>
          </a:p>
        </p:txBody>
      </p:sp>
      <p:sp>
        <p:nvSpPr>
          <p:cNvPr id="7" name="TextBox 6">
            <a:extLst>
              <a:ext uri="{FF2B5EF4-FFF2-40B4-BE49-F238E27FC236}">
                <a16:creationId xmlns:a16="http://schemas.microsoft.com/office/drawing/2014/main" id="{72A56EA7-F62D-B749-9946-C41CB70851F5}"/>
              </a:ext>
            </a:extLst>
          </p:cNvPr>
          <p:cNvSpPr txBox="1"/>
          <p:nvPr userDrawn="1"/>
        </p:nvSpPr>
        <p:spPr>
          <a:xfrm>
            <a:off x="469900" y="6473152"/>
            <a:ext cx="5355167" cy="107722"/>
          </a:xfrm>
          <a:prstGeom prst="rect">
            <a:avLst/>
          </a:prstGeom>
          <a:noFill/>
        </p:spPr>
        <p:txBody>
          <a:bodyPr wrap="square" lIns="0" tIns="0" rIns="0" bIns="0" rtlCol="0">
            <a:spAutoFit/>
          </a:bodyPr>
          <a:lstStyle/>
          <a:p>
            <a:pPr marL="0" indent="0">
              <a:spcBef>
                <a:spcPts val="0"/>
              </a:spcBef>
              <a:spcAft>
                <a:spcPts val="600"/>
              </a:spcAft>
              <a:buSzPct val="100000"/>
              <a:buFont typeface="Arial"/>
              <a:buNone/>
            </a:pPr>
            <a:r>
              <a:rPr lang="en-US" sz="700" noProof="0">
                <a:solidFill>
                  <a:schemeClr val="tx1"/>
                </a:solidFill>
                <a:latin typeface="+mn-lt"/>
              </a:rPr>
              <a:t>© 2025. Deloitte GFS Limited. All rights reserved.</a:t>
            </a:r>
          </a:p>
        </p:txBody>
      </p:sp>
      <p:sp>
        <p:nvSpPr>
          <p:cNvPr id="3" name="TextBox 2">
            <a:extLst>
              <a:ext uri="{FF2B5EF4-FFF2-40B4-BE49-F238E27FC236}">
                <a16:creationId xmlns:a16="http://schemas.microsoft.com/office/drawing/2014/main" id="{184A2E22-1ED5-7C9C-A75B-1A33CFC3B402}"/>
              </a:ext>
            </a:extLst>
          </p:cNvPr>
          <p:cNvSpPr txBox="1"/>
          <p:nvPr userDrawn="1"/>
        </p:nvSpPr>
        <p:spPr>
          <a:xfrm rot="10800000" flipV="1">
            <a:off x="7910892" y="6473152"/>
            <a:ext cx="3537292" cy="107722"/>
          </a:xfrm>
          <a:prstGeom prst="rect">
            <a:avLst/>
          </a:prstGeom>
          <a:noFill/>
        </p:spPr>
        <p:txBody>
          <a:bodyPr wrap="square" lIns="0" tIns="0" rIns="0" bIns="0" rtlCol="0">
            <a:spAutoFit/>
          </a:bodyPr>
          <a:lstStyle/>
          <a:p>
            <a:pPr marL="0" indent="0" algn="r">
              <a:spcBef>
                <a:spcPts val="0"/>
              </a:spcBef>
              <a:spcAft>
                <a:spcPts val="600"/>
              </a:spcAft>
              <a:buSzPct val="100000"/>
              <a:buFont typeface="Arial"/>
              <a:buNone/>
            </a:pPr>
            <a:r>
              <a:rPr lang="en-US" sz="700" noProof="0">
                <a:solidFill>
                  <a:schemeClr val="tx1"/>
                </a:solidFill>
                <a:latin typeface="+mn-lt"/>
              </a:rPr>
              <a:t>CLASSIFICATION: CONFIDENTIAL – INTERNAL USE ONLY</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55" r:id="rId3"/>
    <p:sldLayoutId id="2147483756" r:id="rId4"/>
    <p:sldLayoutId id="2147483835" r:id="rId5"/>
    <p:sldLayoutId id="2147483836" r:id="rId6"/>
    <p:sldLayoutId id="2147483703" r:id="rId7"/>
    <p:sldLayoutId id="2147483704" r:id="rId8"/>
    <p:sldLayoutId id="2147483705" r:id="rId9"/>
    <p:sldLayoutId id="2147483706" r:id="rId10"/>
    <p:sldLayoutId id="2147483707" r:id="rId11"/>
    <p:sldLayoutId id="2147483713" r:id="rId12"/>
    <p:sldLayoutId id="2147483708" r:id="rId13"/>
    <p:sldLayoutId id="2147483710" r:id="rId14"/>
    <p:sldLayoutId id="2147483754" r:id="rId15"/>
    <p:sldLayoutId id="2147483711" r:id="rId16"/>
    <p:sldLayoutId id="2147483753" r:id="rId17"/>
    <p:sldLayoutId id="2147483679" r:id="rId18"/>
    <p:sldLayoutId id="2147483712" r:id="rId19"/>
    <p:sldLayoutId id="2147483752" r:id="rId20"/>
    <p:sldLayoutId id="2147483695" r:id="rId21"/>
    <p:sldLayoutId id="2147483681" r:id="rId22"/>
    <p:sldLayoutId id="2147483699" r:id="rId23"/>
    <p:sldLayoutId id="2147483714" r:id="rId24"/>
    <p:sldLayoutId id="2147483697" r:id="rId25"/>
    <p:sldLayoutId id="2147483716" r:id="rId26"/>
    <p:sldLayoutId id="2147483717" r:id="rId27"/>
    <p:sldLayoutId id="2147483718" r:id="rId28"/>
    <p:sldLayoutId id="2147483728" r:id="rId29"/>
    <p:sldLayoutId id="2147483837" r:id="rId30"/>
    <p:sldLayoutId id="2147483720" r:id="rId31"/>
    <p:sldLayoutId id="2147483721" r:id="rId32"/>
    <p:sldLayoutId id="2147483722" r:id="rId33"/>
    <p:sldLayoutId id="2147483757" r:id="rId34"/>
    <p:sldLayoutId id="2147483758" r:id="rId35"/>
    <p:sldLayoutId id="2147483759" r:id="rId36"/>
    <p:sldLayoutId id="2147483760" r:id="rId37"/>
    <p:sldLayoutId id="2147483726" r:id="rId38"/>
    <p:sldLayoutId id="2147483727" r:id="rId39"/>
    <p:sldLayoutId id="2147483698" r:id="rId40"/>
    <p:sldLayoutId id="2147483696" r:id="rId41"/>
    <p:sldLayoutId id="2147483761" r:id="rId42"/>
    <p:sldLayoutId id="2147483762" r:id="rId43"/>
  </p:sldLayoutIdLst>
  <p:transition>
    <p:fade/>
  </p:transition>
  <p:hf hdr="0" dt="0"/>
  <p:txStyles>
    <p:titleStyle>
      <a:lvl1pPr algn="l" defTabSz="1219170" rtl="0" eaLnBrk="1" latinLnBrk="0" hangingPunct="1">
        <a:spcBef>
          <a:spcPct val="0"/>
        </a:spcBef>
        <a:buNone/>
        <a:defRPr sz="2100" kern="1200">
          <a:solidFill>
            <a:schemeClr val="tx1"/>
          </a:solidFill>
          <a:latin typeface="+mj-lt"/>
          <a:ea typeface="+mj-ea"/>
          <a:cs typeface="Calibri" panose="020F0502020204030204" pitchFamily="34" charset="0"/>
        </a:defRPr>
      </a:lvl1pPr>
    </p:titleStyle>
    <p:bodyStyle>
      <a:lvl1pPr marL="0" indent="0" algn="l" defTabSz="1219170" rtl="0" eaLnBrk="1" latinLnBrk="0" hangingPunct="1">
        <a:spcBef>
          <a:spcPts val="0"/>
        </a:spcBef>
        <a:spcAft>
          <a:spcPts val="600"/>
        </a:spcAft>
        <a:buSzPct val="100000"/>
        <a:buFont typeface="Arial" panose="020B0604020202020204" pitchFamily="34" charset="0"/>
        <a:buNone/>
        <a:defRPr sz="1200" b="0" kern="1200">
          <a:solidFill>
            <a:schemeClr val="tx1"/>
          </a:solidFill>
          <a:latin typeface="+mn-lt"/>
          <a:ea typeface="+mn-ea"/>
          <a:cs typeface="Calibri" panose="020F0502020204030204" pitchFamily="34" charset="0"/>
        </a:defRPr>
      </a:lvl1pPr>
      <a:lvl2pPr marL="0" indent="0" algn="l" defTabSz="1219170" rtl="0" eaLnBrk="1" latinLnBrk="0" hangingPunct="1">
        <a:spcBef>
          <a:spcPts val="0"/>
        </a:spcBef>
        <a:spcAft>
          <a:spcPts val="600"/>
        </a:spcAft>
        <a:buClrTx/>
        <a:buSzPct val="100000"/>
        <a:buFont typeface="Arial"/>
        <a:buNone/>
        <a:defRPr lang="en-US" sz="1200" b="1" kern="1200" dirty="0" smtClean="0">
          <a:solidFill>
            <a:schemeClr val="tx1"/>
          </a:solidFill>
          <a:latin typeface="+mn-lt"/>
          <a:ea typeface="+mn-ea"/>
          <a:cs typeface="Calibri" panose="020F0502020204030204" pitchFamily="34" charset="0"/>
        </a:defRPr>
      </a:lvl2pPr>
      <a:lvl3pPr marL="173736" indent="-173736" algn="l" defTabSz="1219170" rtl="0" eaLnBrk="1" latinLnBrk="0" hangingPunct="1">
        <a:spcBef>
          <a:spcPts val="0"/>
        </a:spcBef>
        <a:spcAft>
          <a:spcPts val="600"/>
        </a:spcAft>
        <a:buClrTx/>
        <a:buSzPct val="100000"/>
        <a:buFont typeface="Arial" panose="020B0604020202020204" pitchFamily="34" charset="0"/>
        <a:buChar char="•"/>
        <a:defRPr lang="en-US" sz="1200" kern="1200" dirty="0" smtClean="0">
          <a:solidFill>
            <a:schemeClr val="tx1"/>
          </a:solidFill>
          <a:latin typeface="+mn-lt"/>
          <a:ea typeface="+mn-ea"/>
          <a:cs typeface="Calibri" panose="020F0502020204030204" pitchFamily="34" charset="0"/>
        </a:defRPr>
      </a:lvl3pPr>
      <a:lvl4pPr marL="347472" indent="-173736" algn="l" defTabSz="1219170" rtl="0" eaLnBrk="1" latinLnBrk="0" hangingPunct="1">
        <a:spcBef>
          <a:spcPts val="0"/>
        </a:spcBef>
        <a:spcAft>
          <a:spcPts val="600"/>
        </a:spcAft>
        <a:buClrTx/>
        <a:buSzPct val="100000"/>
        <a:buFont typeface="Aptos" panose="020B0004020202020204" pitchFamily="34" charset="0"/>
        <a:buChar char="−"/>
        <a:defRPr lang="en-US" sz="1200" kern="1200" baseline="0" dirty="0" smtClean="0">
          <a:solidFill>
            <a:schemeClr val="tx1"/>
          </a:solidFill>
          <a:latin typeface="+mn-lt"/>
          <a:ea typeface="+mn-ea"/>
          <a:cs typeface="Calibri" panose="020F0502020204030204" pitchFamily="34" charset="0"/>
        </a:defRPr>
      </a:lvl4pPr>
      <a:lvl5pPr marL="521208" indent="-173736" algn="l" defTabSz="1064657" rtl="0" eaLnBrk="1" latinLnBrk="0" hangingPunct="1">
        <a:spcBef>
          <a:spcPts val="0"/>
        </a:spcBef>
        <a:spcAft>
          <a:spcPts val="600"/>
        </a:spcAft>
        <a:buClrTx/>
        <a:buSzPct val="100000"/>
        <a:buFont typeface="Aptos" panose="020B0004020202020204" pitchFamily="34" charset="0"/>
        <a:buChar char="−"/>
        <a:tabLst/>
        <a:defRPr lang="en-US" sz="1200" kern="1200" baseline="0" dirty="0" smtClean="0">
          <a:solidFill>
            <a:schemeClr val="tx1"/>
          </a:solidFill>
          <a:latin typeface="+mn-lt"/>
          <a:ea typeface="+mn-ea"/>
          <a:cs typeface="Calibri" panose="020F0502020204030204" pitchFamily="34" charset="0"/>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userDrawn="1">
          <p15:clr>
            <a:srgbClr val="F26B43"/>
          </p15:clr>
        </p15:guide>
        <p15:guide id="2" orient="horz" pos="2160" userDrawn="1">
          <p15:clr>
            <a:srgbClr val="F26B43"/>
          </p15:clr>
        </p15:guide>
        <p15:guide id="3" orient="horz" pos="3968" userDrawn="1">
          <p15:clr>
            <a:srgbClr val="F26B43"/>
          </p15:clr>
        </p15:guide>
        <p15:guide id="4" pos="296" userDrawn="1">
          <p15:clr>
            <a:srgbClr val="F26B43"/>
          </p15:clr>
        </p15:guide>
        <p15:guide id="5" pos="7384" userDrawn="1">
          <p15:clr>
            <a:srgbClr val="F26B43"/>
          </p15:clr>
        </p15:guide>
        <p15:guide id="6" orient="horz" pos="1071" userDrawn="1">
          <p15:clr>
            <a:srgbClr val="F26B43"/>
          </p15:clr>
        </p15:guide>
        <p15:guide id="7" orient="horz" pos="245" userDrawn="1">
          <p15:clr>
            <a:srgbClr val="F26B43"/>
          </p15:clr>
        </p15:guide>
        <p15:guide id="8" orient="horz" pos="4081" userDrawn="1">
          <p15:clr>
            <a:srgbClr val="F26B43"/>
          </p15:clr>
        </p15:guide>
        <p15:guide id="10" pos="4986" userDrawn="1">
          <p15:clr>
            <a:srgbClr val="F26B43"/>
          </p15:clr>
        </p15:guide>
        <p15:guide id="12" pos="1382" userDrawn="1">
          <p15:clr>
            <a:srgbClr val="F26B43"/>
          </p15:clr>
        </p15:guide>
        <p15:guide id="13" pos="1496" userDrawn="1">
          <p15:clr>
            <a:srgbClr val="F26B43"/>
          </p15:clr>
        </p15:guide>
        <p15:guide id="14" pos="2581" userDrawn="1">
          <p15:clr>
            <a:srgbClr val="F26B43"/>
          </p15:clr>
        </p15:guide>
        <p15:guide id="15" pos="2695" userDrawn="1">
          <p15:clr>
            <a:srgbClr val="F26B43"/>
          </p15:clr>
        </p15:guide>
        <p15:guide id="16" pos="6185" userDrawn="1">
          <p15:clr>
            <a:srgbClr val="F26B43"/>
          </p15:clr>
        </p15:guide>
        <p15:guide id="17" pos="3783" userDrawn="1">
          <p15:clr>
            <a:srgbClr val="F26B43"/>
          </p15:clr>
        </p15:guide>
        <p15:guide id="18" pos="3896" userDrawn="1">
          <p15:clr>
            <a:srgbClr val="F26B43"/>
          </p15:clr>
        </p15:guide>
        <p15:guide id="19" pos="3840" userDrawn="1">
          <p15:clr>
            <a:srgbClr val="F26B43"/>
          </p15:clr>
        </p15:guide>
        <p15:guide id="20" pos="6299" userDrawn="1">
          <p15:clr>
            <a:srgbClr val="F26B43"/>
          </p15:clr>
        </p15:guide>
        <p15:guide id="21" orient="horz" pos="1049" userDrawn="1">
          <p15:clr>
            <a:srgbClr val="F26B43"/>
          </p15:clr>
        </p15:guide>
        <p15:guide id="22" orient="horz" pos="641" userDrawn="1">
          <p15:clr>
            <a:srgbClr val="F26B43"/>
          </p15:clr>
        </p15:guide>
        <p15:guide id="23"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3.xml"/><Relationship Id="rId4" Type="http://schemas.openxmlformats.org/officeDocument/2006/relationships/image" Target="../media/image17.sv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3.xml"/><Relationship Id="rId4" Type="http://schemas.openxmlformats.org/officeDocument/2006/relationships/image" Target="../media/image17.svg"/></Relationships>
</file>

<file path=ppt/slides/_rels/slide4.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slide" Target="slide30.xml"/><Relationship Id="rId7" Type="http://schemas.openxmlformats.org/officeDocument/2006/relationships/slide" Target="slide15.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slide" Target="slide17.xml"/><Relationship Id="rId5" Type="http://schemas.openxmlformats.org/officeDocument/2006/relationships/slide" Target="slide22.xml"/><Relationship Id="rId10" Type="http://schemas.openxmlformats.org/officeDocument/2006/relationships/image" Target="../media/image18.png"/><Relationship Id="rId4" Type="http://schemas.openxmlformats.org/officeDocument/2006/relationships/slide" Target="slide27.xml"/><Relationship Id="rId9"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3.xml"/><Relationship Id="rId6" Type="http://schemas.openxmlformats.org/officeDocument/2006/relationships/image" Target="../media/image19.png"/><Relationship Id="rId5" Type="http://schemas.openxmlformats.org/officeDocument/2006/relationships/slide" Target="slide4.xml"/><Relationship Id="rId4" Type="http://schemas.openxmlformats.org/officeDocument/2006/relationships/image" Target="../media/image17.sv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image" Target="../media/image15.png"/><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9.png"/><Relationship Id="rId11" Type="http://schemas.openxmlformats.org/officeDocument/2006/relationships/image" Target="../media/image32.png"/><Relationship Id="rId5" Type="http://schemas.openxmlformats.org/officeDocument/2006/relationships/image" Target="../media/image28.png"/><Relationship Id="rId10" Type="http://schemas.openxmlformats.org/officeDocument/2006/relationships/image" Target="../media/image15.png"/><Relationship Id="rId4" Type="http://schemas.openxmlformats.org/officeDocument/2006/relationships/image" Target="../media/image27.png"/><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3.xml"/><Relationship Id="rId6" Type="http://schemas.openxmlformats.org/officeDocument/2006/relationships/image" Target="../media/image19.png"/><Relationship Id="rId5" Type="http://schemas.openxmlformats.org/officeDocument/2006/relationships/slide" Target="slide4.xml"/><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13.xml"/><Relationship Id="rId1" Type="http://schemas.openxmlformats.org/officeDocument/2006/relationships/themeOverride" Target="../theme/themeOverride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slideLayout" Target="../slideLayouts/slideLayout13.xml"/><Relationship Id="rId1" Type="http://schemas.openxmlformats.org/officeDocument/2006/relationships/themeOverride" Target="../theme/themeOverride2.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3.xml"/><Relationship Id="rId6" Type="http://schemas.openxmlformats.org/officeDocument/2006/relationships/image" Target="../media/image19.png"/><Relationship Id="rId5" Type="http://schemas.openxmlformats.org/officeDocument/2006/relationships/slide" Target="slide4.xml"/><Relationship Id="rId4" Type="http://schemas.openxmlformats.org/officeDocument/2006/relationships/image" Target="../media/image17.svg"/></Relationships>
</file>

<file path=ppt/slides/_rels/slide16.xml.rels><?xml version="1.0" encoding="UTF-8" standalone="yes"?>
<Relationships xmlns="http://schemas.openxmlformats.org/package/2006/relationships"><Relationship Id="rId2" Type="http://schemas.openxmlformats.org/officeDocument/2006/relationships/hyperlink" Target="https://brandspace.deloitte.com/content/index/guid/guidelines_elements_color?parent=1598#3-primary_palette" TargetMode="Externa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3.xml"/><Relationship Id="rId6" Type="http://schemas.openxmlformats.org/officeDocument/2006/relationships/image" Target="../media/image19.png"/><Relationship Id="rId5" Type="http://schemas.openxmlformats.org/officeDocument/2006/relationships/slide" Target="slide4.xml"/><Relationship Id="rId4" Type="http://schemas.openxmlformats.org/officeDocument/2006/relationships/image" Target="../media/image17.svg"/></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brandspace.deloitte.com/content/index/guid/guidelines_elements_typography?parent=1598" TargetMode="Externa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hyperlink" Target="https://brandspace.deloitte.com/content/index/guid/style_guides?parent=1276" TargetMode="Externa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hyperlink" Target="https://brandspace.deloitte.com/content/index/guid/style_guides?parent=1276" TargetMode="Externa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hyperlink" Target="https://resources.deloitte.com/sites/US/News/Publishing/0125/Pages/TogetherMakesProgress.aspx" TargetMode="External"/><Relationship Id="rId2" Type="http://schemas.openxmlformats.org/officeDocument/2006/relationships/image" Target="../media/image51.png"/><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3.xml"/><Relationship Id="rId6" Type="http://schemas.openxmlformats.org/officeDocument/2006/relationships/image" Target="../media/image19.png"/><Relationship Id="rId5" Type="http://schemas.openxmlformats.org/officeDocument/2006/relationships/slide" Target="slide4.xml"/><Relationship Id="rId4" Type="http://schemas.openxmlformats.org/officeDocument/2006/relationships/image" Target="../media/image17.svg"/></Relationships>
</file>

<file path=ppt/slides/_rels/slide23.xml.rels><?xml version="1.0" encoding="UTF-8" standalone="yes"?>
<Relationships xmlns="http://schemas.openxmlformats.org/package/2006/relationships"><Relationship Id="rId3" Type="http://schemas.openxmlformats.org/officeDocument/2006/relationships/hyperlink" Target="mailto:name@deloitte.com"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hyperlink" Target="http://www.deloitte.com/"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nam10.safelinks.protection.outlook.com/?url=https%3A%2F%2Fresources.deloitte.com%2F%3Ap%3A%2Fr%2Fsites%2FIntellihub%2FIHCSDocs%2FCommunication%2520Materials%2FGFS%2520Rebrand%25202026%2FPowerPoint%2520Templates%2FPPT%2520Template%2520(Black)_Final.pptx%3Fd%3Dw51273ee4cd8041488bb860a028df1207%26csf%3D1%26web%3D1%26e%3D8LzCU7&amp;data=05%7C02%7Cfewhite%40deloitte.com%7Cc9b5173dbb834597429808de4f69f6be%7C36da45f1dd2c4d1faf135abe46b99921%7C0%7C0%7C639035513702194541%7CUnknown%7CTWFpbGZsb3d8eyJFbXB0eU1hcGkiOnRydWUsIlYiOiIwLjAuMDAwMCIsIlAiOiJXaW4zMiIsIkFOIjoiTWFpbCIsIldUIjoyfQ%3D%3D%7C0%7C%7C%7C&amp;sdata=WEqf8ZcTfHkVCLOweBO23WfrRuoT7ALtO3no%2BnzUx6M%3D&amp;reserved=0" TargetMode="External"/><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hyperlink" Target="https://resources.deloitte.com/:w:/r/sites/Intellihub/IHCSDocs/Communication%20Materials/GFS%20Rebrand%202026/Email%20Templates/Email_Option%201%20(image%201)%20white%20header_Final.docx?d=w1723811ee493446992ac54b4df5f3f17&amp;csf=1&amp;web=1&amp;e=QsP29x" TargetMode="External"/><Relationship Id="rId7" Type="http://schemas.openxmlformats.org/officeDocument/2006/relationships/hyperlink" Target="https://nam10.safelinks.protection.outlook.com/?url=https%3A%2F%2Fresources.deloitte.com%2F%3Ap%3A%2Fr%2Fsites%2FIntellihub%2FIHCSDocs%2FCommunication%2520Materials%2FGFS%2520Rebrand%25202026%2FPowerPoint%2520Templates%2FPPT%2520Template%2520(White)_Final.pptx%3Fd%3Dwd04c375e015e477fa7686c3343d9337f%26csf%3D1%26web%3D1%26e%3DJY3lHI&amp;data=05%7C02%7Cfewhite%40deloitte.com%7Cc9b5173dbb834597429808de4f69f6be%7C36da45f1dd2c4d1faf135abe46b99921%7C0%7C0%7C639035513702226241%7CUnknown%7CTWFpbGZsb3d8eyJFbXB0eU1hcGkiOnRydWUsIlYiOiIwLjAuMDAwMCIsIlAiOiJXaW4zMiIsIkFOIjoiTWFpbCIsIldUIjoyfQ%3D%3D%7C0%7C%7C%7C&amp;sdata=G7FF72v%2Fv%2Btu3gnEuyDNzx2CcI0GXd0Gn6Eu8iFrYCo%3D&amp;reserved=0" TargetMode="External"/><Relationship Id="rId12" Type="http://schemas.openxmlformats.org/officeDocument/2006/relationships/hyperlink" Target="https://resources.deloitte.com/:p:/r/sites/Intellihub/IHCSDocs/Communication%20Materials/GFS%20Rebrand%202026/Sample%20Documents%20(Email%20%26%20PPT)/PPT%20Sample%20(White)_Final.pptx?d=w506329a0011e4ad983cfef3dd62cb34c&amp;csf=1&amp;web=1&amp;e=H13isd" TargetMode="External"/><Relationship Id="rId17" Type="http://schemas.openxmlformats.org/officeDocument/2006/relationships/image" Target="../media/image56.png"/><Relationship Id="rId2" Type="http://schemas.openxmlformats.org/officeDocument/2006/relationships/notesSlide" Target="../notesSlides/notesSlide5.xml"/><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12.xml"/><Relationship Id="rId6" Type="http://schemas.openxmlformats.org/officeDocument/2006/relationships/hyperlink" Target="https://nam10.safelinks.protection.outlook.com/?url=https%3A%2F%2Fresources.deloitte.com%2F%3Aw%3A%2Fr%2Fsites%2FIntellihub%2FIHCSDocs%2FCommunication%2520Materials%2FGFS%2520Rebrand%25202026%2FEmail%2520Templates%2FEmail_Option%25202%2520(image%25202)%2520black%2520header_Final.docx%3Fd%3Dw93751fe136ca4080aed1d3649a12a94f%26csf%3D1%26web%3D1%26e%3DmQmvNA&amp;data=05%7C02%7Cfewhite%40deloitte.com%7Cc9b5173dbb834597429808de4f69f6be%7C36da45f1dd2c4d1faf135abe46b99921%7C0%7C0%7C639035513701756724%7CUnknown%7CTWFpbGZsb3d8eyJFbXB0eU1hcGkiOnRydWUsIlYiOiIwLjAuMDAwMCIsIlAiOiJXaW4zMiIsIkFOIjoiTWFpbCIsIldUIjoyfQ%3D%3D%7C0%7C%7C%7C&amp;sdata=1WM0jxqiTZrfjcF9fKHkzjwjUXzEd1aKy5fxc6RYzIw%3D&amp;reserved=0" TargetMode="External"/><Relationship Id="rId11" Type="http://schemas.openxmlformats.org/officeDocument/2006/relationships/hyperlink" Target="https://resources.deloitte.com/:w:/r/sites/Intellihub/IHCSDocs/Communication%20Materials/GFS%20Rebrand%202026/Sample%20Documents%20(Email%20%26%20PPT)/Email%20Sample%20(White)_Final.docx?d=w6f73a53bb9354db28161a97691d5ce76&amp;csf=1&amp;web=1&amp;e=WM8Xwp" TargetMode="External"/><Relationship Id="rId5" Type="http://schemas.openxmlformats.org/officeDocument/2006/relationships/hyperlink" Target="https://nam10.safelinks.protection.outlook.com/?url=https%3A%2F%2Fresources.deloitte.com%2F%3Aw%3A%2Fr%2Fsites%2FIntellihub%2FIHCSDocs%2FCommunication%2520Materials%2FGFS%2520Rebrand%25202026%2FEmail%2520Templates%2FEmail_Option%25202%2520(image%25202)%2520white%2520header_Final.docx%3Fd%3Dw1339b2f5a9654a31856364cee2b2ed99%26csf%3D1%26web%3D1%26e%3Df5t4if&amp;data=05%7C02%7Cfewhite%40deloitte.com%7Cc9b5173dbb834597429808de4f69f6be%7C36da45f1dd2c4d1faf135abe46b99921%7C0%7C0%7C639035513701777385%7CUnknown%7CTWFpbGZsb3d8eyJFbXB0eU1hcGkiOnRydWUsIlYiOiIwLjAuMDAwMCIsIlAiOiJXaW4zMiIsIkFOIjoiTWFpbCIsIldUIjoyfQ%3D%3D%7C0%7C%7C%7C&amp;sdata=P99mq21yy2V8tJ%2Fyz64%2FDURn2fFhe1dH2b6uJniXUY8%3D&amp;reserved=0" TargetMode="External"/><Relationship Id="rId15" Type="http://schemas.openxmlformats.org/officeDocument/2006/relationships/image" Target="../media/image54.png"/><Relationship Id="rId10" Type="http://schemas.openxmlformats.org/officeDocument/2006/relationships/hyperlink" Target="https://resources.deloitte.com/:p:/r/sites/Intellihub/SiteAssets/GFSBranding/GFS%20Timesaver%20Deck%20Black.pptx?d=w6a4ba4b30de948ae9de97a94be627f26&amp;csf=1&amp;web=1&amp;e=naLHYR" TargetMode="External"/><Relationship Id="rId19" Type="http://schemas.openxmlformats.org/officeDocument/2006/relationships/image" Target="../media/image58.png"/><Relationship Id="rId4" Type="http://schemas.openxmlformats.org/officeDocument/2006/relationships/hyperlink" Target="https://resources.deloitte.com/:w:/r/sites/Intellihub/IHCSDocs/Communication%20Materials/GFS%20Rebrand%202026/Email%20Templates/Email_Option%201%20(image%201)%20black%20header_Final.docx?d=wdb64493029f4404ba6417a2c5350ae5e&amp;csf=1&amp;web=1&amp;e=WAcEcV" TargetMode="External"/><Relationship Id="rId9" Type="http://schemas.openxmlformats.org/officeDocument/2006/relationships/hyperlink" Target="https://resources.deloitte.com/:p:/r/sites/Intellihub/SiteAssets/GFSBranding/GFS%20Timesaver%20Deck%20White.pptx?d=w440167e8332e4293b71c023df0e23254&amp;csf=1&amp;web=1&amp;e=t0TGbw" TargetMode="External"/><Relationship Id="rId14" Type="http://schemas.openxmlformats.org/officeDocument/2006/relationships/image" Target="../media/image53.png"/></Relationships>
</file>

<file path=ppt/slides/_rels/slide25.xml.rels><?xml version="1.0" encoding="UTF-8" standalone="yes"?>
<Relationships xmlns="http://schemas.openxmlformats.org/package/2006/relationships"><Relationship Id="rId8" Type="http://schemas.openxmlformats.org/officeDocument/2006/relationships/hyperlink" Target="https://resources.deloitte.com/:w:/r/sites/Intellihub/SiteAssets/GFS%20Colleagues/Comms%20templates/Fact%20Sheet%20Template_White_Final.docx?d=wb8c1557f5d334d4c83c3f71723becde8&amp;csf=1&amp;web=1&amp;e=WSFYSW" TargetMode="External"/><Relationship Id="rId13" Type="http://schemas.openxmlformats.org/officeDocument/2006/relationships/image" Target="../media/image58.png"/><Relationship Id="rId18" Type="http://schemas.openxmlformats.org/officeDocument/2006/relationships/image" Target="../media/image63.png"/><Relationship Id="rId3" Type="http://schemas.openxmlformats.org/officeDocument/2006/relationships/hyperlink" Target="https://resources.deloitte.com/:w:/r/sites/Intellihub/IHCSDocs/Communication%20Materials/GFS%20Rebrand%202026/Word%20Templates/2184410%20-%20GFS%20rebranding_Proposal_US%20Letter_Portrait_White.docx?d=w80697984f3304c579ca4f018379f3d79&amp;csf=1&amp;web=1&amp;e=w1T6Yh" TargetMode="External"/><Relationship Id="rId7" Type="http://schemas.openxmlformats.org/officeDocument/2006/relationships/hyperlink" Target="https://resources.deloitte.com/:w:/r/sites/Intellihub/IHCSDocs/Communication%20Materials/GFS%20Rebrand%202026/Newsletter%20Templates/2184410%20-%20%20GFS%20rebranding_Newsletter_Option%201%20(image%201)%20black%20header.docx?d=w6281b0a7aa784269a2fb3ced722c68d5&amp;csf=1&amp;web=1&amp;e=ADS9bX" TargetMode="External"/><Relationship Id="rId12" Type="http://schemas.openxmlformats.org/officeDocument/2006/relationships/image" Target="../media/image56.png"/><Relationship Id="rId17" Type="http://schemas.openxmlformats.org/officeDocument/2006/relationships/image" Target="../media/image59.png"/><Relationship Id="rId2" Type="http://schemas.openxmlformats.org/officeDocument/2006/relationships/notesSlide" Target="../notesSlides/notesSlide6.xml"/><Relationship Id="rId16" Type="http://schemas.openxmlformats.org/officeDocument/2006/relationships/image" Target="../media/image62.png"/><Relationship Id="rId1" Type="http://schemas.openxmlformats.org/officeDocument/2006/relationships/slideLayout" Target="../slideLayouts/slideLayout12.xml"/><Relationship Id="rId6" Type="http://schemas.openxmlformats.org/officeDocument/2006/relationships/hyperlink" Target="https://resources.deloitte.com/:w:/r/sites/Intellihub/IHCSDocs/Communication%20Materials/GFS%20Rebrand%202026/Newsletter%20Templates/2184410%20-%20%20GFS%20rebranding_Newsletter_Option%201%20(image%201)%20white%20header%20.docx?d=w204add9f712d4d94a71204723d7c0a72&amp;csf=1&amp;web=1&amp;e=rjupIu" TargetMode="External"/><Relationship Id="rId11" Type="http://schemas.openxmlformats.org/officeDocument/2006/relationships/hyperlink" Target="https://resources.deloitte.com/:p:/r/sites/Intellihub/IHCSDocs/Communication%20Materials/GFS%20Rebrand%202026/Fast%20Facts%20Templates/One%20Pager/2184410%20-%20%20GFS%20rebranding_One%20pager_Black_V2.pptx?d=w73873d918c054efda873433c8928d519&amp;csf=1&amp;web=1&amp;e=1nGYol" TargetMode="External"/><Relationship Id="rId5" Type="http://schemas.openxmlformats.org/officeDocument/2006/relationships/hyperlink" Target="https://nam10.safelinks.protection.outlook.com/?url=https%3A%2F%2Fresources.deloitte.com%2F%3Aw%3A%2Fr%2Fsites%2FIntellihub%2FIHCSDocs%2FCommunication%2520Materials%2FGFS%2520Rebrand%25202026%2FWord%2520Templates%2FProposal_US%2520Letter_Portrait_Mix_Final.docx%3Fd%3Dw6afd2e0062df407c9d027b0d99c4e9d4%26csf%3D1%26web%3D1%26e%3D9OKQCC&amp;data=05%7C02%7Cfewhite%40deloitte.com%7Cc9b5173dbb834597429808de4f69f6be%7C36da45f1dd2c4d1faf135abe46b99921%7C0%7C0%7C639035513702358782%7CUnknown%7CTWFpbGZsb3d8eyJFbXB0eU1hcGkiOnRydWUsIlYiOiIwLjAuMDAwMCIsIlAiOiJXaW4zMiIsIkFOIjoiTWFpbCIsIldUIjoyfQ%3D%3D%7C0%7C%7C%7C&amp;sdata=y3ELEo2J0zYJ8RB25OygPCjw7y3HEjs%2B9eiBQvIXx4I%3D&amp;reserved=0" TargetMode="External"/><Relationship Id="rId15" Type="http://schemas.openxmlformats.org/officeDocument/2006/relationships/image" Target="../media/image61.png"/><Relationship Id="rId10" Type="http://schemas.openxmlformats.org/officeDocument/2006/relationships/hyperlink" Target="https://resources.deloitte.com/:p:/r/sites/Intellihub/IHCSDocs/Communication%20Materials/GFS%20Rebrand%202026/Fast%20Facts%20Templates/One%20Pager/Fast%20Facts_Black_Final.pptx?d=w73873d918c054efda873433c8928d519&amp;csf=1&amp;web=1&amp;e=KEg8pH" TargetMode="External"/><Relationship Id="rId4" Type="http://schemas.openxmlformats.org/officeDocument/2006/relationships/hyperlink" Target="https://resources.deloitte.com/:w:/r/sites/Intellihub/IHCSDocs/Communication%20Materials/GFS%20Rebrand%202026/Word%20Templates/2184410%20-%20GFS%20rebranding_Proposal_US%20Letter_Portrait_Black.docx?d=wbedae98a831942639d127f8917a62772&amp;csf=1&amp;web=1&amp;e=OxelQw" TargetMode="External"/><Relationship Id="rId9" Type="http://schemas.openxmlformats.org/officeDocument/2006/relationships/hyperlink" Target="https://resources.deloitte.com/:p:/r/sites/Intellihub/IHCSDocs/Communication%20Materials/GFS%20Rebrand%202026/Fast%20Facts%20Templates/One%20Pager/Fast%20Facts_White_Final.pptx?d=wb00c5e5a96104fc087f8d08f2ec3cf6b&amp;csf=1&amp;web=1&amp;e=Go8NiS" TargetMode="External"/><Relationship Id="rId14" Type="http://schemas.openxmlformats.org/officeDocument/2006/relationships/image" Target="../media/image60.png"/></Relationships>
</file>

<file path=ppt/slides/_rels/slide26.xml.rels><?xml version="1.0" encoding="UTF-8" standalone="yes"?>
<Relationships xmlns="http://schemas.openxmlformats.org/package/2006/relationships"><Relationship Id="rId3" Type="http://schemas.openxmlformats.org/officeDocument/2006/relationships/hyperlink" Target="https://resources.deloitte.com/:p:/r/sites/Intellihub/SiteAssets/GFSBranding/SWIFT%20Virtual%20Background%20Templates.pptx?d=w1b026824443841c48d661938725bbdd0&amp;csf=1&amp;web=1&amp;e=LiqybH"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3.xml"/><Relationship Id="rId6" Type="http://schemas.openxmlformats.org/officeDocument/2006/relationships/image" Target="../media/image19.png"/><Relationship Id="rId5" Type="http://schemas.openxmlformats.org/officeDocument/2006/relationships/slide" Target="slide4.xml"/><Relationship Id="rId4" Type="http://schemas.openxmlformats.org/officeDocument/2006/relationships/image" Target="../media/image17.svg"/></Relationships>
</file>

<file path=ppt/slides/_rels/slide28.xml.rels><?xml version="1.0" encoding="UTF-8" standalone="yes"?>
<Relationships xmlns="http://schemas.openxmlformats.org/package/2006/relationships"><Relationship Id="rId3" Type="http://schemas.openxmlformats.org/officeDocument/2006/relationships/hyperlink" Target="mailto:jeasey@deloitte.ca;%20kkenth@deloitte.co.uk"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hyperlink" Target="http://www.deloitte.com/about" TargetMode="Externa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3.xml"/><Relationship Id="rId6" Type="http://schemas.openxmlformats.org/officeDocument/2006/relationships/image" Target="../media/image19.png"/><Relationship Id="rId5" Type="http://schemas.openxmlformats.org/officeDocument/2006/relationships/slide" Target="slide4.xml"/><Relationship Id="rId4" Type="http://schemas.openxmlformats.org/officeDocument/2006/relationships/image" Target="../media/image17.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cid:image001.png@01DC8EC9.FDC9E530"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cid:image002.png@01DC8EC9.FDC9E530"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cid:image003.png@01DC8EC9.FDC9E530"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0156F-41B8-31C3-5E82-45ADCA6D74C9}"/>
            </a:ext>
          </a:extLst>
        </p:cNvPr>
        <p:cNvGrpSpPr/>
        <p:nvPr/>
      </p:nvGrpSpPr>
      <p:grpSpPr>
        <a:xfrm>
          <a:off x="0" y="0"/>
          <a:ext cx="0" cy="0"/>
          <a:chOff x="0" y="0"/>
          <a:chExt cx="0" cy="0"/>
        </a:xfrm>
      </p:grpSpPr>
      <p:pic>
        <p:nvPicPr>
          <p:cNvPr id="6" name="Picture 5" descr="A logo of a planet earth with a star around it&#10;&#10;AI-generated content may be incorrect.">
            <a:extLst>
              <a:ext uri="{FF2B5EF4-FFF2-40B4-BE49-F238E27FC236}">
                <a16:creationId xmlns:a16="http://schemas.microsoft.com/office/drawing/2014/main" id="{D5F4DCAA-1799-41FD-C23E-B39208FD9DDC}"/>
              </a:ext>
            </a:extLst>
          </p:cNvPr>
          <p:cNvPicPr>
            <a:picLocks noGrp="1" noRot="1" noChangeAspect="1" noMove="1" noResize="1" noEditPoints="1" noAdjustHandles="1" noChangeArrowheads="1" noChangeShapeType="1" noCrop="1"/>
          </p:cNvPicPr>
          <p:nvPr/>
        </p:nvPicPr>
        <p:blipFill>
          <a:blip r:embed="rId3"/>
          <a:srcRect l="16060" t="16121" r="9236" b="14052"/>
          <a:stretch>
            <a:fillRect/>
          </a:stretch>
        </p:blipFill>
        <p:spPr>
          <a:xfrm>
            <a:off x="3018065" y="0"/>
            <a:ext cx="7336971" cy="6858000"/>
          </a:xfrm>
          <a:prstGeom prst="rect">
            <a:avLst/>
          </a:prstGeom>
        </p:spPr>
      </p:pic>
      <p:sp>
        <p:nvSpPr>
          <p:cNvPr id="13" name="Title 2">
            <a:extLst>
              <a:ext uri="{FF2B5EF4-FFF2-40B4-BE49-F238E27FC236}">
                <a16:creationId xmlns:a16="http://schemas.microsoft.com/office/drawing/2014/main" id="{03311904-9641-9434-128C-40506D3CD01B}"/>
              </a:ext>
            </a:extLst>
          </p:cNvPr>
          <p:cNvSpPr>
            <a:spLocks noGrp="1"/>
          </p:cNvSpPr>
          <p:nvPr>
            <p:ph type="ctrTitle"/>
          </p:nvPr>
        </p:nvSpPr>
        <p:spPr/>
        <p:txBody>
          <a:bodyPr anchor="b"/>
          <a:lstStyle/>
          <a:p>
            <a:pPr>
              <a:lnSpc>
                <a:spcPct val="100000"/>
              </a:lnSpc>
            </a:pPr>
            <a:r>
              <a:rPr lang="en-US" sz="2800">
                <a:solidFill>
                  <a:srgbClr val="26890D"/>
                </a:solidFill>
              </a:rPr>
              <a:t>Global Finance Services</a:t>
            </a:r>
            <a:br>
              <a:rPr lang="en-US" sz="2800">
                <a:solidFill>
                  <a:schemeClr val="bg1"/>
                </a:solidFill>
              </a:rPr>
            </a:br>
            <a:r>
              <a:rPr lang="en-US" sz="2000">
                <a:solidFill>
                  <a:schemeClr val="tx1"/>
                </a:solidFill>
                <a:latin typeface="+mj-lt"/>
              </a:rPr>
              <a:t>Brand Identity and Style Guide</a:t>
            </a:r>
            <a:endParaRPr lang="en-US" sz="2800">
              <a:solidFill>
                <a:schemeClr val="tx1"/>
              </a:solidFill>
              <a:latin typeface="+mj-lt"/>
            </a:endParaRPr>
          </a:p>
        </p:txBody>
      </p:sp>
    </p:spTree>
    <p:extLst>
      <p:ext uri="{BB962C8B-B14F-4D97-AF65-F5344CB8AC3E}">
        <p14:creationId xmlns:p14="http://schemas.microsoft.com/office/powerpoint/2010/main" val="71326879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68067-CC40-8370-F235-955182AE63C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ED35F6-5C6D-F7A6-E4B3-9F659C27192D}"/>
              </a:ext>
            </a:extLst>
          </p:cNvPr>
          <p:cNvPicPr>
            <a:picLocks noGrp="1" noRot="1" noChangeAspect="1" noMove="1" noResize="1" noEditPoints="1" noAdjustHandles="1" noChangeArrowheads="1" noChangeShapeType="1" noCrop="1"/>
          </p:cNvPicPr>
          <p:nvPr/>
        </p:nvPicPr>
        <p:blipFill>
          <a:blip r:embed="rId2"/>
          <a:srcRect l="41970" t="13065" r="10123" b="18400"/>
          <a:stretch>
            <a:fillRect/>
          </a:stretch>
        </p:blipFill>
        <p:spPr>
          <a:xfrm>
            <a:off x="0" y="-1"/>
            <a:ext cx="4447671" cy="6362701"/>
          </a:xfrm>
          <a:prstGeom prst="rect">
            <a:avLst/>
          </a:prstGeom>
        </p:spPr>
      </p:pic>
      <p:sp>
        <p:nvSpPr>
          <p:cNvPr id="11" name="TextBox 10">
            <a:extLst>
              <a:ext uri="{FF2B5EF4-FFF2-40B4-BE49-F238E27FC236}">
                <a16:creationId xmlns:a16="http://schemas.microsoft.com/office/drawing/2014/main" id="{D1FF05AC-4796-52B6-D06C-6589D112E26C}"/>
              </a:ext>
            </a:extLst>
          </p:cNvPr>
          <p:cNvSpPr txBox="1"/>
          <p:nvPr/>
        </p:nvSpPr>
        <p:spPr>
          <a:xfrm>
            <a:off x="4590688" y="1657855"/>
            <a:ext cx="6670211" cy="3160865"/>
          </a:xfrm>
          <a:prstGeom prst="rect">
            <a:avLst/>
          </a:prstGeom>
          <a:noFill/>
        </p:spPr>
        <p:txBody>
          <a:bodyPr wrap="square" lIns="0" tIns="0" rIns="0" bIns="0" rtlCol="0" anchor="t">
            <a:spAutoFit/>
          </a:bodyPr>
          <a:lstStyle/>
          <a:p>
            <a:pPr lvl="0">
              <a:lnSpc>
                <a:spcPct val="90000"/>
              </a:lnSpc>
              <a:spcBef>
                <a:spcPts val="1000"/>
              </a:spcBef>
              <a:defRPr/>
            </a:pPr>
            <a:r>
              <a:rPr lang="en-US" sz="2200" b="1">
                <a:cs typeface="Calibri"/>
              </a:rPr>
              <a:t>GFS brand refresh for 2026</a:t>
            </a:r>
          </a:p>
          <a:p>
            <a:pPr>
              <a:lnSpc>
                <a:spcPct val="90000"/>
              </a:lnSpc>
              <a:spcBef>
                <a:spcPts val="1000"/>
              </a:spcBef>
              <a:defRPr/>
            </a:pPr>
            <a:r>
              <a:rPr lang="en-US" sz="2200">
                <a:cs typeface="Calibri"/>
              </a:rPr>
              <a:t>We are excited to announce that GFS has a refreshed brand for 2026! Our previous imagery, color palettes, and templates have helped define who we are for the last seven years, but our commitment to </a:t>
            </a:r>
            <a:r>
              <a:rPr lang="en-US" sz="2200" b="1">
                <a:cs typeface="Calibri"/>
              </a:rPr>
              <a:t>innovation </a:t>
            </a:r>
            <a:r>
              <a:rPr lang="en-US" sz="2200">
                <a:cs typeface="Calibri"/>
              </a:rPr>
              <a:t>makes it a perfect time for an update!</a:t>
            </a:r>
          </a:p>
          <a:p>
            <a:pPr>
              <a:lnSpc>
                <a:spcPct val="90000"/>
              </a:lnSpc>
              <a:spcBef>
                <a:spcPts val="1000"/>
              </a:spcBef>
              <a:defRPr/>
            </a:pPr>
            <a:endParaRPr lang="en-US" sz="2200">
              <a:cs typeface="Calibri"/>
            </a:endParaRPr>
          </a:p>
          <a:p>
            <a:pPr>
              <a:lnSpc>
                <a:spcPct val="90000"/>
              </a:lnSpc>
              <a:spcBef>
                <a:spcPts val="1000"/>
              </a:spcBef>
              <a:defRPr/>
            </a:pPr>
            <a:r>
              <a:rPr lang="en-US" sz="2200">
                <a:cs typeface="Calibri"/>
              </a:rPr>
              <a:t>New branding guidelines take effect </a:t>
            </a:r>
            <a:r>
              <a:rPr lang="en-US" sz="2200" b="1">
                <a:cs typeface="Calibri"/>
              </a:rPr>
              <a:t>30 January 2026</a:t>
            </a:r>
            <a:r>
              <a:rPr lang="en-US" sz="2200">
                <a:cs typeface="Calibri"/>
              </a:rPr>
              <a:t>.</a:t>
            </a:r>
            <a:endParaRPr lang="en-US"/>
          </a:p>
          <a:p>
            <a:endParaRPr lang="en-US" sz="2200">
              <a:cs typeface="Calibri"/>
            </a:endParaRPr>
          </a:p>
        </p:txBody>
      </p:sp>
      <p:cxnSp>
        <p:nvCxnSpPr>
          <p:cNvPr id="12" name="Straight Connector 11">
            <a:extLst>
              <a:ext uri="{FF2B5EF4-FFF2-40B4-BE49-F238E27FC236}">
                <a16:creationId xmlns:a16="http://schemas.microsoft.com/office/drawing/2014/main" id="{F8F19F72-C43E-BC9A-3518-E329030C0E7D}"/>
              </a:ext>
            </a:extLst>
          </p:cNvPr>
          <p:cNvCxnSpPr>
            <a:cxnSpLocks noGrp="1" noRot="1" noMove="1" noResize="1" noEditPoints="1" noAdjustHandles="1" noChangeArrowheads="1" noChangeShapeType="1"/>
          </p:cNvCxnSpPr>
          <p:nvPr/>
        </p:nvCxnSpPr>
        <p:spPr>
          <a:xfrm>
            <a:off x="4447671" y="4966605"/>
            <a:ext cx="4284012" cy="0"/>
          </a:xfrm>
          <a:prstGeom prst="line">
            <a:avLst/>
          </a:prstGeom>
          <a:ln w="19050">
            <a:solidFill>
              <a:srgbClr val="0076A8"/>
            </a:solidFill>
            <a:tailEnd type="oval"/>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AF502C91-61AE-5DF8-B850-419EE098D7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50143" y="1866900"/>
            <a:ext cx="409575" cy="476250"/>
          </a:xfrm>
          <a:prstGeom prst="rect">
            <a:avLst/>
          </a:prstGeom>
        </p:spPr>
      </p:pic>
      <p:sp>
        <p:nvSpPr>
          <p:cNvPr id="22" name="Freeform: Shape 21">
            <a:extLst>
              <a:ext uri="{FF2B5EF4-FFF2-40B4-BE49-F238E27FC236}">
                <a16:creationId xmlns:a16="http://schemas.microsoft.com/office/drawing/2014/main" id="{2D1D0B4D-7519-2737-345A-E01B852B4743}"/>
              </a:ext>
            </a:extLst>
          </p:cNvPr>
          <p:cNvSpPr/>
          <p:nvPr/>
        </p:nvSpPr>
        <p:spPr>
          <a:xfrm>
            <a:off x="4117821" y="2434123"/>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A9C8493-89E4-8A32-2AA9-4FD071D0DB79}"/>
              </a:ext>
            </a:extLst>
          </p:cNvPr>
          <p:cNvSpPr/>
          <p:nvPr/>
        </p:nvSpPr>
        <p:spPr>
          <a:xfrm>
            <a:off x="4363089" y="2373024"/>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65823DB-76BD-B76D-D5EB-7B36659BCDE4}"/>
              </a:ext>
            </a:extLst>
          </p:cNvPr>
          <p:cNvSpPr/>
          <p:nvPr/>
        </p:nvSpPr>
        <p:spPr>
          <a:xfrm>
            <a:off x="4202735" y="2171534"/>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045549E-1326-169D-8278-12DB9B0FB6F1}"/>
              </a:ext>
            </a:extLst>
          </p:cNvPr>
          <p:cNvSpPr/>
          <p:nvPr/>
        </p:nvSpPr>
        <p:spPr>
          <a:xfrm>
            <a:off x="3091683" y="5537247"/>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211F3C1-5DBC-60AD-8517-FD0E992967DE}"/>
              </a:ext>
            </a:extLst>
          </p:cNvPr>
          <p:cNvSpPr/>
          <p:nvPr/>
        </p:nvSpPr>
        <p:spPr>
          <a:xfrm>
            <a:off x="3064577" y="5836071"/>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17778B2-83D9-13D0-AFF9-A9802C86C6A3}"/>
              </a:ext>
            </a:extLst>
          </p:cNvPr>
          <p:cNvSpPr/>
          <p:nvPr/>
        </p:nvSpPr>
        <p:spPr>
          <a:xfrm>
            <a:off x="3351695" y="5702675"/>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pic>
        <p:nvPicPr>
          <p:cNvPr id="28" name="Graphic 27">
            <a:extLst>
              <a:ext uri="{FF2B5EF4-FFF2-40B4-BE49-F238E27FC236}">
                <a16:creationId xmlns:a16="http://schemas.microsoft.com/office/drawing/2014/main" id="{087CCC4E-5F04-F8C1-E743-7E5D9FDEF2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16176" y="5524500"/>
            <a:ext cx="304320" cy="353860"/>
          </a:xfrm>
          <a:prstGeom prst="rect">
            <a:avLst/>
          </a:prstGeom>
        </p:spPr>
      </p:pic>
      <p:sp>
        <p:nvSpPr>
          <p:cNvPr id="2" name="Title 2">
            <a:extLst>
              <a:ext uri="{FF2B5EF4-FFF2-40B4-BE49-F238E27FC236}">
                <a16:creationId xmlns:a16="http://schemas.microsoft.com/office/drawing/2014/main" id="{48E3EF41-7414-B943-BC86-1672AE60CD3A}"/>
              </a:ext>
            </a:extLst>
          </p:cNvPr>
          <p:cNvSpPr txBox="1">
            <a:spLocks/>
          </p:cNvSpPr>
          <p:nvPr/>
        </p:nvSpPr>
        <p:spPr>
          <a:xfrm>
            <a:off x="342900" y="345992"/>
            <a:ext cx="11506200" cy="342000"/>
          </a:xfrm>
          <a:prstGeom prst="rect">
            <a:avLst/>
          </a:prstGeom>
        </p:spPr>
        <p:txBody>
          <a:bodyPr lIns="91440" tIns="45720" rIns="91440" bIns="45720" anchor="t"/>
          <a:lst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r>
              <a:rPr lang="en-US" b="1">
                <a:latin typeface="+mj-lt"/>
                <a:cs typeface="Calibri Light"/>
              </a:rPr>
              <a:t>Out with the old, in with the new</a:t>
            </a:r>
          </a:p>
        </p:txBody>
      </p:sp>
    </p:spTree>
    <p:extLst>
      <p:ext uri="{BB962C8B-B14F-4D97-AF65-F5344CB8AC3E}">
        <p14:creationId xmlns:p14="http://schemas.microsoft.com/office/powerpoint/2010/main" val="1817433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CCDEE-5A93-8739-FDF3-0D2AF7CF617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7F1C824-9E24-2241-D4EE-A39A4B6EB556}"/>
              </a:ext>
            </a:extLst>
          </p:cNvPr>
          <p:cNvPicPr>
            <a:picLocks noGrp="1" noRot="1" noChangeAspect="1" noMove="1" noResize="1" noEditPoints="1" noAdjustHandles="1" noChangeArrowheads="1" noChangeShapeType="1" noCrop="1"/>
          </p:cNvPicPr>
          <p:nvPr/>
        </p:nvPicPr>
        <p:blipFill>
          <a:blip r:embed="rId2"/>
          <a:srcRect l="41970" t="13065" r="10123" b="18400"/>
          <a:stretch>
            <a:fillRect/>
          </a:stretch>
        </p:blipFill>
        <p:spPr>
          <a:xfrm>
            <a:off x="0" y="-1"/>
            <a:ext cx="4447671" cy="6362701"/>
          </a:xfrm>
          <a:prstGeom prst="rect">
            <a:avLst/>
          </a:prstGeom>
        </p:spPr>
      </p:pic>
      <p:sp>
        <p:nvSpPr>
          <p:cNvPr id="11" name="TextBox 10">
            <a:extLst>
              <a:ext uri="{FF2B5EF4-FFF2-40B4-BE49-F238E27FC236}">
                <a16:creationId xmlns:a16="http://schemas.microsoft.com/office/drawing/2014/main" id="{1FC1D2FC-2DAB-DA99-BF79-4046E0EDBD8F}"/>
              </a:ext>
            </a:extLst>
          </p:cNvPr>
          <p:cNvSpPr txBox="1"/>
          <p:nvPr/>
        </p:nvSpPr>
        <p:spPr>
          <a:xfrm>
            <a:off x="4590688" y="1657855"/>
            <a:ext cx="6670211" cy="3046988"/>
          </a:xfrm>
          <a:prstGeom prst="rect">
            <a:avLst/>
          </a:prstGeom>
          <a:noFill/>
        </p:spPr>
        <p:txBody>
          <a:bodyPr wrap="square" lIns="0" tIns="0" rIns="0" bIns="0" rtlCol="0" anchor="t">
            <a:spAutoFit/>
          </a:bodyPr>
          <a:lstStyle/>
          <a:p>
            <a:r>
              <a:rPr lang="en-US" sz="2200">
                <a:cs typeface="Calibri"/>
              </a:rPr>
              <a:t>Please refer to this updated Style Guide as your single source for brand materials, templates, and guidance.</a:t>
            </a:r>
          </a:p>
          <a:p>
            <a:endParaRPr lang="en-US" sz="2200">
              <a:cs typeface="Calibri"/>
            </a:endParaRPr>
          </a:p>
          <a:p>
            <a:r>
              <a:rPr lang="en-US" sz="2200">
                <a:cs typeface="Calibri"/>
              </a:rPr>
              <a:t>The use of circular imagery and icons are approved and aligned with Deloitte Global Brand guidelines. The imagery and icons that follow have been selected specifically to represent </a:t>
            </a:r>
            <a:r>
              <a:rPr lang="en-US" sz="2200" b="1">
                <a:cs typeface="Calibri"/>
              </a:rPr>
              <a:t>GFS concepts </a:t>
            </a:r>
            <a:r>
              <a:rPr lang="en-US" sz="2200">
                <a:cs typeface="Calibri"/>
              </a:rPr>
              <a:t>and </a:t>
            </a:r>
            <a:r>
              <a:rPr lang="en-US" sz="2200" b="1">
                <a:cs typeface="Calibri"/>
              </a:rPr>
              <a:t>services.</a:t>
            </a:r>
          </a:p>
          <a:p>
            <a:endParaRPr lang="en-US" sz="2200" b="1">
              <a:cs typeface="Calibri"/>
            </a:endParaRPr>
          </a:p>
          <a:p>
            <a:r>
              <a:rPr lang="en-US" sz="2200" b="1">
                <a:cs typeface="Calibri"/>
              </a:rPr>
              <a:t>Audience: </a:t>
            </a:r>
            <a:r>
              <a:rPr lang="en-US" sz="2200">
                <a:cs typeface="Calibri"/>
              </a:rPr>
              <a:t>GFS professionals and member firms. </a:t>
            </a:r>
            <a:endParaRPr lang="en-US" sz="2200">
              <a:cs typeface="Calibri" panose="020F0502020204030204" pitchFamily="34" charset="0"/>
            </a:endParaRPr>
          </a:p>
        </p:txBody>
      </p:sp>
      <p:cxnSp>
        <p:nvCxnSpPr>
          <p:cNvPr id="12" name="Straight Connector 11">
            <a:extLst>
              <a:ext uri="{FF2B5EF4-FFF2-40B4-BE49-F238E27FC236}">
                <a16:creationId xmlns:a16="http://schemas.microsoft.com/office/drawing/2014/main" id="{DCDF6B9D-6E2E-562F-B1C7-F8C9CB7B16E7}"/>
              </a:ext>
            </a:extLst>
          </p:cNvPr>
          <p:cNvCxnSpPr>
            <a:cxnSpLocks noGrp="1" noRot="1" noMove="1" noResize="1" noEditPoints="1" noAdjustHandles="1" noChangeArrowheads="1" noChangeShapeType="1"/>
          </p:cNvCxnSpPr>
          <p:nvPr/>
        </p:nvCxnSpPr>
        <p:spPr>
          <a:xfrm>
            <a:off x="4447671" y="4966605"/>
            <a:ext cx="4284012" cy="0"/>
          </a:xfrm>
          <a:prstGeom prst="line">
            <a:avLst/>
          </a:prstGeom>
          <a:ln w="19050">
            <a:solidFill>
              <a:srgbClr val="0076A8"/>
            </a:solidFill>
            <a:tailEnd type="oval"/>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A9BC724D-682D-341A-5DEA-A8AB53BEEA77}"/>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3650143" y="1866900"/>
            <a:ext cx="409575" cy="476250"/>
          </a:xfrm>
          <a:prstGeom prst="rect">
            <a:avLst/>
          </a:prstGeom>
        </p:spPr>
      </p:pic>
      <p:sp>
        <p:nvSpPr>
          <p:cNvPr id="22" name="Freeform: Shape 21">
            <a:extLst>
              <a:ext uri="{FF2B5EF4-FFF2-40B4-BE49-F238E27FC236}">
                <a16:creationId xmlns:a16="http://schemas.microsoft.com/office/drawing/2014/main" id="{E041174A-5748-3062-B3FE-3603A8768342}"/>
              </a:ext>
            </a:extLst>
          </p:cNvPr>
          <p:cNvSpPr>
            <a:spLocks noGrp="1" noRot="1" noMove="1" noResize="1" noEditPoints="1" noAdjustHandles="1" noChangeArrowheads="1" noChangeShapeType="1"/>
          </p:cNvSpPr>
          <p:nvPr/>
        </p:nvSpPr>
        <p:spPr>
          <a:xfrm>
            <a:off x="4117821" y="2434123"/>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C67EC7D-AF09-D230-2C52-BA3ACFD1D579}"/>
              </a:ext>
            </a:extLst>
          </p:cNvPr>
          <p:cNvSpPr>
            <a:spLocks noGrp="1" noRot="1" noMove="1" noResize="1" noEditPoints="1" noAdjustHandles="1" noChangeArrowheads="1" noChangeShapeType="1"/>
          </p:cNvSpPr>
          <p:nvPr/>
        </p:nvSpPr>
        <p:spPr>
          <a:xfrm>
            <a:off x="4363089" y="2373024"/>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76A5606-0DBE-6085-C4C3-47BB86CE1E3B}"/>
              </a:ext>
            </a:extLst>
          </p:cNvPr>
          <p:cNvSpPr>
            <a:spLocks noGrp="1" noRot="1" noMove="1" noResize="1" noEditPoints="1" noAdjustHandles="1" noChangeArrowheads="1" noChangeShapeType="1"/>
          </p:cNvSpPr>
          <p:nvPr/>
        </p:nvSpPr>
        <p:spPr>
          <a:xfrm>
            <a:off x="4202735" y="2171534"/>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23DF5CE2-0727-FE8B-BFD2-4BCD6C5914D6}"/>
              </a:ext>
            </a:extLst>
          </p:cNvPr>
          <p:cNvSpPr>
            <a:spLocks noGrp="1" noRot="1" noMove="1" noResize="1" noEditPoints="1" noAdjustHandles="1" noChangeArrowheads="1" noChangeShapeType="1"/>
          </p:cNvSpPr>
          <p:nvPr/>
        </p:nvSpPr>
        <p:spPr>
          <a:xfrm>
            <a:off x="3091683" y="5537247"/>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1E8424-825D-348D-B041-CA80978C578A}"/>
              </a:ext>
            </a:extLst>
          </p:cNvPr>
          <p:cNvSpPr>
            <a:spLocks noGrp="1" noRot="1" noMove="1" noResize="1" noEditPoints="1" noAdjustHandles="1" noChangeArrowheads="1" noChangeShapeType="1"/>
          </p:cNvSpPr>
          <p:nvPr/>
        </p:nvSpPr>
        <p:spPr>
          <a:xfrm>
            <a:off x="3064577" y="5836071"/>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BCB3AE1-574F-58ED-92CA-D5CFA5485D0E}"/>
              </a:ext>
            </a:extLst>
          </p:cNvPr>
          <p:cNvSpPr>
            <a:spLocks noGrp="1" noRot="1" noMove="1" noResize="1" noEditPoints="1" noAdjustHandles="1" noChangeArrowheads="1" noChangeShapeType="1"/>
          </p:cNvSpPr>
          <p:nvPr/>
        </p:nvSpPr>
        <p:spPr>
          <a:xfrm>
            <a:off x="3351695" y="5702675"/>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pic>
        <p:nvPicPr>
          <p:cNvPr id="28" name="Graphic 27">
            <a:extLst>
              <a:ext uri="{FF2B5EF4-FFF2-40B4-BE49-F238E27FC236}">
                <a16:creationId xmlns:a16="http://schemas.microsoft.com/office/drawing/2014/main" id="{624A2413-576B-73ED-3847-75B9F2AEDAD3}"/>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2616176" y="5524500"/>
            <a:ext cx="304320" cy="353860"/>
          </a:xfrm>
          <a:prstGeom prst="rect">
            <a:avLst/>
          </a:prstGeom>
        </p:spPr>
      </p:pic>
    </p:spTree>
    <p:extLst>
      <p:ext uri="{BB962C8B-B14F-4D97-AF65-F5344CB8AC3E}">
        <p14:creationId xmlns:p14="http://schemas.microsoft.com/office/powerpoint/2010/main" val="3534410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0C7FB-EC2D-87B3-8347-070AFFE97E59}"/>
            </a:ext>
          </a:extLst>
        </p:cNvPr>
        <p:cNvGrpSpPr/>
        <p:nvPr/>
      </p:nvGrpSpPr>
      <p:grpSpPr>
        <a:xfrm>
          <a:off x="0" y="0"/>
          <a:ext cx="0" cy="0"/>
          <a:chOff x="0" y="0"/>
          <a:chExt cx="0" cy="0"/>
        </a:xfrm>
      </p:grpSpPr>
      <p:sp>
        <p:nvSpPr>
          <p:cNvPr id="68" name="Title 67">
            <a:extLst>
              <a:ext uri="{FF2B5EF4-FFF2-40B4-BE49-F238E27FC236}">
                <a16:creationId xmlns:a16="http://schemas.microsoft.com/office/drawing/2014/main" id="{FBAD15E1-0348-7C82-82CA-F69A9E857C38}"/>
              </a:ext>
            </a:extLst>
          </p:cNvPr>
          <p:cNvSpPr>
            <a:spLocks noGrp="1"/>
          </p:cNvSpPr>
          <p:nvPr>
            <p:ph type="title"/>
          </p:nvPr>
        </p:nvSpPr>
        <p:spPr/>
        <p:txBody>
          <a:bodyPr/>
          <a:lstStyle/>
          <a:p>
            <a:r>
              <a:rPr lang="en-US">
                <a:solidFill>
                  <a:schemeClr val="tx1"/>
                </a:solidFill>
                <a:latin typeface="Aptos"/>
                <a:cs typeface="Calibri"/>
              </a:rPr>
              <a:t>GFS Style Guide | </a:t>
            </a:r>
            <a:r>
              <a:rPr lang="en-US" b="1">
                <a:latin typeface="Aptos"/>
                <a:cs typeface="Calibri Light"/>
              </a:rPr>
              <a:t>Table of contents</a:t>
            </a:r>
            <a:endParaRPr lang="en-US">
              <a:solidFill>
                <a:schemeClr val="tx1"/>
              </a:solidFill>
              <a:latin typeface="+mj-lt"/>
            </a:endParaRPr>
          </a:p>
        </p:txBody>
      </p:sp>
      <p:grpSp>
        <p:nvGrpSpPr>
          <p:cNvPr id="19" name="Group 18">
            <a:extLst>
              <a:ext uri="{FF2B5EF4-FFF2-40B4-BE49-F238E27FC236}">
                <a16:creationId xmlns:a16="http://schemas.microsoft.com/office/drawing/2014/main" id="{3DEFEEDE-561A-B673-7BFB-0922B3B301A8}"/>
              </a:ext>
            </a:extLst>
          </p:cNvPr>
          <p:cNvGrpSpPr/>
          <p:nvPr/>
        </p:nvGrpSpPr>
        <p:grpSpPr>
          <a:xfrm>
            <a:off x="289735" y="5140410"/>
            <a:ext cx="5695950" cy="939155"/>
            <a:chOff x="289735" y="5140410"/>
            <a:chExt cx="5695950" cy="939155"/>
          </a:xfrm>
        </p:grpSpPr>
        <p:cxnSp>
          <p:nvCxnSpPr>
            <p:cNvPr id="33" name="Straight Connector 32">
              <a:extLst>
                <a:ext uri="{FF2B5EF4-FFF2-40B4-BE49-F238E27FC236}">
                  <a16:creationId xmlns:a16="http://schemas.microsoft.com/office/drawing/2014/main" id="{C0B400F6-4B4B-2431-4BFF-83110D6F3657}"/>
                </a:ext>
              </a:extLst>
            </p:cNvPr>
            <p:cNvCxnSpPr/>
            <p:nvPr/>
          </p:nvCxnSpPr>
          <p:spPr>
            <a:xfrm>
              <a:off x="289735" y="6079565"/>
              <a:ext cx="569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C9951BF-CBA9-92DC-B49A-827713378A30}"/>
                </a:ext>
              </a:extLst>
            </p:cNvPr>
            <p:cNvGrpSpPr/>
            <p:nvPr/>
          </p:nvGrpSpPr>
          <p:grpSpPr>
            <a:xfrm>
              <a:off x="342900" y="5140410"/>
              <a:ext cx="4879340" cy="517884"/>
              <a:chOff x="342900" y="1388194"/>
              <a:chExt cx="4879340" cy="517884"/>
            </a:xfrm>
          </p:grpSpPr>
          <p:sp>
            <p:nvSpPr>
              <p:cNvPr id="23" name="Title 3">
                <a:extLst>
                  <a:ext uri="{FF2B5EF4-FFF2-40B4-BE49-F238E27FC236}">
                    <a16:creationId xmlns:a16="http://schemas.microsoft.com/office/drawing/2014/main" id="{8F2B79B7-2847-7C13-EE85-079CE3151B0C}"/>
                  </a:ext>
                </a:extLst>
              </p:cNvPr>
              <p:cNvSpPr txBox="1">
                <a:spLocks/>
              </p:cNvSpPr>
              <p:nvPr/>
            </p:nvSpPr>
            <p:spPr bwMode="gray">
              <a:xfrm>
                <a:off x="342900" y="1388194"/>
                <a:ext cx="4491924" cy="263149"/>
              </a:xfrm>
              <a:prstGeom prst="rect">
                <a:avLst/>
              </a:prstGeom>
            </p:spPr>
            <p:txBody>
              <a:bodyPr vert="horz" lIns="0" tIns="0" rIns="0" bIns="0" rtlCol="0" anchor="b" anchorCtr="0">
                <a:sp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1800">
                    <a:solidFill>
                      <a:srgbClr val="00A3E0"/>
                    </a:solidFill>
                    <a:hlinkClick r:id="rId3" action="ppaction://hlinksldjump"/>
                  </a:rPr>
                  <a:t>Appendix</a:t>
                </a:r>
                <a:endParaRPr lang="en-US" sz="1800">
                  <a:solidFill>
                    <a:srgbClr val="00A3E0"/>
                  </a:solidFill>
                </a:endParaRPr>
              </a:p>
            </p:txBody>
          </p:sp>
          <p:sp>
            <p:nvSpPr>
              <p:cNvPr id="24" name="TextBox 23">
                <a:extLst>
                  <a:ext uri="{FF2B5EF4-FFF2-40B4-BE49-F238E27FC236}">
                    <a16:creationId xmlns:a16="http://schemas.microsoft.com/office/drawing/2014/main" id="{0BD52060-45D3-52F7-3A63-55C410D566C6}"/>
                  </a:ext>
                </a:extLst>
              </p:cNvPr>
              <p:cNvSpPr txBox="1"/>
              <p:nvPr/>
            </p:nvSpPr>
            <p:spPr>
              <a:xfrm>
                <a:off x="342900" y="1690634"/>
                <a:ext cx="4879340" cy="215444"/>
              </a:xfrm>
              <a:prstGeom prst="rect">
                <a:avLst/>
              </a:prstGeom>
              <a:noFill/>
            </p:spPr>
            <p:txBody>
              <a:bodyPr wrap="square" lIns="0" tIns="0" rIns="0" bIns="0" anchor="t">
                <a:spAutoFit/>
              </a:bodyPr>
              <a:lstStyle/>
              <a:p>
                <a:r>
                  <a:rPr lang="en-US" sz="1400"/>
                  <a:t>Key tips for staying on brand</a:t>
                </a:r>
              </a:p>
            </p:txBody>
          </p:sp>
        </p:grpSp>
      </p:grpSp>
      <p:grpSp>
        <p:nvGrpSpPr>
          <p:cNvPr id="17" name="Group 16">
            <a:extLst>
              <a:ext uri="{FF2B5EF4-FFF2-40B4-BE49-F238E27FC236}">
                <a16:creationId xmlns:a16="http://schemas.microsoft.com/office/drawing/2014/main" id="{1425B0EA-D2C6-A833-4928-01DE9758420C}"/>
              </a:ext>
            </a:extLst>
          </p:cNvPr>
          <p:cNvGrpSpPr/>
          <p:nvPr/>
        </p:nvGrpSpPr>
        <p:grpSpPr>
          <a:xfrm>
            <a:off x="274320" y="4628876"/>
            <a:ext cx="5695950" cy="409444"/>
            <a:chOff x="274320" y="4668209"/>
            <a:chExt cx="5695950" cy="409444"/>
          </a:xfrm>
        </p:grpSpPr>
        <p:cxnSp>
          <p:nvCxnSpPr>
            <p:cNvPr id="32" name="Straight Connector 31">
              <a:extLst>
                <a:ext uri="{FF2B5EF4-FFF2-40B4-BE49-F238E27FC236}">
                  <a16:creationId xmlns:a16="http://schemas.microsoft.com/office/drawing/2014/main" id="{F7E3B65A-C674-220F-7C17-9CD0FCF940FA}"/>
                </a:ext>
              </a:extLst>
            </p:cNvPr>
            <p:cNvCxnSpPr/>
            <p:nvPr/>
          </p:nvCxnSpPr>
          <p:spPr>
            <a:xfrm>
              <a:off x="274320" y="5077653"/>
              <a:ext cx="569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itle 3">
              <a:extLst>
                <a:ext uri="{FF2B5EF4-FFF2-40B4-BE49-F238E27FC236}">
                  <a16:creationId xmlns:a16="http://schemas.microsoft.com/office/drawing/2014/main" id="{63F55610-67B8-33CB-805C-3535C10B2C49}"/>
                </a:ext>
              </a:extLst>
            </p:cNvPr>
            <p:cNvSpPr txBox="1">
              <a:spLocks/>
            </p:cNvSpPr>
            <p:nvPr/>
          </p:nvSpPr>
          <p:spPr bwMode="gray">
            <a:xfrm>
              <a:off x="342900" y="4668209"/>
              <a:ext cx="4491924" cy="263149"/>
            </a:xfrm>
            <a:prstGeom prst="rect">
              <a:avLst/>
            </a:prstGeom>
          </p:spPr>
          <p:txBody>
            <a:bodyPr vert="horz" lIns="0" tIns="0" rIns="0" bIns="0" rtlCol="0" anchor="b" anchorCtr="0">
              <a:sp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1800">
                  <a:solidFill>
                    <a:srgbClr val="00A3E0"/>
                  </a:solidFill>
                  <a:latin typeface="Aptos"/>
                  <a:ea typeface="Open Sans"/>
                  <a:cs typeface="Open Sans"/>
                  <a:hlinkClick r:id="rId4" action="ppaction://hlinksldjump"/>
                </a:rPr>
                <a:t>Frequently asked questions</a:t>
              </a:r>
              <a:endParaRPr lang="en-US" sz="1800">
                <a:solidFill>
                  <a:srgbClr val="00A3E0"/>
                </a:solidFill>
              </a:endParaRPr>
            </a:p>
          </p:txBody>
        </p:sp>
      </p:grpSp>
      <p:grpSp>
        <p:nvGrpSpPr>
          <p:cNvPr id="13" name="Group 12">
            <a:extLst>
              <a:ext uri="{FF2B5EF4-FFF2-40B4-BE49-F238E27FC236}">
                <a16:creationId xmlns:a16="http://schemas.microsoft.com/office/drawing/2014/main" id="{4EC09086-16D7-D78F-1267-20146A7FBC33}"/>
              </a:ext>
            </a:extLst>
          </p:cNvPr>
          <p:cNvGrpSpPr/>
          <p:nvPr/>
        </p:nvGrpSpPr>
        <p:grpSpPr>
          <a:xfrm>
            <a:off x="274320" y="4074624"/>
            <a:ext cx="5695950" cy="409444"/>
            <a:chOff x="274320" y="4112470"/>
            <a:chExt cx="5695950" cy="409444"/>
          </a:xfrm>
        </p:grpSpPr>
        <p:cxnSp>
          <p:nvCxnSpPr>
            <p:cNvPr id="31" name="Straight Connector 30">
              <a:extLst>
                <a:ext uri="{FF2B5EF4-FFF2-40B4-BE49-F238E27FC236}">
                  <a16:creationId xmlns:a16="http://schemas.microsoft.com/office/drawing/2014/main" id="{4ECE785B-E493-54E2-A53C-DA13E09E08A6}"/>
                </a:ext>
              </a:extLst>
            </p:cNvPr>
            <p:cNvCxnSpPr/>
            <p:nvPr/>
          </p:nvCxnSpPr>
          <p:spPr>
            <a:xfrm>
              <a:off x="274320" y="4521914"/>
              <a:ext cx="569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itle 3">
              <a:extLst>
                <a:ext uri="{FF2B5EF4-FFF2-40B4-BE49-F238E27FC236}">
                  <a16:creationId xmlns:a16="http://schemas.microsoft.com/office/drawing/2014/main" id="{E9DD41B9-8277-434D-D696-C4D629AEB9B1}"/>
                </a:ext>
              </a:extLst>
            </p:cNvPr>
            <p:cNvSpPr txBox="1">
              <a:spLocks/>
            </p:cNvSpPr>
            <p:nvPr/>
          </p:nvSpPr>
          <p:spPr bwMode="gray">
            <a:xfrm>
              <a:off x="342900" y="4112470"/>
              <a:ext cx="4491924" cy="263149"/>
            </a:xfrm>
            <a:prstGeom prst="rect">
              <a:avLst/>
            </a:prstGeom>
          </p:spPr>
          <p:txBody>
            <a:bodyPr vert="horz" lIns="0" tIns="0" rIns="0" bIns="0" rtlCol="0" anchor="b" anchorCtr="0">
              <a:sp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1800">
                  <a:solidFill>
                    <a:srgbClr val="00A3E0"/>
                  </a:solidFill>
                  <a:latin typeface="Aptos"/>
                  <a:ea typeface="Open Sans"/>
                  <a:cs typeface="Open Sans"/>
                  <a:hlinkClick r:id="rId5" action="ppaction://hlinksldjump"/>
                </a:rPr>
                <a:t>Email signature and templates</a:t>
              </a:r>
              <a:endParaRPr lang="en-US" sz="1800">
                <a:solidFill>
                  <a:srgbClr val="00A3E0"/>
                </a:solidFill>
                <a:latin typeface="Aptos"/>
                <a:ea typeface="Open Sans"/>
                <a:cs typeface="Open Sans"/>
              </a:endParaRPr>
            </a:p>
          </p:txBody>
        </p:sp>
      </p:grpSp>
      <p:grpSp>
        <p:nvGrpSpPr>
          <p:cNvPr id="11" name="Group 10">
            <a:extLst>
              <a:ext uri="{FF2B5EF4-FFF2-40B4-BE49-F238E27FC236}">
                <a16:creationId xmlns:a16="http://schemas.microsoft.com/office/drawing/2014/main" id="{765A38B6-9E67-DD32-982D-35F308A4CBAA}"/>
              </a:ext>
            </a:extLst>
          </p:cNvPr>
          <p:cNvGrpSpPr/>
          <p:nvPr/>
        </p:nvGrpSpPr>
        <p:grpSpPr>
          <a:xfrm>
            <a:off x="274320" y="3351141"/>
            <a:ext cx="5695950" cy="578675"/>
            <a:chOff x="274320" y="3387500"/>
            <a:chExt cx="5695950" cy="578675"/>
          </a:xfrm>
        </p:grpSpPr>
        <p:cxnSp>
          <p:nvCxnSpPr>
            <p:cNvPr id="30" name="Straight Connector 29">
              <a:extLst>
                <a:ext uri="{FF2B5EF4-FFF2-40B4-BE49-F238E27FC236}">
                  <a16:creationId xmlns:a16="http://schemas.microsoft.com/office/drawing/2014/main" id="{6BF86F8B-6691-9A3A-2D55-0DF3A28AC854}"/>
                </a:ext>
              </a:extLst>
            </p:cNvPr>
            <p:cNvCxnSpPr/>
            <p:nvPr/>
          </p:nvCxnSpPr>
          <p:spPr>
            <a:xfrm>
              <a:off x="274320" y="3966175"/>
              <a:ext cx="569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F6F19F3-2818-9337-DA0B-C3A7A25EFA44}"/>
                </a:ext>
              </a:extLst>
            </p:cNvPr>
            <p:cNvGrpSpPr/>
            <p:nvPr/>
          </p:nvGrpSpPr>
          <p:grpSpPr>
            <a:xfrm>
              <a:off x="342900" y="3387500"/>
              <a:ext cx="4782820" cy="475100"/>
              <a:chOff x="342900" y="1984751"/>
              <a:chExt cx="4782820" cy="475100"/>
            </a:xfrm>
          </p:grpSpPr>
          <p:sp>
            <p:nvSpPr>
              <p:cNvPr id="15" name="Title 3">
                <a:extLst>
                  <a:ext uri="{FF2B5EF4-FFF2-40B4-BE49-F238E27FC236}">
                    <a16:creationId xmlns:a16="http://schemas.microsoft.com/office/drawing/2014/main" id="{79D273E5-9EFE-F254-525E-EC262FEEE523}"/>
                  </a:ext>
                </a:extLst>
              </p:cNvPr>
              <p:cNvSpPr txBox="1">
                <a:spLocks/>
              </p:cNvSpPr>
              <p:nvPr/>
            </p:nvSpPr>
            <p:spPr bwMode="gray">
              <a:xfrm>
                <a:off x="342900" y="1984751"/>
                <a:ext cx="4491924" cy="263149"/>
              </a:xfrm>
              <a:prstGeom prst="rect">
                <a:avLst/>
              </a:prstGeom>
            </p:spPr>
            <p:txBody>
              <a:bodyPr vert="horz" lIns="0" tIns="0" rIns="0" bIns="0" rtlCol="0" anchor="b" anchorCtr="0">
                <a:sp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1800">
                    <a:solidFill>
                      <a:srgbClr val="00A3E0"/>
                    </a:solidFill>
                    <a:latin typeface="Aptos"/>
                    <a:ea typeface="Open Sans"/>
                    <a:cs typeface="Open Sans"/>
                    <a:hlinkClick r:id="rId6" action="ppaction://hlinksldjump"/>
                  </a:rPr>
                  <a:t>Global brand guidance</a:t>
                </a:r>
                <a:endParaRPr lang="en-US" sz="1800">
                  <a:solidFill>
                    <a:srgbClr val="00A3E0"/>
                  </a:solidFill>
                </a:endParaRPr>
              </a:p>
            </p:txBody>
          </p:sp>
          <p:sp>
            <p:nvSpPr>
              <p:cNvPr id="16" name="TextBox 15">
                <a:extLst>
                  <a:ext uri="{FF2B5EF4-FFF2-40B4-BE49-F238E27FC236}">
                    <a16:creationId xmlns:a16="http://schemas.microsoft.com/office/drawing/2014/main" id="{21637A7C-2F83-8A6C-3018-8F37B75A3BC0}"/>
                  </a:ext>
                </a:extLst>
              </p:cNvPr>
              <p:cNvSpPr txBox="1"/>
              <p:nvPr/>
            </p:nvSpPr>
            <p:spPr>
              <a:xfrm>
                <a:off x="342900" y="2244407"/>
                <a:ext cx="4782820" cy="215444"/>
              </a:xfrm>
              <a:prstGeom prst="rect">
                <a:avLst/>
              </a:prstGeom>
              <a:noFill/>
            </p:spPr>
            <p:txBody>
              <a:bodyPr wrap="square" lIns="0" tIns="0" rIns="0" bIns="0" anchor="t">
                <a:spAutoFit/>
              </a:bodyPr>
              <a:lstStyle/>
              <a:p>
                <a:r>
                  <a:rPr lang="en-US" sz="1400"/>
                  <a:t>Fonts, language, and Global tagline</a:t>
                </a:r>
              </a:p>
            </p:txBody>
          </p:sp>
        </p:grpSp>
      </p:grpSp>
      <p:grpSp>
        <p:nvGrpSpPr>
          <p:cNvPr id="5" name="Group 4">
            <a:extLst>
              <a:ext uri="{FF2B5EF4-FFF2-40B4-BE49-F238E27FC236}">
                <a16:creationId xmlns:a16="http://schemas.microsoft.com/office/drawing/2014/main" id="{7A21F7A0-71B0-A8ED-EF5D-A4C1AC425CF1}"/>
              </a:ext>
            </a:extLst>
          </p:cNvPr>
          <p:cNvGrpSpPr/>
          <p:nvPr/>
        </p:nvGrpSpPr>
        <p:grpSpPr>
          <a:xfrm>
            <a:off x="289735" y="2818343"/>
            <a:ext cx="5695950" cy="430710"/>
            <a:chOff x="289735" y="2853215"/>
            <a:chExt cx="5695950" cy="430710"/>
          </a:xfrm>
        </p:grpSpPr>
        <p:cxnSp>
          <p:nvCxnSpPr>
            <p:cNvPr id="29" name="Straight Connector 28">
              <a:extLst>
                <a:ext uri="{FF2B5EF4-FFF2-40B4-BE49-F238E27FC236}">
                  <a16:creationId xmlns:a16="http://schemas.microsoft.com/office/drawing/2014/main" id="{41335F36-7E83-861E-970D-B4A174E31E26}"/>
                </a:ext>
              </a:extLst>
            </p:cNvPr>
            <p:cNvCxnSpPr/>
            <p:nvPr/>
          </p:nvCxnSpPr>
          <p:spPr>
            <a:xfrm>
              <a:off x="289735" y="3283925"/>
              <a:ext cx="569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Title 3">
              <a:extLst>
                <a:ext uri="{FF2B5EF4-FFF2-40B4-BE49-F238E27FC236}">
                  <a16:creationId xmlns:a16="http://schemas.microsoft.com/office/drawing/2014/main" id="{ADC0ADF5-D878-A732-717B-C93DAE17FE1D}"/>
                </a:ext>
              </a:extLst>
            </p:cNvPr>
            <p:cNvSpPr txBox="1">
              <a:spLocks/>
            </p:cNvSpPr>
            <p:nvPr/>
          </p:nvSpPr>
          <p:spPr bwMode="gray">
            <a:xfrm>
              <a:off x="342900" y="2853215"/>
              <a:ext cx="4491924" cy="263149"/>
            </a:xfrm>
            <a:prstGeom prst="rect">
              <a:avLst/>
            </a:prstGeom>
          </p:spPr>
          <p:txBody>
            <a:bodyPr vert="horz" lIns="0" tIns="0" rIns="0" bIns="0" rtlCol="0" anchor="b" anchorCtr="0">
              <a:sp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1800">
                  <a:solidFill>
                    <a:srgbClr val="00A3E0"/>
                  </a:solidFill>
                  <a:latin typeface="Aptos"/>
                  <a:ea typeface="Open Sans"/>
                  <a:cs typeface="Open Sans"/>
                  <a:hlinkClick r:id="rId7" action="ppaction://hlinksldjump"/>
                </a:rPr>
                <a:t>Color palettes</a:t>
              </a:r>
              <a:endParaRPr lang="en-US" sz="1800">
                <a:solidFill>
                  <a:srgbClr val="00A3E0"/>
                </a:solidFill>
              </a:endParaRPr>
            </a:p>
          </p:txBody>
        </p:sp>
      </p:grpSp>
      <p:grpSp>
        <p:nvGrpSpPr>
          <p:cNvPr id="3" name="Group 2">
            <a:extLst>
              <a:ext uri="{FF2B5EF4-FFF2-40B4-BE49-F238E27FC236}">
                <a16:creationId xmlns:a16="http://schemas.microsoft.com/office/drawing/2014/main" id="{6724B8A4-548E-315B-5123-8838B6A10C82}"/>
              </a:ext>
            </a:extLst>
          </p:cNvPr>
          <p:cNvGrpSpPr/>
          <p:nvPr/>
        </p:nvGrpSpPr>
        <p:grpSpPr>
          <a:xfrm>
            <a:off x="274320" y="2108053"/>
            <a:ext cx="5695950" cy="586748"/>
            <a:chOff x="274320" y="2088273"/>
            <a:chExt cx="5695950" cy="586748"/>
          </a:xfrm>
        </p:grpSpPr>
        <p:cxnSp>
          <p:nvCxnSpPr>
            <p:cNvPr id="28" name="Straight Connector 27">
              <a:extLst>
                <a:ext uri="{FF2B5EF4-FFF2-40B4-BE49-F238E27FC236}">
                  <a16:creationId xmlns:a16="http://schemas.microsoft.com/office/drawing/2014/main" id="{F2BF2B97-0F49-931C-8DE8-E608BF19E02A}"/>
                </a:ext>
              </a:extLst>
            </p:cNvPr>
            <p:cNvCxnSpPr/>
            <p:nvPr/>
          </p:nvCxnSpPr>
          <p:spPr>
            <a:xfrm>
              <a:off x="274320" y="2675021"/>
              <a:ext cx="569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5602D2F5-8376-2EB9-C8F0-01CC3BF2956C}"/>
                </a:ext>
              </a:extLst>
            </p:cNvPr>
            <p:cNvGrpSpPr/>
            <p:nvPr/>
          </p:nvGrpSpPr>
          <p:grpSpPr>
            <a:xfrm>
              <a:off x="342900" y="2088273"/>
              <a:ext cx="4491924" cy="504439"/>
              <a:chOff x="342900" y="1963485"/>
              <a:chExt cx="4491924" cy="504439"/>
            </a:xfrm>
          </p:grpSpPr>
          <p:sp>
            <p:nvSpPr>
              <p:cNvPr id="9" name="Title 3">
                <a:extLst>
                  <a:ext uri="{FF2B5EF4-FFF2-40B4-BE49-F238E27FC236}">
                    <a16:creationId xmlns:a16="http://schemas.microsoft.com/office/drawing/2014/main" id="{E53259D4-A44F-42D7-BD92-AA82964EDAAB}"/>
                  </a:ext>
                </a:extLst>
              </p:cNvPr>
              <p:cNvSpPr txBox="1">
                <a:spLocks/>
              </p:cNvSpPr>
              <p:nvPr/>
            </p:nvSpPr>
            <p:spPr bwMode="gray">
              <a:xfrm>
                <a:off x="342900" y="1963485"/>
                <a:ext cx="4491924" cy="263149"/>
              </a:xfrm>
              <a:prstGeom prst="rect">
                <a:avLst/>
              </a:prstGeom>
            </p:spPr>
            <p:txBody>
              <a:bodyPr vert="horz" lIns="0" tIns="0" rIns="0" bIns="0" rtlCol="0" anchor="b" anchorCtr="0">
                <a:sp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1800">
                    <a:solidFill>
                      <a:srgbClr val="00A3E0"/>
                    </a:solidFill>
                    <a:hlinkClick r:id="rId8" action="ppaction://hlinksldjump"/>
                  </a:rPr>
                  <a:t>Icons</a:t>
                </a:r>
                <a:endParaRPr lang="en-US" sz="1800">
                  <a:solidFill>
                    <a:srgbClr val="00A3E0"/>
                  </a:solidFill>
                </a:endParaRPr>
              </a:p>
            </p:txBody>
          </p:sp>
          <p:sp>
            <p:nvSpPr>
              <p:cNvPr id="10" name="TextBox 9">
                <a:extLst>
                  <a:ext uri="{FF2B5EF4-FFF2-40B4-BE49-F238E27FC236}">
                    <a16:creationId xmlns:a16="http://schemas.microsoft.com/office/drawing/2014/main" id="{BBAC8898-081C-4F55-3CB1-C9478E52C731}"/>
                  </a:ext>
                </a:extLst>
              </p:cNvPr>
              <p:cNvSpPr txBox="1"/>
              <p:nvPr/>
            </p:nvSpPr>
            <p:spPr>
              <a:xfrm>
                <a:off x="342900" y="2252480"/>
                <a:ext cx="4356100" cy="215444"/>
              </a:xfrm>
              <a:prstGeom prst="rect">
                <a:avLst/>
              </a:prstGeom>
              <a:noFill/>
            </p:spPr>
            <p:txBody>
              <a:bodyPr wrap="square" lIns="0" tIns="0" rIns="0" bIns="0" anchor="t">
                <a:spAutoFit/>
              </a:bodyPr>
              <a:lstStyle/>
              <a:p>
                <a:r>
                  <a:rPr lang="en-US" sz="1400"/>
                  <a:t>GFS strategic goals, pillars, and shared services catalog</a:t>
                </a:r>
              </a:p>
            </p:txBody>
          </p:sp>
        </p:grpSp>
      </p:grpSp>
      <p:grpSp>
        <p:nvGrpSpPr>
          <p:cNvPr id="2" name="Group 1">
            <a:extLst>
              <a:ext uri="{FF2B5EF4-FFF2-40B4-BE49-F238E27FC236}">
                <a16:creationId xmlns:a16="http://schemas.microsoft.com/office/drawing/2014/main" id="{B7378BF4-BE1A-2E49-92CB-54228A681F31}"/>
              </a:ext>
            </a:extLst>
          </p:cNvPr>
          <p:cNvGrpSpPr/>
          <p:nvPr/>
        </p:nvGrpSpPr>
        <p:grpSpPr>
          <a:xfrm>
            <a:off x="274320" y="1331089"/>
            <a:ext cx="5878830" cy="674875"/>
            <a:chOff x="274320" y="1331089"/>
            <a:chExt cx="5878830" cy="674875"/>
          </a:xfrm>
        </p:grpSpPr>
        <p:cxnSp>
          <p:nvCxnSpPr>
            <p:cNvPr id="27" name="Straight Connector 26">
              <a:extLst>
                <a:ext uri="{FF2B5EF4-FFF2-40B4-BE49-F238E27FC236}">
                  <a16:creationId xmlns:a16="http://schemas.microsoft.com/office/drawing/2014/main" id="{84CD8CA4-6E73-9B06-0C74-4828D384FAB6}"/>
                </a:ext>
              </a:extLst>
            </p:cNvPr>
            <p:cNvCxnSpPr/>
            <p:nvPr/>
          </p:nvCxnSpPr>
          <p:spPr>
            <a:xfrm>
              <a:off x="274320" y="2005964"/>
              <a:ext cx="569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3BE369AD-D44C-29D3-1759-41CEB163BA22}"/>
                </a:ext>
              </a:extLst>
            </p:cNvPr>
            <p:cNvGrpSpPr/>
            <p:nvPr/>
          </p:nvGrpSpPr>
          <p:grpSpPr>
            <a:xfrm>
              <a:off x="342900" y="1422219"/>
              <a:ext cx="5118100" cy="480170"/>
              <a:chOff x="342900" y="1984751"/>
              <a:chExt cx="5118100" cy="480170"/>
            </a:xfrm>
          </p:grpSpPr>
          <p:sp>
            <p:nvSpPr>
              <p:cNvPr id="4" name="Title 3">
                <a:extLst>
                  <a:ext uri="{FF2B5EF4-FFF2-40B4-BE49-F238E27FC236}">
                    <a16:creationId xmlns:a16="http://schemas.microsoft.com/office/drawing/2014/main" id="{28F7D3B1-3C3C-47D7-E697-E38AB92503FE}"/>
                  </a:ext>
                </a:extLst>
              </p:cNvPr>
              <p:cNvSpPr txBox="1">
                <a:spLocks/>
              </p:cNvSpPr>
              <p:nvPr/>
            </p:nvSpPr>
            <p:spPr bwMode="gray">
              <a:xfrm>
                <a:off x="342900" y="1984751"/>
                <a:ext cx="4491924" cy="263149"/>
              </a:xfrm>
              <a:prstGeom prst="rect">
                <a:avLst/>
              </a:prstGeom>
            </p:spPr>
            <p:txBody>
              <a:bodyPr vert="horz" lIns="0" tIns="0" rIns="0" bIns="0" rtlCol="0" anchor="b" anchorCtr="0">
                <a:sp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1800">
                    <a:solidFill>
                      <a:srgbClr val="00A3E0"/>
                    </a:solidFill>
                    <a:hlinkClick r:id="rId9" action="ppaction://hlinksldjump"/>
                  </a:rPr>
                  <a:t>Imagery</a:t>
                </a:r>
                <a:endParaRPr lang="en-US" sz="1800">
                  <a:solidFill>
                    <a:srgbClr val="00A3E0"/>
                  </a:solidFill>
                </a:endParaRPr>
              </a:p>
            </p:txBody>
          </p:sp>
          <p:sp>
            <p:nvSpPr>
              <p:cNvPr id="6" name="TextBox 5">
                <a:extLst>
                  <a:ext uri="{FF2B5EF4-FFF2-40B4-BE49-F238E27FC236}">
                    <a16:creationId xmlns:a16="http://schemas.microsoft.com/office/drawing/2014/main" id="{3A85E2C7-3D59-4F15-24E1-2245C6425C3B}"/>
                  </a:ext>
                </a:extLst>
              </p:cNvPr>
              <p:cNvSpPr txBox="1"/>
              <p:nvPr/>
            </p:nvSpPr>
            <p:spPr>
              <a:xfrm>
                <a:off x="342900" y="2249477"/>
                <a:ext cx="5118100" cy="215444"/>
              </a:xfrm>
              <a:prstGeom prst="rect">
                <a:avLst/>
              </a:prstGeom>
              <a:noFill/>
            </p:spPr>
            <p:txBody>
              <a:bodyPr wrap="square" lIns="0" tIns="0" rIns="0" bIns="0" anchor="t">
                <a:spAutoFit/>
              </a:bodyPr>
              <a:lstStyle/>
              <a:p>
                <a:r>
                  <a:rPr lang="en-US" sz="1400"/>
                  <a:t>GFS hero image and expanded hero image</a:t>
                </a:r>
              </a:p>
            </p:txBody>
          </p:sp>
        </p:grpSp>
        <p:sp>
          <p:nvSpPr>
            <p:cNvPr id="59" name="Rectangle 58">
              <a:extLst>
                <a:ext uri="{FF2B5EF4-FFF2-40B4-BE49-F238E27FC236}">
                  <a16:creationId xmlns:a16="http://schemas.microsoft.com/office/drawing/2014/main" id="{09DDA933-8EDB-CFEC-116E-D1B5F57313B1}"/>
                </a:ext>
              </a:extLst>
            </p:cNvPr>
            <p:cNvSpPr/>
            <p:nvPr/>
          </p:nvSpPr>
          <p:spPr bwMode="gray">
            <a:xfrm>
              <a:off x="342900" y="1331089"/>
              <a:ext cx="5810250" cy="611620"/>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pic>
        <p:nvPicPr>
          <p:cNvPr id="70" name="Picture 69" descr="A green and white star&#10;&#10;AI-generated content may be incorrect.">
            <a:extLst>
              <a:ext uri="{FF2B5EF4-FFF2-40B4-BE49-F238E27FC236}">
                <a16:creationId xmlns:a16="http://schemas.microsoft.com/office/drawing/2014/main" id="{23246F98-F8B8-D439-3EFF-D9D633B9E616}"/>
              </a:ext>
            </a:extLst>
          </p:cNvPr>
          <p:cNvPicPr>
            <a:picLocks noGrp="1" noRot="1" noChangeAspect="1" noMove="1" noResize="1" noEditPoints="1" noAdjustHandles="1" noChangeArrowheads="1" noChangeShapeType="1" noCrop="1"/>
          </p:cNvPicPr>
          <p:nvPr/>
        </p:nvPicPr>
        <p:blipFill>
          <a:blip r:embed="rId10"/>
          <a:srcRect l="1" r="24953"/>
          <a:stretch>
            <a:fillRect/>
          </a:stretch>
        </p:blipFill>
        <p:spPr>
          <a:xfrm>
            <a:off x="6423025" y="969509"/>
            <a:ext cx="5753100" cy="6056108"/>
          </a:xfrm>
          <a:prstGeom prst="rect">
            <a:avLst/>
          </a:prstGeom>
        </p:spPr>
      </p:pic>
      <p:sp>
        <p:nvSpPr>
          <p:cNvPr id="25" name="TextBox 24">
            <a:extLst>
              <a:ext uri="{FF2B5EF4-FFF2-40B4-BE49-F238E27FC236}">
                <a16:creationId xmlns:a16="http://schemas.microsoft.com/office/drawing/2014/main" id="{EB7A045B-7EBE-C911-250A-1794604D290D}"/>
              </a:ext>
            </a:extLst>
          </p:cNvPr>
          <p:cNvSpPr txBox="1"/>
          <p:nvPr/>
        </p:nvSpPr>
        <p:spPr>
          <a:xfrm>
            <a:off x="5055870" y="1623690"/>
            <a:ext cx="914400" cy="215444"/>
          </a:xfrm>
          <a:prstGeom prst="rect">
            <a:avLst/>
          </a:prstGeom>
          <a:noFill/>
        </p:spPr>
        <p:txBody>
          <a:bodyPr wrap="square" lIns="0" tIns="0" rIns="0" bIns="0" rtlCol="0">
            <a:spAutoFit/>
          </a:bodyPr>
          <a:lstStyle/>
          <a:p>
            <a:pPr>
              <a:spcBef>
                <a:spcPts val="600"/>
              </a:spcBef>
              <a:buSzPct val="100000"/>
            </a:pPr>
            <a:r>
              <a:rPr lang="en-US" sz="1400" b="1">
                <a:solidFill>
                  <a:srgbClr val="313131"/>
                </a:solidFill>
              </a:rPr>
              <a:t>5</a:t>
            </a:r>
          </a:p>
        </p:txBody>
      </p:sp>
      <p:sp>
        <p:nvSpPr>
          <p:cNvPr id="26" name="TextBox 25">
            <a:extLst>
              <a:ext uri="{FF2B5EF4-FFF2-40B4-BE49-F238E27FC236}">
                <a16:creationId xmlns:a16="http://schemas.microsoft.com/office/drawing/2014/main" id="{3D5876F7-E4CA-DCF3-E686-0658178E0258}"/>
              </a:ext>
            </a:extLst>
          </p:cNvPr>
          <p:cNvSpPr txBox="1"/>
          <p:nvPr/>
        </p:nvSpPr>
        <p:spPr>
          <a:xfrm>
            <a:off x="5055869" y="2306918"/>
            <a:ext cx="979739" cy="215444"/>
          </a:xfrm>
          <a:prstGeom prst="rect">
            <a:avLst/>
          </a:prstGeom>
          <a:noFill/>
        </p:spPr>
        <p:txBody>
          <a:bodyPr wrap="square" lIns="0" tIns="0" rIns="0" bIns="0" rtlCol="0">
            <a:spAutoFit/>
          </a:bodyPr>
          <a:lstStyle/>
          <a:p>
            <a:pPr>
              <a:spcBef>
                <a:spcPts val="600"/>
              </a:spcBef>
              <a:buSzPct val="100000"/>
            </a:pPr>
            <a:r>
              <a:rPr lang="en-US" sz="1400" b="1">
                <a:solidFill>
                  <a:srgbClr val="313131"/>
                </a:solidFill>
              </a:rPr>
              <a:t>11</a:t>
            </a:r>
          </a:p>
        </p:txBody>
      </p:sp>
      <p:sp>
        <p:nvSpPr>
          <p:cNvPr id="34" name="TextBox 33">
            <a:extLst>
              <a:ext uri="{FF2B5EF4-FFF2-40B4-BE49-F238E27FC236}">
                <a16:creationId xmlns:a16="http://schemas.microsoft.com/office/drawing/2014/main" id="{3CB6528F-8774-4128-96CB-BE2E59C50286}"/>
              </a:ext>
            </a:extLst>
          </p:cNvPr>
          <p:cNvSpPr txBox="1"/>
          <p:nvPr/>
        </p:nvSpPr>
        <p:spPr>
          <a:xfrm>
            <a:off x="5055869" y="2852740"/>
            <a:ext cx="979739" cy="215444"/>
          </a:xfrm>
          <a:prstGeom prst="rect">
            <a:avLst/>
          </a:prstGeom>
          <a:noFill/>
        </p:spPr>
        <p:txBody>
          <a:bodyPr wrap="square" lIns="0" tIns="0" rIns="0" bIns="0" rtlCol="0">
            <a:spAutoFit/>
          </a:bodyPr>
          <a:lstStyle/>
          <a:p>
            <a:pPr>
              <a:spcBef>
                <a:spcPts val="600"/>
              </a:spcBef>
              <a:buSzPct val="100000"/>
            </a:pPr>
            <a:r>
              <a:rPr lang="en-US" sz="1400" b="1">
                <a:solidFill>
                  <a:srgbClr val="313131"/>
                </a:solidFill>
              </a:rPr>
              <a:t>15</a:t>
            </a:r>
          </a:p>
        </p:txBody>
      </p:sp>
      <p:sp>
        <p:nvSpPr>
          <p:cNvPr id="35" name="TextBox 34">
            <a:extLst>
              <a:ext uri="{FF2B5EF4-FFF2-40B4-BE49-F238E27FC236}">
                <a16:creationId xmlns:a16="http://schemas.microsoft.com/office/drawing/2014/main" id="{532D1839-B007-64CE-BD40-60F67060CA20}"/>
              </a:ext>
            </a:extLst>
          </p:cNvPr>
          <p:cNvSpPr txBox="1"/>
          <p:nvPr/>
        </p:nvSpPr>
        <p:spPr>
          <a:xfrm>
            <a:off x="5055868" y="3456858"/>
            <a:ext cx="979739" cy="215444"/>
          </a:xfrm>
          <a:prstGeom prst="rect">
            <a:avLst/>
          </a:prstGeom>
          <a:noFill/>
        </p:spPr>
        <p:txBody>
          <a:bodyPr wrap="square" lIns="0" tIns="0" rIns="0" bIns="0" rtlCol="0">
            <a:spAutoFit/>
          </a:bodyPr>
          <a:lstStyle/>
          <a:p>
            <a:pPr>
              <a:spcBef>
                <a:spcPts val="600"/>
              </a:spcBef>
              <a:buSzPct val="100000"/>
            </a:pPr>
            <a:r>
              <a:rPr lang="en-US" sz="1400" b="1">
                <a:solidFill>
                  <a:srgbClr val="313131"/>
                </a:solidFill>
              </a:rPr>
              <a:t>17</a:t>
            </a:r>
          </a:p>
        </p:txBody>
      </p:sp>
      <p:sp>
        <p:nvSpPr>
          <p:cNvPr id="36" name="TextBox 35">
            <a:extLst>
              <a:ext uri="{FF2B5EF4-FFF2-40B4-BE49-F238E27FC236}">
                <a16:creationId xmlns:a16="http://schemas.microsoft.com/office/drawing/2014/main" id="{CE0D819B-0185-89FD-092C-3C474F0E5BA9}"/>
              </a:ext>
            </a:extLst>
          </p:cNvPr>
          <p:cNvSpPr txBox="1"/>
          <p:nvPr/>
        </p:nvSpPr>
        <p:spPr>
          <a:xfrm>
            <a:off x="5055867" y="4099220"/>
            <a:ext cx="979739" cy="215444"/>
          </a:xfrm>
          <a:prstGeom prst="rect">
            <a:avLst/>
          </a:prstGeom>
          <a:noFill/>
        </p:spPr>
        <p:txBody>
          <a:bodyPr wrap="square" lIns="0" tIns="0" rIns="0" bIns="0" rtlCol="0">
            <a:spAutoFit/>
          </a:bodyPr>
          <a:lstStyle/>
          <a:p>
            <a:pPr>
              <a:spcBef>
                <a:spcPts val="600"/>
              </a:spcBef>
              <a:buSzPct val="100000"/>
            </a:pPr>
            <a:r>
              <a:rPr lang="en-US" sz="1400" b="1">
                <a:solidFill>
                  <a:srgbClr val="313131"/>
                </a:solidFill>
              </a:rPr>
              <a:t>22</a:t>
            </a:r>
          </a:p>
        </p:txBody>
      </p:sp>
      <p:sp>
        <p:nvSpPr>
          <p:cNvPr id="37" name="TextBox 36">
            <a:extLst>
              <a:ext uri="{FF2B5EF4-FFF2-40B4-BE49-F238E27FC236}">
                <a16:creationId xmlns:a16="http://schemas.microsoft.com/office/drawing/2014/main" id="{DF9BC0D1-894E-0C1D-8E54-62D11AA15DBE}"/>
              </a:ext>
            </a:extLst>
          </p:cNvPr>
          <p:cNvSpPr txBox="1"/>
          <p:nvPr/>
        </p:nvSpPr>
        <p:spPr>
          <a:xfrm>
            <a:off x="5055866" y="4673154"/>
            <a:ext cx="979739" cy="215444"/>
          </a:xfrm>
          <a:prstGeom prst="rect">
            <a:avLst/>
          </a:prstGeom>
          <a:noFill/>
        </p:spPr>
        <p:txBody>
          <a:bodyPr wrap="square" lIns="0" tIns="0" rIns="0" bIns="0" rtlCol="0">
            <a:spAutoFit/>
          </a:bodyPr>
          <a:lstStyle/>
          <a:p>
            <a:pPr>
              <a:spcBef>
                <a:spcPts val="600"/>
              </a:spcBef>
              <a:buSzPct val="100000"/>
            </a:pPr>
            <a:r>
              <a:rPr lang="en-US" sz="1400" b="1">
                <a:solidFill>
                  <a:srgbClr val="313131"/>
                </a:solidFill>
              </a:rPr>
              <a:t>27</a:t>
            </a:r>
          </a:p>
        </p:txBody>
      </p:sp>
      <p:sp>
        <p:nvSpPr>
          <p:cNvPr id="38" name="TextBox 37">
            <a:extLst>
              <a:ext uri="{FF2B5EF4-FFF2-40B4-BE49-F238E27FC236}">
                <a16:creationId xmlns:a16="http://schemas.microsoft.com/office/drawing/2014/main" id="{1A9DD2F0-9A4A-A06C-BD55-9A31D6C42142}"/>
              </a:ext>
            </a:extLst>
          </p:cNvPr>
          <p:cNvSpPr txBox="1"/>
          <p:nvPr/>
        </p:nvSpPr>
        <p:spPr>
          <a:xfrm>
            <a:off x="5023912" y="5510817"/>
            <a:ext cx="979739" cy="215444"/>
          </a:xfrm>
          <a:prstGeom prst="rect">
            <a:avLst/>
          </a:prstGeom>
          <a:noFill/>
        </p:spPr>
        <p:txBody>
          <a:bodyPr wrap="square" lIns="0" tIns="0" rIns="0" bIns="0" rtlCol="0">
            <a:spAutoFit/>
          </a:bodyPr>
          <a:lstStyle/>
          <a:p>
            <a:pPr>
              <a:spcBef>
                <a:spcPts val="600"/>
              </a:spcBef>
              <a:buSzPct val="100000"/>
            </a:pPr>
            <a:r>
              <a:rPr lang="en-US" sz="1400" b="1">
                <a:solidFill>
                  <a:srgbClr val="313131"/>
                </a:solidFill>
              </a:rPr>
              <a:t>30</a:t>
            </a:r>
          </a:p>
        </p:txBody>
      </p:sp>
      <p:sp>
        <p:nvSpPr>
          <p:cNvPr id="21" name="TextBox 20">
            <a:extLst>
              <a:ext uri="{FF2B5EF4-FFF2-40B4-BE49-F238E27FC236}">
                <a16:creationId xmlns:a16="http://schemas.microsoft.com/office/drawing/2014/main" id="{1359C57D-0C20-464A-E1BB-7029E75DF04F}"/>
              </a:ext>
            </a:extLst>
          </p:cNvPr>
          <p:cNvSpPr txBox="1"/>
          <p:nvPr/>
        </p:nvSpPr>
        <p:spPr>
          <a:xfrm>
            <a:off x="342490" y="5741088"/>
            <a:ext cx="4879340" cy="215444"/>
          </a:xfrm>
          <a:prstGeom prst="rect">
            <a:avLst/>
          </a:prstGeom>
          <a:noFill/>
        </p:spPr>
        <p:txBody>
          <a:bodyPr wrap="square" lIns="0" tIns="0" rIns="0" bIns="0" anchor="t">
            <a:spAutoFit/>
          </a:bodyPr>
          <a:lstStyle/>
          <a:p>
            <a:r>
              <a:rPr lang="en-US" sz="1400"/>
              <a:t>Key tips for confirming font</a:t>
            </a:r>
          </a:p>
        </p:txBody>
      </p:sp>
      <p:sp>
        <p:nvSpPr>
          <p:cNvPr id="39" name="TextBox 38">
            <a:extLst>
              <a:ext uri="{FF2B5EF4-FFF2-40B4-BE49-F238E27FC236}">
                <a16:creationId xmlns:a16="http://schemas.microsoft.com/office/drawing/2014/main" id="{70A5C563-EF7D-5A37-52D7-790564FFE8BC}"/>
              </a:ext>
            </a:extLst>
          </p:cNvPr>
          <p:cNvSpPr txBox="1"/>
          <p:nvPr/>
        </p:nvSpPr>
        <p:spPr>
          <a:xfrm>
            <a:off x="5031627" y="5725403"/>
            <a:ext cx="979739" cy="215444"/>
          </a:xfrm>
          <a:prstGeom prst="rect">
            <a:avLst/>
          </a:prstGeom>
          <a:noFill/>
        </p:spPr>
        <p:txBody>
          <a:bodyPr wrap="square" lIns="0" tIns="0" rIns="0" bIns="0" rtlCol="0">
            <a:spAutoFit/>
          </a:bodyPr>
          <a:lstStyle/>
          <a:p>
            <a:pPr>
              <a:spcBef>
                <a:spcPts val="600"/>
              </a:spcBef>
              <a:buSzPct val="100000"/>
            </a:pPr>
            <a:r>
              <a:rPr lang="en-US" sz="1400" b="1">
                <a:solidFill>
                  <a:srgbClr val="313131"/>
                </a:solidFill>
              </a:rPr>
              <a:t>32</a:t>
            </a:r>
          </a:p>
        </p:txBody>
      </p:sp>
    </p:spTree>
    <p:extLst>
      <p:ext uri="{BB962C8B-B14F-4D97-AF65-F5344CB8AC3E}">
        <p14:creationId xmlns:p14="http://schemas.microsoft.com/office/powerpoint/2010/main" val="23259556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68067-CC40-8370-F235-955182AE63C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ED35F6-5C6D-F7A6-E4B3-9F659C27192D}"/>
              </a:ext>
            </a:extLst>
          </p:cNvPr>
          <p:cNvPicPr>
            <a:picLocks noGrp="1" noRot="1" noChangeAspect="1" noMove="1" noResize="1" noEditPoints="1" noAdjustHandles="1" noChangeArrowheads="1" noChangeShapeType="1" noCrop="1"/>
          </p:cNvPicPr>
          <p:nvPr/>
        </p:nvPicPr>
        <p:blipFill>
          <a:blip r:embed="rId2"/>
          <a:srcRect l="41970" t="13065" r="10123" b="18400"/>
          <a:stretch>
            <a:fillRect/>
          </a:stretch>
        </p:blipFill>
        <p:spPr>
          <a:xfrm>
            <a:off x="0" y="-1"/>
            <a:ext cx="4447671" cy="6362701"/>
          </a:xfrm>
          <a:prstGeom prst="rect">
            <a:avLst/>
          </a:prstGeom>
        </p:spPr>
      </p:pic>
      <p:sp>
        <p:nvSpPr>
          <p:cNvPr id="10" name="Title 3">
            <a:extLst>
              <a:ext uri="{FF2B5EF4-FFF2-40B4-BE49-F238E27FC236}">
                <a16:creationId xmlns:a16="http://schemas.microsoft.com/office/drawing/2014/main" id="{AA314271-1984-C728-BFCF-27E682D53434}"/>
              </a:ext>
            </a:extLst>
          </p:cNvPr>
          <p:cNvSpPr txBox="1">
            <a:spLocks noGrp="1" noRot="1" noMove="1" noResize="1" noEditPoints="1" noAdjustHandles="1" noChangeArrowheads="1" noChangeShapeType="1"/>
          </p:cNvSpPr>
          <p:nvPr/>
        </p:nvSpPr>
        <p:spPr bwMode="gray">
          <a:xfrm>
            <a:off x="4447671" y="2804403"/>
            <a:ext cx="4491924" cy="628904"/>
          </a:xfrm>
          <a:prstGeom prst="rect">
            <a:avLst/>
          </a:prstGeom>
        </p:spPr>
        <p:txBody>
          <a:bodyPr vert="horz" lIns="0" tIns="0" rIns="0" bIns="0" rtlCol="0" anchor="b" anchorCtr="0">
            <a:no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4500">
                <a:solidFill>
                  <a:srgbClr val="00A3E0"/>
                </a:solidFill>
              </a:rPr>
              <a:t>Imagery</a:t>
            </a:r>
          </a:p>
        </p:txBody>
      </p:sp>
      <p:cxnSp>
        <p:nvCxnSpPr>
          <p:cNvPr id="12" name="Straight Connector 11">
            <a:extLst>
              <a:ext uri="{FF2B5EF4-FFF2-40B4-BE49-F238E27FC236}">
                <a16:creationId xmlns:a16="http://schemas.microsoft.com/office/drawing/2014/main" id="{F8F19F72-C43E-BC9A-3518-E329030C0E7D}"/>
              </a:ext>
            </a:extLst>
          </p:cNvPr>
          <p:cNvCxnSpPr>
            <a:cxnSpLocks noGrp="1" noRot="1" noMove="1" noResize="1" noEditPoints="1" noAdjustHandles="1" noChangeArrowheads="1" noChangeShapeType="1"/>
          </p:cNvCxnSpPr>
          <p:nvPr/>
        </p:nvCxnSpPr>
        <p:spPr>
          <a:xfrm>
            <a:off x="4447671" y="3693390"/>
            <a:ext cx="2080451" cy="0"/>
          </a:xfrm>
          <a:prstGeom prst="line">
            <a:avLst/>
          </a:prstGeom>
          <a:ln w="19050">
            <a:solidFill>
              <a:srgbClr val="00A3E0"/>
            </a:solidFill>
            <a:tailEnd type="oval"/>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AF502C91-61AE-5DF8-B850-419EE098D76E}"/>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3650143" y="1866900"/>
            <a:ext cx="409575" cy="476250"/>
          </a:xfrm>
          <a:prstGeom prst="rect">
            <a:avLst/>
          </a:prstGeom>
        </p:spPr>
      </p:pic>
      <p:sp>
        <p:nvSpPr>
          <p:cNvPr id="22" name="Freeform: Shape 21">
            <a:extLst>
              <a:ext uri="{FF2B5EF4-FFF2-40B4-BE49-F238E27FC236}">
                <a16:creationId xmlns:a16="http://schemas.microsoft.com/office/drawing/2014/main" id="{2D1D0B4D-7519-2737-345A-E01B852B4743}"/>
              </a:ext>
            </a:extLst>
          </p:cNvPr>
          <p:cNvSpPr>
            <a:spLocks noGrp="1" noRot="1" noMove="1" noResize="1" noEditPoints="1" noAdjustHandles="1" noChangeArrowheads="1" noChangeShapeType="1"/>
          </p:cNvSpPr>
          <p:nvPr/>
        </p:nvSpPr>
        <p:spPr>
          <a:xfrm>
            <a:off x="4117821" y="2434123"/>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A9C8493-89E4-8A32-2AA9-4FD071D0DB79}"/>
              </a:ext>
            </a:extLst>
          </p:cNvPr>
          <p:cNvSpPr>
            <a:spLocks noGrp="1" noRot="1" noMove="1" noResize="1" noEditPoints="1" noAdjustHandles="1" noChangeArrowheads="1" noChangeShapeType="1"/>
          </p:cNvSpPr>
          <p:nvPr/>
        </p:nvSpPr>
        <p:spPr>
          <a:xfrm>
            <a:off x="4363089" y="2373024"/>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65823DB-76BD-B76D-D5EB-7B36659BCDE4}"/>
              </a:ext>
            </a:extLst>
          </p:cNvPr>
          <p:cNvSpPr>
            <a:spLocks noGrp="1" noRot="1" noMove="1" noResize="1" noEditPoints="1" noAdjustHandles="1" noChangeArrowheads="1" noChangeShapeType="1"/>
          </p:cNvSpPr>
          <p:nvPr/>
        </p:nvSpPr>
        <p:spPr>
          <a:xfrm>
            <a:off x="4202735" y="2171534"/>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045549E-1326-169D-8278-12DB9B0FB6F1}"/>
              </a:ext>
            </a:extLst>
          </p:cNvPr>
          <p:cNvSpPr>
            <a:spLocks noGrp="1" noRot="1" noMove="1" noResize="1" noEditPoints="1" noAdjustHandles="1" noChangeArrowheads="1" noChangeShapeType="1"/>
          </p:cNvSpPr>
          <p:nvPr/>
        </p:nvSpPr>
        <p:spPr>
          <a:xfrm>
            <a:off x="3091683" y="5537247"/>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211F3C1-5DBC-60AD-8517-FD0E992967DE}"/>
              </a:ext>
            </a:extLst>
          </p:cNvPr>
          <p:cNvSpPr>
            <a:spLocks noGrp="1" noRot="1" noMove="1" noResize="1" noEditPoints="1" noAdjustHandles="1" noChangeArrowheads="1" noChangeShapeType="1"/>
          </p:cNvSpPr>
          <p:nvPr/>
        </p:nvSpPr>
        <p:spPr>
          <a:xfrm>
            <a:off x="3064577" y="5836071"/>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17778B2-83D9-13D0-AFF9-A9802C86C6A3}"/>
              </a:ext>
            </a:extLst>
          </p:cNvPr>
          <p:cNvSpPr>
            <a:spLocks noGrp="1" noRot="1" noMove="1" noResize="1" noEditPoints="1" noAdjustHandles="1" noChangeArrowheads="1" noChangeShapeType="1"/>
          </p:cNvSpPr>
          <p:nvPr/>
        </p:nvSpPr>
        <p:spPr>
          <a:xfrm>
            <a:off x="3351695" y="5702675"/>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pic>
        <p:nvPicPr>
          <p:cNvPr id="28" name="Graphic 27">
            <a:extLst>
              <a:ext uri="{FF2B5EF4-FFF2-40B4-BE49-F238E27FC236}">
                <a16:creationId xmlns:a16="http://schemas.microsoft.com/office/drawing/2014/main" id="{087CCC4E-5F04-F8C1-E743-7E5D9FDEF200}"/>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2616176" y="5524500"/>
            <a:ext cx="304320" cy="353860"/>
          </a:xfrm>
          <a:prstGeom prst="rect">
            <a:avLst/>
          </a:prstGeom>
        </p:spPr>
      </p:pic>
      <p:pic>
        <p:nvPicPr>
          <p:cNvPr id="5" name="Graphic 4">
            <a:hlinkClick r:id="rId5" action="ppaction://hlinksldjump"/>
            <a:extLst>
              <a:ext uri="{FF2B5EF4-FFF2-40B4-BE49-F238E27FC236}">
                <a16:creationId xmlns:a16="http://schemas.microsoft.com/office/drawing/2014/main" id="{1C66FD5B-539C-9004-3EEA-198FE68376CC}"/>
              </a:ext>
            </a:extLst>
          </p:cNvPr>
          <p:cNvPicPr>
            <a:picLocks noGrp="1" noRot="1" noChangeAspect="1" noMove="1" noResize="1" noEditPoints="1" noAdjustHandles="1" noChangeArrowheads="1" noChangeShapeType="1" noCrop="1"/>
          </p:cNvPicPr>
          <p:nvPr/>
        </p:nvPicPr>
        <p:blipFill>
          <a:blip r:embed="rId6">
            <a:extLst>
              <a:ext uri="{96DAC541-7B7A-43D3-8B79-37D633B846F1}">
                <asvg:svgBlip xmlns:asvg="http://schemas.microsoft.com/office/drawing/2016/SVG/main" r:embed="rId7"/>
              </a:ext>
            </a:extLst>
          </a:blip>
          <a:stretch>
            <a:fillRect/>
          </a:stretch>
        </p:blipFill>
        <p:spPr>
          <a:xfrm>
            <a:off x="11379200" y="309880"/>
            <a:ext cx="469900" cy="469900"/>
          </a:xfrm>
          <a:prstGeom prst="rect">
            <a:avLst/>
          </a:prstGeom>
        </p:spPr>
      </p:pic>
    </p:spTree>
    <p:extLst>
      <p:ext uri="{BB962C8B-B14F-4D97-AF65-F5344CB8AC3E}">
        <p14:creationId xmlns:p14="http://schemas.microsoft.com/office/powerpoint/2010/main" val="3580164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FCD658-D12D-5793-85CE-E13E9E33418B}"/>
              </a:ext>
            </a:extLst>
          </p:cNvPr>
          <p:cNvSpPr>
            <a:spLocks noGrp="1"/>
          </p:cNvSpPr>
          <p:nvPr>
            <p:ph type="body" sz="quarter" idx="13"/>
          </p:nvPr>
        </p:nvSpPr>
        <p:spPr>
          <a:xfrm>
            <a:off x="383843" y="732291"/>
            <a:ext cx="11506200" cy="757255"/>
          </a:xfrm>
        </p:spPr>
        <p:txBody>
          <a:bodyPr/>
          <a:lstStyle/>
          <a:p>
            <a:r>
              <a:rPr lang="en-US">
                <a:latin typeface="Aptos" panose="020B0004020202020204" pitchFamily="34" charset="0"/>
              </a:rPr>
              <a:t>Standard imagery and wordmark</a:t>
            </a:r>
          </a:p>
          <a:p>
            <a:endParaRPr lang="en-US">
              <a:latin typeface="Aptos" panose="020B0004020202020204" pitchFamily="34" charset="0"/>
            </a:endParaRPr>
          </a:p>
        </p:txBody>
      </p:sp>
      <p:sp>
        <p:nvSpPr>
          <p:cNvPr id="11" name="Text Placeholder 10">
            <a:extLst>
              <a:ext uri="{FF2B5EF4-FFF2-40B4-BE49-F238E27FC236}">
                <a16:creationId xmlns:a16="http://schemas.microsoft.com/office/drawing/2014/main" id="{B1EB01E2-DBB5-89FA-67BF-D9FD56E08F76}"/>
              </a:ext>
            </a:extLst>
          </p:cNvPr>
          <p:cNvSpPr txBox="1">
            <a:spLocks/>
          </p:cNvSpPr>
          <p:nvPr/>
        </p:nvSpPr>
        <p:spPr>
          <a:xfrm>
            <a:off x="383843" y="3823983"/>
            <a:ext cx="3566160" cy="861774"/>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lIns="0" tIns="0" rIns="0" bIns="0" anchor="t">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nSpc>
                <a:spcPct val="100000"/>
              </a:lnSpc>
              <a:defRPr/>
            </a:pPr>
            <a:r>
              <a:rPr lang="en-US" sz="1400">
                <a:latin typeface="Aptos"/>
                <a:ea typeface="Open Sans"/>
                <a:cs typeface="Open Sans"/>
              </a:rPr>
              <a:t>This image (or circular motif) establishes brand identity for GFS. It should be the primary image used for client-facing and/or internal GFS communications. </a:t>
            </a:r>
          </a:p>
        </p:txBody>
      </p:sp>
      <p:sp>
        <p:nvSpPr>
          <p:cNvPr id="13" name="Text Placeholder 10">
            <a:extLst>
              <a:ext uri="{FF2B5EF4-FFF2-40B4-BE49-F238E27FC236}">
                <a16:creationId xmlns:a16="http://schemas.microsoft.com/office/drawing/2014/main" id="{2AC048A8-86A8-3E9A-3D2D-F0389223D6D7}"/>
              </a:ext>
            </a:extLst>
          </p:cNvPr>
          <p:cNvSpPr txBox="1">
            <a:spLocks/>
          </p:cNvSpPr>
          <p:nvPr/>
        </p:nvSpPr>
        <p:spPr>
          <a:xfrm>
            <a:off x="4265930" y="3810976"/>
            <a:ext cx="3685540" cy="1077218"/>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lIns="0" tIns="0" rIns="0" bIns="0" anchor="t">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nSpc>
                <a:spcPct val="100000"/>
              </a:lnSpc>
              <a:defRPr/>
            </a:pPr>
            <a:r>
              <a:rPr lang="en-US" sz="1400">
                <a:latin typeface="Aptos"/>
                <a:ea typeface="Open Sans"/>
                <a:cs typeface="Open Sans"/>
              </a:rPr>
              <a:t>This image is an expansion of the GFS primary image. It incorporates the four strategic goals that highlight our core principles and brand identity. It can be used as an alternative option for GFS email communications.</a:t>
            </a:r>
            <a:endParaRPr lang="uk-UA" sz="1400">
              <a:latin typeface="Aptos"/>
              <a:ea typeface="Open Sans"/>
              <a:cs typeface="Open Sans"/>
            </a:endParaRPr>
          </a:p>
        </p:txBody>
      </p:sp>
      <p:sp>
        <p:nvSpPr>
          <p:cNvPr id="15" name="Text Placeholder 10">
            <a:extLst>
              <a:ext uri="{FF2B5EF4-FFF2-40B4-BE49-F238E27FC236}">
                <a16:creationId xmlns:a16="http://schemas.microsoft.com/office/drawing/2014/main" id="{CA9213BD-79CA-F811-70F7-C51F7ED8DFDB}"/>
              </a:ext>
            </a:extLst>
          </p:cNvPr>
          <p:cNvSpPr txBox="1">
            <a:spLocks/>
          </p:cNvSpPr>
          <p:nvPr/>
        </p:nvSpPr>
        <p:spPr>
          <a:xfrm>
            <a:off x="8128667" y="3810976"/>
            <a:ext cx="3712280" cy="861774"/>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nSpc>
                <a:spcPct val="100000"/>
              </a:lnSpc>
              <a:defRPr/>
            </a:pPr>
            <a:r>
              <a:rPr lang="en-US" sz="1400">
                <a:latin typeface="Aptos" panose="020B0004020202020204" pitchFamily="34" charset="0"/>
                <a:ea typeface="Open Sans" panose="020B0606030504020204" pitchFamily="34" charset="0"/>
                <a:cs typeface="Open Sans" panose="020B0606030504020204" pitchFamily="34" charset="0"/>
              </a:rPr>
              <a:t>The wordmark is used to establish brand identity for the SWIFT platform and can be utilized with the GFS imagery or as a standalone for SWIFT collateral and deliverables.</a:t>
            </a:r>
          </a:p>
        </p:txBody>
      </p:sp>
      <p:pic>
        <p:nvPicPr>
          <p:cNvPr id="16" name="Picture 15" descr="A logo of a planet earth with a star around it&#10;&#10;AI-generated content may be incorrect.">
            <a:extLst>
              <a:ext uri="{FF2B5EF4-FFF2-40B4-BE49-F238E27FC236}">
                <a16:creationId xmlns:a16="http://schemas.microsoft.com/office/drawing/2014/main" id="{6E104249-17B4-7F26-A0EB-45B8B32455CB}"/>
              </a:ext>
            </a:extLst>
          </p:cNvPr>
          <p:cNvPicPr>
            <a:picLocks noGrp="1" noRot="1" noChangeAspect="1" noMove="1" noResize="1" noEditPoints="1" noAdjustHandles="1" noChangeArrowheads="1" noChangeShapeType="1" noCrop="1"/>
          </p:cNvPicPr>
          <p:nvPr/>
        </p:nvPicPr>
        <p:blipFill>
          <a:blip r:embed="rId2"/>
          <a:srcRect l="16060" t="16121" r="9236" b="14052"/>
          <a:stretch>
            <a:fillRect/>
          </a:stretch>
        </p:blipFill>
        <p:spPr>
          <a:xfrm>
            <a:off x="1197580" y="905362"/>
            <a:ext cx="2368562" cy="2213938"/>
          </a:xfrm>
          <a:prstGeom prst="rect">
            <a:avLst/>
          </a:prstGeom>
        </p:spPr>
      </p:pic>
      <p:pic>
        <p:nvPicPr>
          <p:cNvPr id="17" name="Picture 16">
            <a:extLst>
              <a:ext uri="{FF2B5EF4-FFF2-40B4-BE49-F238E27FC236}">
                <a16:creationId xmlns:a16="http://schemas.microsoft.com/office/drawing/2014/main" id="{2AD21E6A-6C5C-1396-8072-375880986A7B}"/>
              </a:ext>
            </a:extLst>
          </p:cNvPr>
          <p:cNvPicPr>
            <a:picLocks noGrp="1" noRot="1" noChangeAspect="1" noMove="1" noResize="1" noEditPoints="1" noAdjustHandles="1" noChangeArrowheads="1" noChangeShapeType="1" noCrop="1"/>
          </p:cNvPicPr>
          <p:nvPr/>
        </p:nvPicPr>
        <p:blipFill>
          <a:blip r:embed="rId3"/>
          <a:srcRect l="2362" r="2362"/>
          <a:stretch/>
        </p:blipFill>
        <p:spPr>
          <a:xfrm>
            <a:off x="4800568" y="647228"/>
            <a:ext cx="2914610" cy="3059118"/>
          </a:xfrm>
          <a:prstGeom prst="rect">
            <a:avLst/>
          </a:prstGeom>
        </p:spPr>
      </p:pic>
      <p:pic>
        <p:nvPicPr>
          <p:cNvPr id="18" name="Picture 17" descr="A picture containing text, clipart, vector graphics, sign&#10;&#10;Description automatically generated">
            <a:extLst>
              <a:ext uri="{FF2B5EF4-FFF2-40B4-BE49-F238E27FC236}">
                <a16:creationId xmlns:a16="http://schemas.microsoft.com/office/drawing/2014/main" id="{E06616AF-DC22-A6DC-3C66-3BF68AC68127}"/>
              </a:ext>
            </a:extLst>
          </p:cNvPr>
          <p:cNvPicPr>
            <a:picLocks noGrp="1" noRot="1" noChangeAspect="1" noMove="1" noResize="1" noEditPoints="1" noAdjustHandles="1" noChangeArrowheads="1" noChangeShapeType="1" noCrop="1"/>
          </p:cNvPicPr>
          <p:nvPr/>
        </p:nvPicPr>
        <p:blipFill>
          <a:blip r:embed="rId4"/>
          <a:stretch>
            <a:fillRect/>
          </a:stretch>
        </p:blipFill>
        <p:spPr>
          <a:xfrm>
            <a:off x="8827871" y="1636321"/>
            <a:ext cx="2340612" cy="945607"/>
          </a:xfrm>
          <a:prstGeom prst="rect">
            <a:avLst/>
          </a:prstGeom>
        </p:spPr>
      </p:pic>
      <p:sp>
        <p:nvSpPr>
          <p:cNvPr id="4" name="Rectangle 3">
            <a:extLst>
              <a:ext uri="{FF2B5EF4-FFF2-40B4-BE49-F238E27FC236}">
                <a16:creationId xmlns:a16="http://schemas.microsoft.com/office/drawing/2014/main" id="{4101BE5C-FE0D-D5E5-DD75-0623223184C9}"/>
              </a:ext>
            </a:extLst>
          </p:cNvPr>
          <p:cNvSpPr/>
          <p:nvPr/>
        </p:nvSpPr>
        <p:spPr bwMode="gray">
          <a:xfrm>
            <a:off x="385191" y="3423848"/>
            <a:ext cx="3566160" cy="335662"/>
          </a:xfrm>
          <a:prstGeom prst="rect">
            <a:avLst/>
          </a:prstGeom>
          <a:solidFill>
            <a:schemeClr val="tx1"/>
          </a:solidFill>
          <a:ln w="19050" algn="ctr">
            <a:noFill/>
            <a:miter lim="800000"/>
            <a:headEnd/>
            <a:tailEnd/>
          </a:ln>
        </p:spPr>
        <p:txBody>
          <a:bodyPr wrap="square" lIns="91440" tIns="88900" rIns="88900" bIns="88900" rtlCol="0" anchor="ctr"/>
          <a:lstStyle/>
          <a:p>
            <a:pPr algn="ctr">
              <a:lnSpc>
                <a:spcPct val="106000"/>
              </a:lnSpc>
              <a:buFont typeface="Wingdings 2" pitchFamily="18" charset="2"/>
              <a:buNone/>
            </a:pPr>
            <a:r>
              <a:rPr lang="en-US" sz="1600" b="1">
                <a:solidFill>
                  <a:schemeClr val="bg1"/>
                </a:solidFill>
                <a:latin typeface="Aptos" panose="020B0004020202020204" pitchFamily="34" charset="0"/>
                <a:ea typeface="Verdana" panose="020B0604030504040204" pitchFamily="34" charset="0"/>
                <a:cs typeface="Calibri" panose="020F0502020204030204" pitchFamily="34" charset="0"/>
              </a:rPr>
              <a:t>HERO IMAGE </a:t>
            </a:r>
            <a:r>
              <a:rPr lang="en-US" sz="1600">
                <a:solidFill>
                  <a:schemeClr val="bg1"/>
                </a:solidFill>
                <a:latin typeface="Aptos" panose="020B0004020202020204" pitchFamily="34" charset="0"/>
                <a:ea typeface="Verdana" panose="020B0604030504040204" pitchFamily="34" charset="0"/>
                <a:cs typeface="Calibri" panose="020F0502020204030204" pitchFamily="34" charset="0"/>
              </a:rPr>
              <a:t>(‘SYMBOL OF GFS’)</a:t>
            </a:r>
          </a:p>
        </p:txBody>
      </p:sp>
      <p:sp>
        <p:nvSpPr>
          <p:cNvPr id="5" name="Rectangle 4">
            <a:extLst>
              <a:ext uri="{FF2B5EF4-FFF2-40B4-BE49-F238E27FC236}">
                <a16:creationId xmlns:a16="http://schemas.microsoft.com/office/drawing/2014/main" id="{D1BB6DDC-28E1-C6BA-8DC2-09BB587708B6}"/>
              </a:ext>
            </a:extLst>
          </p:cNvPr>
          <p:cNvSpPr/>
          <p:nvPr/>
        </p:nvSpPr>
        <p:spPr bwMode="gray">
          <a:xfrm>
            <a:off x="4265930" y="3411569"/>
            <a:ext cx="3592900" cy="335662"/>
          </a:xfrm>
          <a:prstGeom prst="rect">
            <a:avLst/>
          </a:prstGeom>
          <a:solidFill>
            <a:schemeClr val="tx1"/>
          </a:solidFill>
          <a:ln w="19050" algn="ctr">
            <a:noFill/>
            <a:miter lim="800000"/>
            <a:headEnd/>
            <a:tailEnd/>
          </a:ln>
        </p:spPr>
        <p:txBody>
          <a:bodyPr wrap="square" lIns="91440" tIns="88900" rIns="88900" bIns="88900" rtlCol="0" anchor="ctr"/>
          <a:lstStyle/>
          <a:p>
            <a:pPr algn="ctr">
              <a:lnSpc>
                <a:spcPct val="106000"/>
              </a:lnSpc>
              <a:buFont typeface="Wingdings 2" pitchFamily="18" charset="2"/>
              <a:buNone/>
            </a:pPr>
            <a:r>
              <a:rPr lang="en-US" sz="1600" b="1">
                <a:solidFill>
                  <a:schemeClr val="bg1"/>
                </a:solidFill>
                <a:latin typeface="Aptos" panose="020B0004020202020204" pitchFamily="34" charset="0"/>
                <a:ea typeface="Verdana" panose="020B0604030504040204" pitchFamily="34" charset="0"/>
                <a:cs typeface="Calibri" panose="020F0502020204030204" pitchFamily="34" charset="0"/>
              </a:rPr>
              <a:t>EXPANDED HERO IMAGE</a:t>
            </a:r>
            <a:endParaRPr lang="en-US" sz="1600">
              <a:solidFill>
                <a:schemeClr val="bg1"/>
              </a:solidFill>
              <a:latin typeface="Aptos" panose="020B0004020202020204" pitchFamily="34" charset="0"/>
              <a:ea typeface="Verdana" panose="020B060403050404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28E1D96D-6468-CB34-2ECE-C64BE3467AA4}"/>
              </a:ext>
            </a:extLst>
          </p:cNvPr>
          <p:cNvSpPr/>
          <p:nvPr/>
        </p:nvSpPr>
        <p:spPr bwMode="gray">
          <a:xfrm>
            <a:off x="8128667" y="3411569"/>
            <a:ext cx="3678142" cy="335662"/>
          </a:xfrm>
          <a:prstGeom prst="rect">
            <a:avLst/>
          </a:prstGeom>
          <a:solidFill>
            <a:schemeClr val="tx1"/>
          </a:solidFill>
          <a:ln w="19050" algn="ctr">
            <a:noFill/>
            <a:miter lim="800000"/>
            <a:headEnd/>
            <a:tailEnd/>
          </a:ln>
        </p:spPr>
        <p:txBody>
          <a:bodyPr wrap="square" lIns="91440" tIns="88900" rIns="88900" bIns="88900" rtlCol="0" anchor="ctr"/>
          <a:lstStyle/>
          <a:p>
            <a:pPr algn="ctr">
              <a:lnSpc>
                <a:spcPct val="106000"/>
              </a:lnSpc>
              <a:buFont typeface="Wingdings 2" pitchFamily="18" charset="2"/>
              <a:buNone/>
            </a:pPr>
            <a:r>
              <a:rPr lang="en-US" sz="1600" b="1">
                <a:solidFill>
                  <a:schemeClr val="bg1"/>
                </a:solidFill>
                <a:latin typeface="Aptos" panose="020B0004020202020204" pitchFamily="34" charset="0"/>
                <a:ea typeface="Verdana" panose="020B0604030504040204" pitchFamily="34" charset="0"/>
                <a:cs typeface="Calibri" panose="020F0502020204030204" pitchFamily="34" charset="0"/>
              </a:rPr>
              <a:t>WORDMARK (</a:t>
            </a:r>
            <a:r>
              <a:rPr lang="en-US" sz="1600">
                <a:solidFill>
                  <a:schemeClr val="bg1"/>
                </a:solidFill>
                <a:latin typeface="Aptos" panose="020B0004020202020204" pitchFamily="34" charset="0"/>
                <a:ea typeface="Verdana" panose="020B0604030504040204" pitchFamily="34" charset="0"/>
                <a:cs typeface="Calibri" panose="020F0502020204030204" pitchFamily="34" charset="0"/>
              </a:rPr>
              <a:t>TEXT LOGO FOR SWIFT)</a:t>
            </a:r>
          </a:p>
        </p:txBody>
      </p:sp>
      <p:sp>
        <p:nvSpPr>
          <p:cNvPr id="12" name="Rectangle 11">
            <a:extLst>
              <a:ext uri="{FF2B5EF4-FFF2-40B4-BE49-F238E27FC236}">
                <a16:creationId xmlns:a16="http://schemas.microsoft.com/office/drawing/2014/main" id="{7386A0AE-782E-E5C6-9526-8674B677B146}"/>
              </a:ext>
            </a:extLst>
          </p:cNvPr>
          <p:cNvSpPr/>
          <p:nvPr/>
        </p:nvSpPr>
        <p:spPr bwMode="gray">
          <a:xfrm>
            <a:off x="385191" y="4931300"/>
            <a:ext cx="3566160" cy="280780"/>
          </a:xfrm>
          <a:prstGeom prst="rect">
            <a:avLst/>
          </a:prstGeom>
          <a:solidFill>
            <a:srgbClr val="DA291C"/>
          </a:solidFill>
          <a:ln w="19050" algn="ctr">
            <a:noFill/>
            <a:miter lim="800000"/>
            <a:headEnd/>
            <a:tailEnd/>
          </a:ln>
        </p:spPr>
        <p:txBody>
          <a:bodyPr wrap="square" lIns="91440" tIns="88900" rIns="88900" bIns="88900" rtlCol="0" anchor="ctr"/>
          <a:lstStyle/>
          <a:p>
            <a:pPr algn="ctr">
              <a:lnSpc>
                <a:spcPct val="106000"/>
              </a:lnSpc>
              <a:buFont typeface="Wingdings 2" pitchFamily="18" charset="2"/>
              <a:buNone/>
            </a:pPr>
            <a:r>
              <a:rPr lang="en-CA" sz="1400" b="1">
                <a:solidFill>
                  <a:schemeClr val="bg1"/>
                </a:solidFill>
                <a:latin typeface="Aptos" panose="020B0004020202020204" pitchFamily="34" charset="0"/>
                <a:ea typeface="Verdana" panose="020B0604030504040204" pitchFamily="34" charset="0"/>
                <a:cs typeface="Calibri" panose="020F0502020204030204" pitchFamily="34" charset="0"/>
              </a:rPr>
              <a:t>REPLACES PREVIOUS FIREBALL IMAGE </a:t>
            </a:r>
          </a:p>
        </p:txBody>
      </p:sp>
      <p:sp>
        <p:nvSpPr>
          <p:cNvPr id="14" name="Arrow: Down 13">
            <a:extLst>
              <a:ext uri="{FF2B5EF4-FFF2-40B4-BE49-F238E27FC236}">
                <a16:creationId xmlns:a16="http://schemas.microsoft.com/office/drawing/2014/main" id="{81ECFD75-C9D3-74B4-2CFC-4A1099DC99EA}"/>
              </a:ext>
            </a:extLst>
          </p:cNvPr>
          <p:cNvSpPr/>
          <p:nvPr/>
        </p:nvSpPr>
        <p:spPr bwMode="gray">
          <a:xfrm>
            <a:off x="3757058" y="4951226"/>
            <a:ext cx="159223" cy="255181"/>
          </a:xfrm>
          <a:prstGeom prst="downArrow">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9" name="Arrow: Down 18">
            <a:extLst>
              <a:ext uri="{FF2B5EF4-FFF2-40B4-BE49-F238E27FC236}">
                <a16:creationId xmlns:a16="http://schemas.microsoft.com/office/drawing/2014/main" id="{BC306B94-4E9F-0BF8-F9F8-05AD13C6B5D0}"/>
              </a:ext>
            </a:extLst>
          </p:cNvPr>
          <p:cNvSpPr/>
          <p:nvPr/>
        </p:nvSpPr>
        <p:spPr bwMode="gray">
          <a:xfrm>
            <a:off x="437658" y="4951226"/>
            <a:ext cx="159223" cy="255181"/>
          </a:xfrm>
          <a:prstGeom prst="downArrow">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pic>
        <p:nvPicPr>
          <p:cNvPr id="20" name="Picture 19">
            <a:extLst>
              <a:ext uri="{FF2B5EF4-FFF2-40B4-BE49-F238E27FC236}">
                <a16:creationId xmlns:a16="http://schemas.microsoft.com/office/drawing/2014/main" id="{68FECEE8-9C34-14BF-75FA-BB91C3DE7685}"/>
              </a:ext>
            </a:extLst>
          </p:cNvPr>
          <p:cNvPicPr>
            <a:picLocks noGrp="1" noRot="1" noChangeAspect="1" noMove="1" noResize="1" noEditPoints="1" noAdjustHandles="1" noChangeArrowheads="1" noChangeShapeType="1" noCrop="1"/>
          </p:cNvPicPr>
          <p:nvPr/>
        </p:nvPicPr>
        <p:blipFill>
          <a:blip r:embed="rId5"/>
          <a:stretch>
            <a:fillRect/>
          </a:stretch>
        </p:blipFill>
        <p:spPr>
          <a:xfrm>
            <a:off x="2152650" y="5282441"/>
            <a:ext cx="1330548" cy="1071503"/>
          </a:xfrm>
          <a:prstGeom prst="rect">
            <a:avLst/>
          </a:prstGeom>
        </p:spPr>
      </p:pic>
      <p:pic>
        <p:nvPicPr>
          <p:cNvPr id="21" name="Picture 20">
            <a:extLst>
              <a:ext uri="{FF2B5EF4-FFF2-40B4-BE49-F238E27FC236}">
                <a16:creationId xmlns:a16="http://schemas.microsoft.com/office/drawing/2014/main" id="{B840B271-077A-C84B-6709-DED810142FDF}"/>
              </a:ext>
            </a:extLst>
          </p:cNvPr>
          <p:cNvPicPr>
            <a:picLocks noGrp="1" noRot="1" noChangeAspect="1" noMove="1" noResize="1" noEditPoints="1" noAdjustHandles="1" noChangeArrowheads="1" noChangeShapeType="1" noCrop="1"/>
          </p:cNvPicPr>
          <p:nvPr/>
        </p:nvPicPr>
        <p:blipFill>
          <a:blip r:embed="rId6"/>
          <a:stretch>
            <a:fillRect/>
          </a:stretch>
        </p:blipFill>
        <p:spPr>
          <a:xfrm>
            <a:off x="744181" y="5276553"/>
            <a:ext cx="1354098" cy="1077391"/>
          </a:xfrm>
          <a:prstGeom prst="rect">
            <a:avLst/>
          </a:prstGeom>
        </p:spPr>
      </p:pic>
      <p:sp>
        <p:nvSpPr>
          <p:cNvPr id="23" name="Rectangle 22">
            <a:extLst>
              <a:ext uri="{FF2B5EF4-FFF2-40B4-BE49-F238E27FC236}">
                <a16:creationId xmlns:a16="http://schemas.microsoft.com/office/drawing/2014/main" id="{3E527C11-7CD1-B888-7230-23F1CE504794}"/>
              </a:ext>
            </a:extLst>
          </p:cNvPr>
          <p:cNvSpPr/>
          <p:nvPr/>
        </p:nvSpPr>
        <p:spPr bwMode="gray">
          <a:xfrm>
            <a:off x="4304924" y="4926275"/>
            <a:ext cx="3566160" cy="285805"/>
          </a:xfrm>
          <a:prstGeom prst="rect">
            <a:avLst/>
          </a:prstGeom>
          <a:solidFill>
            <a:srgbClr val="DA291C"/>
          </a:solidFill>
          <a:ln w="19050" algn="ctr">
            <a:noFill/>
            <a:miter lim="800000"/>
            <a:headEnd/>
            <a:tailEnd/>
          </a:ln>
        </p:spPr>
        <p:txBody>
          <a:bodyPr wrap="square" lIns="91440" tIns="88900" rIns="88900" bIns="88900" rtlCol="0" anchor="ctr"/>
          <a:lstStyle/>
          <a:p>
            <a:pPr algn="ctr">
              <a:lnSpc>
                <a:spcPct val="106000"/>
              </a:lnSpc>
              <a:buFont typeface="Wingdings 2" pitchFamily="18" charset="2"/>
              <a:buNone/>
            </a:pPr>
            <a:r>
              <a:rPr lang="en-CA" sz="1400" b="1">
                <a:solidFill>
                  <a:schemeClr val="bg1"/>
                </a:solidFill>
                <a:latin typeface="Aptos" panose="020B0004020202020204" pitchFamily="34" charset="0"/>
                <a:ea typeface="Verdana" panose="020B0604030504040204" pitchFamily="34" charset="0"/>
                <a:cs typeface="Calibri" panose="020F0502020204030204" pitchFamily="34" charset="0"/>
              </a:rPr>
              <a:t>REPLACES PREVIOUS LIGHTBULB ICON </a:t>
            </a:r>
          </a:p>
        </p:txBody>
      </p:sp>
      <p:sp>
        <p:nvSpPr>
          <p:cNvPr id="24" name="Arrow: Down 23">
            <a:extLst>
              <a:ext uri="{FF2B5EF4-FFF2-40B4-BE49-F238E27FC236}">
                <a16:creationId xmlns:a16="http://schemas.microsoft.com/office/drawing/2014/main" id="{81516947-6937-AEE6-EC1C-3F0BFA7EFEEC}"/>
              </a:ext>
            </a:extLst>
          </p:cNvPr>
          <p:cNvSpPr/>
          <p:nvPr/>
        </p:nvSpPr>
        <p:spPr bwMode="gray">
          <a:xfrm>
            <a:off x="7699607" y="4949198"/>
            <a:ext cx="159223" cy="255181"/>
          </a:xfrm>
          <a:prstGeom prst="downArrow">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5" name="Arrow: Down 24">
            <a:extLst>
              <a:ext uri="{FF2B5EF4-FFF2-40B4-BE49-F238E27FC236}">
                <a16:creationId xmlns:a16="http://schemas.microsoft.com/office/drawing/2014/main" id="{C4502402-D9C5-234F-472D-758BEAE54816}"/>
              </a:ext>
            </a:extLst>
          </p:cNvPr>
          <p:cNvSpPr/>
          <p:nvPr/>
        </p:nvSpPr>
        <p:spPr bwMode="gray">
          <a:xfrm>
            <a:off x="4335716" y="4951226"/>
            <a:ext cx="159223" cy="255181"/>
          </a:xfrm>
          <a:prstGeom prst="downArrow">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6" name="Rectangle 25">
            <a:extLst>
              <a:ext uri="{FF2B5EF4-FFF2-40B4-BE49-F238E27FC236}">
                <a16:creationId xmlns:a16="http://schemas.microsoft.com/office/drawing/2014/main" id="{8800708B-094D-AC5B-AD50-1EF57107DA71}"/>
              </a:ext>
            </a:extLst>
          </p:cNvPr>
          <p:cNvSpPr/>
          <p:nvPr/>
        </p:nvSpPr>
        <p:spPr bwMode="gray">
          <a:xfrm>
            <a:off x="8155407" y="4936746"/>
            <a:ext cx="3566160" cy="275334"/>
          </a:xfrm>
          <a:prstGeom prst="rect">
            <a:avLst/>
          </a:prstGeom>
          <a:solidFill>
            <a:srgbClr val="DA291C"/>
          </a:solidFill>
          <a:ln w="19050" algn="ctr">
            <a:noFill/>
            <a:miter lim="800000"/>
            <a:headEnd/>
            <a:tailEnd/>
          </a:ln>
        </p:spPr>
        <p:txBody>
          <a:bodyPr wrap="square" lIns="91440" tIns="88900" rIns="88900" bIns="88900" rtlCol="0" anchor="ctr"/>
          <a:lstStyle/>
          <a:p>
            <a:pPr algn="ctr">
              <a:lnSpc>
                <a:spcPct val="106000"/>
              </a:lnSpc>
              <a:buFont typeface="Wingdings 2" pitchFamily="18" charset="2"/>
              <a:buNone/>
            </a:pPr>
            <a:r>
              <a:rPr lang="en-US" sz="1300" b="1">
                <a:solidFill>
                  <a:schemeClr val="bg1"/>
                </a:solidFill>
                <a:latin typeface="Aptos" panose="020B0004020202020204" pitchFamily="34" charset="0"/>
                <a:ea typeface="Verdana" panose="020B0604030504040204" pitchFamily="34" charset="0"/>
                <a:cs typeface="Calibri" panose="020F0502020204030204" pitchFamily="34" charset="0"/>
              </a:rPr>
              <a:t>NO CHANGES, STAYS AS IS</a:t>
            </a:r>
            <a:endParaRPr lang="en-US" sz="1300">
              <a:solidFill>
                <a:schemeClr val="bg1"/>
              </a:solidFill>
              <a:latin typeface="Aptos" panose="020B0004020202020204" pitchFamily="34" charset="0"/>
              <a:ea typeface="Verdana" panose="020B0604030504040204" pitchFamily="34" charset="0"/>
              <a:cs typeface="Calibri" panose="020F0502020204030204" pitchFamily="34" charset="0"/>
            </a:endParaRPr>
          </a:p>
        </p:txBody>
      </p:sp>
      <p:pic>
        <p:nvPicPr>
          <p:cNvPr id="30" name="Picture 29">
            <a:extLst>
              <a:ext uri="{FF2B5EF4-FFF2-40B4-BE49-F238E27FC236}">
                <a16:creationId xmlns:a16="http://schemas.microsoft.com/office/drawing/2014/main" id="{2ED940D5-1C67-9CCB-F867-6608083E3DB3}"/>
              </a:ext>
            </a:extLst>
          </p:cNvPr>
          <p:cNvPicPr>
            <a:picLocks noGrp="1" noRot="1" noChangeAspect="1" noMove="1" noResize="1" noEditPoints="1" noAdjustHandles="1" noChangeArrowheads="1" noChangeShapeType="1" noCrop="1"/>
          </p:cNvPicPr>
          <p:nvPr/>
        </p:nvPicPr>
        <p:blipFill>
          <a:blip r:embed="rId7"/>
          <a:stretch>
            <a:fillRect/>
          </a:stretch>
        </p:blipFill>
        <p:spPr>
          <a:xfrm>
            <a:off x="6145144" y="5430351"/>
            <a:ext cx="1369620" cy="769787"/>
          </a:xfrm>
          <a:prstGeom prst="rect">
            <a:avLst/>
          </a:prstGeom>
        </p:spPr>
      </p:pic>
      <p:pic>
        <p:nvPicPr>
          <p:cNvPr id="32" name="Picture 31">
            <a:extLst>
              <a:ext uri="{FF2B5EF4-FFF2-40B4-BE49-F238E27FC236}">
                <a16:creationId xmlns:a16="http://schemas.microsoft.com/office/drawing/2014/main" id="{E20588C0-9E83-D19A-68D6-E8D4F7D07E16}"/>
              </a:ext>
            </a:extLst>
          </p:cNvPr>
          <p:cNvPicPr>
            <a:picLocks noGrp="1" noRot="1" noChangeAspect="1" noMove="1" noResize="1" noEditPoints="1" noAdjustHandles="1" noChangeArrowheads="1" noChangeShapeType="1" noCrop="1"/>
          </p:cNvPicPr>
          <p:nvPr/>
        </p:nvPicPr>
        <p:blipFill>
          <a:blip r:embed="rId8"/>
          <a:stretch>
            <a:fillRect/>
          </a:stretch>
        </p:blipFill>
        <p:spPr>
          <a:xfrm>
            <a:off x="4635178" y="5451025"/>
            <a:ext cx="1509966" cy="769787"/>
          </a:xfrm>
          <a:prstGeom prst="rect">
            <a:avLst/>
          </a:prstGeom>
        </p:spPr>
      </p:pic>
      <p:sp>
        <p:nvSpPr>
          <p:cNvPr id="7" name="Title 2">
            <a:extLst>
              <a:ext uri="{FF2B5EF4-FFF2-40B4-BE49-F238E27FC236}">
                <a16:creationId xmlns:a16="http://schemas.microsoft.com/office/drawing/2014/main" id="{F3AA2F65-459D-4646-23C5-4FB545BC9A55}"/>
              </a:ext>
            </a:extLst>
          </p:cNvPr>
          <p:cNvSpPr txBox="1">
            <a:spLocks/>
          </p:cNvSpPr>
          <p:nvPr/>
        </p:nvSpPr>
        <p:spPr>
          <a:xfrm>
            <a:off x="278324" y="345992"/>
            <a:ext cx="11506200" cy="342000"/>
          </a:xfrm>
          <a:prstGeom prst="rect">
            <a:avLst/>
          </a:prstGeom>
        </p:spPr>
        <p:txBody>
          <a:bodyPr lIns="91440" tIns="45720" rIns="91440" bIns="45720" anchor="t"/>
          <a:lst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r>
              <a:rPr lang="en-US">
                <a:latin typeface="+mj-lt"/>
                <a:cs typeface="Calibri"/>
              </a:rPr>
              <a:t>GFS Style Guide | </a:t>
            </a:r>
            <a:r>
              <a:rPr lang="en-US" b="1">
                <a:solidFill>
                  <a:srgbClr val="00A3E0"/>
                </a:solidFill>
                <a:latin typeface="+mj-lt"/>
                <a:cs typeface="Calibri Light"/>
              </a:rPr>
              <a:t>Brand identity</a:t>
            </a:r>
            <a:endParaRPr lang="en-US" b="1">
              <a:solidFill>
                <a:srgbClr val="00A3E0"/>
              </a:solidFill>
              <a:latin typeface="+mj-lt"/>
            </a:endParaRPr>
          </a:p>
        </p:txBody>
      </p:sp>
    </p:spTree>
    <p:extLst>
      <p:ext uri="{BB962C8B-B14F-4D97-AF65-F5344CB8AC3E}">
        <p14:creationId xmlns:p14="http://schemas.microsoft.com/office/powerpoint/2010/main" val="32347796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0F85B-1F6E-F637-C52D-2A3EF76F774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FE76D30-F15F-CB4B-E0C8-A62CD7316E01}"/>
              </a:ext>
            </a:extLst>
          </p:cNvPr>
          <p:cNvSpPr>
            <a:spLocks noGrp="1"/>
          </p:cNvSpPr>
          <p:nvPr>
            <p:ph type="body" sz="quarter" idx="13"/>
          </p:nvPr>
        </p:nvSpPr>
        <p:spPr>
          <a:xfrm>
            <a:off x="342900" y="684000"/>
            <a:ext cx="4320540" cy="363863"/>
          </a:xfrm>
        </p:spPr>
        <p:txBody>
          <a:bodyPr/>
          <a:lstStyle/>
          <a:p>
            <a:r>
              <a:rPr lang="en-US"/>
              <a:t>Purpose and usage</a:t>
            </a:r>
          </a:p>
          <a:p>
            <a:endParaRPr lang="en-US"/>
          </a:p>
        </p:txBody>
      </p:sp>
      <p:sp>
        <p:nvSpPr>
          <p:cNvPr id="3" name="Title 2">
            <a:extLst>
              <a:ext uri="{FF2B5EF4-FFF2-40B4-BE49-F238E27FC236}">
                <a16:creationId xmlns:a16="http://schemas.microsoft.com/office/drawing/2014/main" id="{5E256069-F47D-E9BD-58ED-6504FA8882BE}"/>
              </a:ext>
            </a:extLst>
          </p:cNvPr>
          <p:cNvSpPr>
            <a:spLocks noGrp="1"/>
          </p:cNvSpPr>
          <p:nvPr>
            <p:ph type="title"/>
          </p:nvPr>
        </p:nvSpPr>
        <p:spPr/>
        <p:txBody>
          <a:bodyPr/>
          <a:lstStyle/>
          <a:p>
            <a:pPr>
              <a:spcBef>
                <a:spcPct val="0"/>
              </a:spcBef>
            </a:pPr>
            <a:r>
              <a:rPr lang="en-US">
                <a:solidFill>
                  <a:schemeClr val="tx1"/>
                </a:solidFill>
                <a:cs typeface="Calibri"/>
              </a:rPr>
              <a:t>GFS Style Guide | </a:t>
            </a:r>
            <a:r>
              <a:rPr lang="en-US" b="1">
                <a:cs typeface="Calibri Light"/>
              </a:rPr>
              <a:t>Hero image</a:t>
            </a:r>
            <a:endParaRPr lang="en-US" b="0" i="0">
              <a:solidFill>
                <a:schemeClr val="tx1"/>
              </a:solidFill>
              <a:latin typeface="+mj-lt"/>
            </a:endParaRPr>
          </a:p>
        </p:txBody>
      </p:sp>
      <p:pic>
        <p:nvPicPr>
          <p:cNvPr id="16" name="Picture 15" descr="A logo of a planet earth with a star around it&#10;&#10;AI-generated content may be incorrect.">
            <a:extLst>
              <a:ext uri="{FF2B5EF4-FFF2-40B4-BE49-F238E27FC236}">
                <a16:creationId xmlns:a16="http://schemas.microsoft.com/office/drawing/2014/main" id="{D5C75320-C64B-0A7E-F925-3749D8255CA5}"/>
              </a:ext>
            </a:extLst>
          </p:cNvPr>
          <p:cNvPicPr>
            <a:picLocks noGrp="1" noRot="1" noChangeAspect="1" noMove="1" noResize="1" noEditPoints="1" noAdjustHandles="1" noChangeArrowheads="1" noChangeShapeType="1" noCrop="1"/>
          </p:cNvPicPr>
          <p:nvPr/>
        </p:nvPicPr>
        <p:blipFill>
          <a:blip r:embed="rId2"/>
          <a:srcRect l="16060" t="16121" r="9236" b="14052"/>
          <a:stretch>
            <a:fillRect/>
          </a:stretch>
        </p:blipFill>
        <p:spPr>
          <a:xfrm>
            <a:off x="541124" y="1340106"/>
            <a:ext cx="3788834" cy="3541492"/>
          </a:xfrm>
          <a:prstGeom prst="rect">
            <a:avLst/>
          </a:prstGeom>
        </p:spPr>
      </p:pic>
      <p:grpSp>
        <p:nvGrpSpPr>
          <p:cNvPr id="7" name="Group 6">
            <a:extLst>
              <a:ext uri="{FF2B5EF4-FFF2-40B4-BE49-F238E27FC236}">
                <a16:creationId xmlns:a16="http://schemas.microsoft.com/office/drawing/2014/main" id="{0ACEB45D-E9B1-6181-626D-BD87F2B7D508}"/>
              </a:ext>
            </a:extLst>
          </p:cNvPr>
          <p:cNvGrpSpPr/>
          <p:nvPr/>
        </p:nvGrpSpPr>
        <p:grpSpPr>
          <a:xfrm>
            <a:off x="5537142" y="336551"/>
            <a:ext cx="6329738" cy="2806742"/>
            <a:chOff x="5862262" y="745711"/>
            <a:chExt cx="6329738" cy="2589205"/>
          </a:xfrm>
        </p:grpSpPr>
        <p:sp>
          <p:nvSpPr>
            <p:cNvPr id="4" name="Rectangle 3">
              <a:extLst>
                <a:ext uri="{FF2B5EF4-FFF2-40B4-BE49-F238E27FC236}">
                  <a16:creationId xmlns:a16="http://schemas.microsoft.com/office/drawing/2014/main" id="{F4D5BFE2-5BF7-0150-B586-1F638F2C9EBC}"/>
                </a:ext>
              </a:extLst>
            </p:cNvPr>
            <p:cNvSpPr/>
            <p:nvPr/>
          </p:nvSpPr>
          <p:spPr bwMode="gray">
            <a:xfrm>
              <a:off x="5862262" y="1149542"/>
              <a:ext cx="6329738" cy="2185374"/>
            </a:xfrm>
            <a:prstGeom prst="rect">
              <a:avLst/>
            </a:prstGeom>
            <a:solidFill>
              <a:schemeClr val="bg1"/>
            </a:solidFill>
            <a:ln w="19050" algn="ctr">
              <a:noFill/>
              <a:miter lim="800000"/>
              <a:headEnd/>
              <a:tailEnd/>
            </a:ln>
          </p:spPr>
          <p:txBody>
            <a:bodyPr wrap="square" lIns="0" tIns="0" rIns="0" bIns="91440" rtlCol="0" anchor="t" anchorCtr="0">
              <a:spAutoFit/>
            </a:bodyPr>
            <a:lstStyle/>
            <a:p>
              <a:pPr>
                <a:lnSpc>
                  <a:spcPct val="106000"/>
                </a:lnSpc>
                <a:buFont typeface="Wingdings 2" pitchFamily="18" charset="2"/>
                <a:buNone/>
              </a:pPr>
              <a:r>
                <a:rPr lang="en-US" sz="1400">
                  <a:ea typeface="Verdana"/>
                  <a:cs typeface="Calibri"/>
                </a:rPr>
                <a:t>Our new brand imagery signals a fresh, renewed outlook for GFS as we continue to transform, innovate, and expand our global presence.</a:t>
              </a:r>
            </a:p>
            <a:p>
              <a:pPr>
                <a:lnSpc>
                  <a:spcPct val="106000"/>
                </a:lnSpc>
                <a:buFont typeface="Wingdings 2" pitchFamily="18" charset="2"/>
                <a:buNone/>
              </a:pPr>
              <a:endParaRPr lang="en-US" sz="1400">
                <a:ea typeface="Verdana" panose="020B0604030504040204" pitchFamily="34" charset="0"/>
                <a:cs typeface="Calibri" panose="020F0502020204030204" pitchFamily="34" charset="0"/>
              </a:endParaRPr>
            </a:p>
            <a:p>
              <a:pPr>
                <a:lnSpc>
                  <a:spcPct val="106000"/>
                </a:lnSpc>
                <a:buFont typeface="Wingdings 2" pitchFamily="18" charset="2"/>
                <a:buNone/>
              </a:pPr>
              <a:r>
                <a:rPr lang="en-US" sz="1400">
                  <a:ea typeface="Verdana"/>
                  <a:cs typeface="Calibri"/>
                </a:rPr>
                <a:t>The globe takes center stage, symbolizing interconnectedness to global collaboration. The five-point star represents our ongoing pursuit of  exceptional, world-class services for our clients. The infinity shape emphasizes our limitless opportunity and influence. </a:t>
              </a:r>
              <a:br>
                <a:rPr lang="en-US" sz="1400">
                  <a:ea typeface="Verdana"/>
                  <a:cs typeface="Calibri"/>
                </a:rPr>
              </a:br>
              <a:endParaRPr lang="en-US" sz="1400">
                <a:ea typeface="Verdana" panose="020B0604030504040204" pitchFamily="34" charset="0"/>
                <a:cs typeface="Calibri" panose="020F0502020204030204" pitchFamily="34" charset="0"/>
              </a:endParaRPr>
            </a:p>
            <a:p>
              <a:pPr>
                <a:lnSpc>
                  <a:spcPct val="106000"/>
                </a:lnSpc>
              </a:pPr>
              <a:r>
                <a:rPr lang="en-US" sz="1400">
                  <a:ea typeface="Verdana"/>
                  <a:cs typeface="Calibri"/>
                </a:rPr>
                <a:t>Together, these elements capture the GFS drive for growth and progress, evoking a strong sense of purpose and our commitment to creating lasting, positive impact.</a:t>
              </a:r>
            </a:p>
          </p:txBody>
        </p:sp>
        <p:sp>
          <p:nvSpPr>
            <p:cNvPr id="10" name="Rectangle 9">
              <a:extLst>
                <a:ext uri="{FF2B5EF4-FFF2-40B4-BE49-F238E27FC236}">
                  <a16:creationId xmlns:a16="http://schemas.microsoft.com/office/drawing/2014/main" id="{31DCE4B8-5C4E-863E-5B03-24B28253FC4B}"/>
                </a:ext>
              </a:extLst>
            </p:cNvPr>
            <p:cNvSpPr/>
            <p:nvPr/>
          </p:nvSpPr>
          <p:spPr bwMode="gray">
            <a:xfrm>
              <a:off x="5862262" y="745711"/>
              <a:ext cx="6329738" cy="335662"/>
            </a:xfrm>
            <a:prstGeom prst="rect">
              <a:avLst/>
            </a:prstGeom>
            <a:solidFill>
              <a:schemeClr val="tx1"/>
            </a:solidFill>
            <a:ln w="19050" algn="ctr">
              <a:noFill/>
              <a:miter lim="800000"/>
              <a:headEnd/>
              <a:tailEnd/>
            </a:ln>
          </p:spPr>
          <p:txBody>
            <a:bodyPr wrap="square" lIns="91440" tIns="88900" rIns="88900" bIns="88900" rtlCol="0" anchor="ctr"/>
            <a:lstStyle/>
            <a:p>
              <a:pPr>
                <a:lnSpc>
                  <a:spcPct val="106000"/>
                </a:lnSpc>
                <a:buFont typeface="Wingdings 2" pitchFamily="18" charset="2"/>
                <a:buNone/>
              </a:pPr>
              <a:r>
                <a:rPr lang="en-US" sz="1600" b="1">
                  <a:solidFill>
                    <a:schemeClr val="bg1"/>
                  </a:solidFill>
                  <a:ea typeface="Verdana"/>
                  <a:cs typeface="Calibri"/>
                </a:rPr>
                <a:t>What it symbolizes</a:t>
              </a:r>
              <a:endParaRPr lang="en-US" sz="1600">
                <a:solidFill>
                  <a:schemeClr val="bg1"/>
                </a:solidFill>
                <a:ea typeface="Verdana"/>
                <a:cs typeface="Calibri"/>
              </a:endParaRPr>
            </a:p>
          </p:txBody>
        </p:sp>
      </p:grpSp>
      <p:grpSp>
        <p:nvGrpSpPr>
          <p:cNvPr id="6" name="Group 5">
            <a:extLst>
              <a:ext uri="{FF2B5EF4-FFF2-40B4-BE49-F238E27FC236}">
                <a16:creationId xmlns:a16="http://schemas.microsoft.com/office/drawing/2014/main" id="{BA42BA51-4DAC-5ECF-3087-05B50B27CC79}"/>
              </a:ext>
            </a:extLst>
          </p:cNvPr>
          <p:cNvGrpSpPr/>
          <p:nvPr/>
        </p:nvGrpSpPr>
        <p:grpSpPr>
          <a:xfrm>
            <a:off x="5537141" y="3327400"/>
            <a:ext cx="6311959" cy="1930078"/>
            <a:chOff x="5862262" y="2976133"/>
            <a:chExt cx="6311959" cy="1780488"/>
          </a:xfrm>
        </p:grpSpPr>
        <p:sp>
          <p:nvSpPr>
            <p:cNvPr id="12" name="Rectangle 11">
              <a:extLst>
                <a:ext uri="{FF2B5EF4-FFF2-40B4-BE49-F238E27FC236}">
                  <a16:creationId xmlns:a16="http://schemas.microsoft.com/office/drawing/2014/main" id="{7B65ADBD-19DC-9436-DA5B-B3B17DCE4C39}"/>
                </a:ext>
              </a:extLst>
            </p:cNvPr>
            <p:cNvSpPr/>
            <p:nvPr/>
          </p:nvSpPr>
          <p:spPr bwMode="gray">
            <a:xfrm>
              <a:off x="5862262" y="2976133"/>
              <a:ext cx="6311959" cy="335662"/>
            </a:xfrm>
            <a:prstGeom prst="rect">
              <a:avLst/>
            </a:prstGeom>
            <a:solidFill>
              <a:schemeClr val="tx1"/>
            </a:solidFill>
            <a:ln w="19050" algn="ctr">
              <a:noFill/>
              <a:miter lim="800000"/>
              <a:headEnd/>
              <a:tailEnd/>
            </a:ln>
          </p:spPr>
          <p:txBody>
            <a:bodyPr wrap="square" lIns="91440" tIns="88900" rIns="88900" bIns="88900" rtlCol="0" anchor="ctr"/>
            <a:lstStyle/>
            <a:p>
              <a:pPr>
                <a:lnSpc>
                  <a:spcPct val="106000"/>
                </a:lnSpc>
                <a:buFont typeface="Wingdings 2" pitchFamily="18" charset="2"/>
                <a:buNone/>
              </a:pPr>
              <a:r>
                <a:rPr lang="en-US" sz="1600" b="1">
                  <a:solidFill>
                    <a:schemeClr val="bg1"/>
                  </a:solidFill>
                  <a:ea typeface="Verdana"/>
                  <a:cs typeface="Calibri"/>
                </a:rPr>
                <a:t>When to use it</a:t>
              </a:r>
              <a:endParaRPr lang="en-US" sz="1600">
                <a:solidFill>
                  <a:schemeClr val="bg1"/>
                </a:solidFill>
                <a:ea typeface="Verdana"/>
                <a:cs typeface="Calibri"/>
              </a:endParaRPr>
            </a:p>
          </p:txBody>
        </p:sp>
        <p:sp>
          <p:nvSpPr>
            <p:cNvPr id="13" name="Rectangle 12">
              <a:extLst>
                <a:ext uri="{FF2B5EF4-FFF2-40B4-BE49-F238E27FC236}">
                  <a16:creationId xmlns:a16="http://schemas.microsoft.com/office/drawing/2014/main" id="{9C7E4546-A9CE-9B0B-2575-080A2820D886}"/>
                </a:ext>
              </a:extLst>
            </p:cNvPr>
            <p:cNvSpPr/>
            <p:nvPr/>
          </p:nvSpPr>
          <p:spPr bwMode="gray">
            <a:xfrm>
              <a:off x="5862262" y="3414023"/>
              <a:ext cx="5986836" cy="1342598"/>
            </a:xfrm>
            <a:prstGeom prst="rect">
              <a:avLst/>
            </a:prstGeom>
            <a:solidFill>
              <a:schemeClr val="bg1"/>
            </a:solidFill>
            <a:ln w="19050" algn="ctr">
              <a:noFill/>
              <a:miter lim="800000"/>
              <a:headEnd/>
              <a:tailEnd/>
            </a:ln>
          </p:spPr>
          <p:txBody>
            <a:bodyPr wrap="square" lIns="0" tIns="0" rIns="0" bIns="91440" rtlCol="0" anchor="t" anchorCtr="0">
              <a:spAutoFit/>
            </a:bodyPr>
            <a:lstStyle/>
            <a:p>
              <a:pPr marL="171450" indent="-171450">
                <a:lnSpc>
                  <a:spcPct val="106000"/>
                </a:lnSpc>
                <a:buFont typeface="Arial" panose="020B0604020202020204" pitchFamily="34" charset="0"/>
                <a:buChar char="•"/>
              </a:pPr>
              <a:r>
                <a:rPr lang="en-US" sz="1400">
                  <a:ea typeface="Verdana"/>
                  <a:cs typeface="Calibri"/>
                </a:rPr>
                <a:t>Cover slide for GFS PowerPoint and Word documents</a:t>
              </a:r>
            </a:p>
            <a:p>
              <a:pPr marL="171450" indent="-171450">
                <a:lnSpc>
                  <a:spcPct val="106000"/>
                </a:lnSpc>
                <a:buFont typeface="Arial" panose="020B0604020202020204" pitchFamily="34" charset="0"/>
                <a:buChar char="•"/>
              </a:pPr>
              <a:r>
                <a:rPr lang="en-US" sz="1400">
                  <a:ea typeface="Verdana"/>
                  <a:cs typeface="Calibri"/>
                </a:rPr>
                <a:t>GFS email communications</a:t>
              </a:r>
            </a:p>
            <a:p>
              <a:pPr marL="171450" indent="-171450">
                <a:lnSpc>
                  <a:spcPct val="106000"/>
                </a:lnSpc>
                <a:buFont typeface="Arial" panose="020B0604020202020204" pitchFamily="34" charset="0"/>
                <a:buChar char="•"/>
              </a:pPr>
              <a:r>
                <a:rPr lang="en-US" sz="1400">
                  <a:ea typeface="Verdana"/>
                  <a:cs typeface="Calibri"/>
                </a:rPr>
                <a:t>GFS general marketing collateral</a:t>
              </a:r>
              <a:endParaRPr lang="en-US" sz="1400">
                <a:ea typeface="Verdana" panose="020B0604030504040204" pitchFamily="34" charset="0"/>
                <a:cs typeface="Calibri" panose="020F0502020204030204" pitchFamily="34" charset="0"/>
              </a:endParaRPr>
            </a:p>
            <a:p>
              <a:pPr marL="171450" indent="-171450">
                <a:lnSpc>
                  <a:spcPct val="106000"/>
                </a:lnSpc>
                <a:buFont typeface="Arial" panose="020B0604020202020204" pitchFamily="34" charset="0"/>
                <a:buChar char="•"/>
              </a:pPr>
              <a:r>
                <a:rPr lang="en-US" sz="1400">
                  <a:ea typeface="Verdana"/>
                  <a:cs typeface="Calibri"/>
                </a:rPr>
                <a:t>GFS website, the intelliHUB</a:t>
              </a:r>
            </a:p>
            <a:p>
              <a:pPr marL="171450" indent="-171450">
                <a:lnSpc>
                  <a:spcPct val="106000"/>
                </a:lnSpc>
                <a:buFont typeface="Arial" panose="020B0604020202020204" pitchFamily="34" charset="0"/>
                <a:buChar char="•"/>
              </a:pPr>
              <a:r>
                <a:rPr lang="en-US" sz="1400">
                  <a:ea typeface="Verdana"/>
                  <a:cs typeface="Calibri"/>
                </a:rPr>
                <a:t>GFS banners</a:t>
              </a:r>
              <a:endParaRPr lang="en-US" sz="1400">
                <a:ea typeface="Verdana" panose="020B0604030504040204" pitchFamily="34" charset="0"/>
                <a:cs typeface="Calibri" panose="020F0502020204030204" pitchFamily="34" charset="0"/>
              </a:endParaRPr>
            </a:p>
            <a:p>
              <a:pPr marL="171450" indent="-171450">
                <a:lnSpc>
                  <a:spcPct val="106000"/>
                </a:lnSpc>
                <a:buFont typeface="Arial" panose="020B0604020202020204" pitchFamily="34" charset="0"/>
                <a:buChar char="•"/>
              </a:pPr>
              <a:r>
                <a:rPr lang="en-US" sz="1400">
                  <a:ea typeface="Verdana"/>
                  <a:cs typeface="Calibri"/>
                </a:rPr>
                <a:t>GFS posters</a:t>
              </a:r>
              <a:endParaRPr lang="en-US" sz="1400">
                <a:ea typeface="Verdana" panose="020B0604030504040204" pitchFamily="34" charset="0"/>
                <a:cs typeface="Calibri" panose="020F0502020204030204" pitchFamily="34" charset="0"/>
              </a:endParaRPr>
            </a:p>
          </p:txBody>
        </p:sp>
      </p:grpSp>
      <p:grpSp>
        <p:nvGrpSpPr>
          <p:cNvPr id="5" name="Group 4">
            <a:extLst>
              <a:ext uri="{FF2B5EF4-FFF2-40B4-BE49-F238E27FC236}">
                <a16:creationId xmlns:a16="http://schemas.microsoft.com/office/drawing/2014/main" id="{5D7A5ECF-DB9C-6BE6-7E97-CA71469F12C7}"/>
              </a:ext>
            </a:extLst>
          </p:cNvPr>
          <p:cNvGrpSpPr/>
          <p:nvPr/>
        </p:nvGrpSpPr>
        <p:grpSpPr>
          <a:xfrm>
            <a:off x="5537142" y="5198581"/>
            <a:ext cx="6311958" cy="999611"/>
            <a:chOff x="5862262" y="5286143"/>
            <a:chExt cx="6311958" cy="922137"/>
          </a:xfrm>
        </p:grpSpPr>
        <p:sp>
          <p:nvSpPr>
            <p:cNvPr id="14" name="Rectangle 13">
              <a:extLst>
                <a:ext uri="{FF2B5EF4-FFF2-40B4-BE49-F238E27FC236}">
                  <a16:creationId xmlns:a16="http://schemas.microsoft.com/office/drawing/2014/main" id="{B3114B08-D94F-F658-5989-EF5C65CF737A}"/>
                </a:ext>
              </a:extLst>
            </p:cNvPr>
            <p:cNvSpPr/>
            <p:nvPr/>
          </p:nvSpPr>
          <p:spPr bwMode="gray">
            <a:xfrm>
              <a:off x="5862262" y="5286143"/>
              <a:ext cx="6311958" cy="335662"/>
            </a:xfrm>
            <a:prstGeom prst="rect">
              <a:avLst/>
            </a:prstGeom>
            <a:solidFill>
              <a:schemeClr val="tx1"/>
            </a:solidFill>
            <a:ln w="19050" algn="ctr">
              <a:noFill/>
              <a:miter lim="800000"/>
              <a:headEnd/>
              <a:tailEnd/>
            </a:ln>
          </p:spPr>
          <p:txBody>
            <a:bodyPr wrap="square" lIns="91440" tIns="88900" rIns="88900" bIns="88900" rtlCol="0" anchor="ctr"/>
            <a:lstStyle/>
            <a:p>
              <a:pPr>
                <a:lnSpc>
                  <a:spcPct val="106000"/>
                </a:lnSpc>
                <a:buFont typeface="Wingdings 2" pitchFamily="18" charset="2"/>
              </a:pPr>
              <a:r>
                <a:rPr lang="en-US" sz="1600" b="1">
                  <a:solidFill>
                    <a:schemeClr val="bg1"/>
                  </a:solidFill>
                  <a:ea typeface="Verdana"/>
                  <a:cs typeface="Calibri"/>
                </a:rPr>
                <a:t>How to use it</a:t>
              </a:r>
              <a:endParaRPr lang="en-US" sz="1600">
                <a:solidFill>
                  <a:schemeClr val="bg1"/>
                </a:solidFill>
                <a:ea typeface="Verdana"/>
                <a:cs typeface="Calibri"/>
              </a:endParaRPr>
            </a:p>
          </p:txBody>
        </p:sp>
        <p:sp>
          <p:nvSpPr>
            <p:cNvPr id="17" name="Rectangle 16">
              <a:extLst>
                <a:ext uri="{FF2B5EF4-FFF2-40B4-BE49-F238E27FC236}">
                  <a16:creationId xmlns:a16="http://schemas.microsoft.com/office/drawing/2014/main" id="{D6F83CD1-CDC1-9311-72BB-4D436F304B2C}"/>
                </a:ext>
              </a:extLst>
            </p:cNvPr>
            <p:cNvSpPr/>
            <p:nvPr/>
          </p:nvSpPr>
          <p:spPr bwMode="gray">
            <a:xfrm>
              <a:off x="5862262" y="5708458"/>
              <a:ext cx="5364538" cy="499822"/>
            </a:xfrm>
            <a:prstGeom prst="rect">
              <a:avLst/>
            </a:prstGeom>
            <a:solidFill>
              <a:schemeClr val="bg1"/>
            </a:solidFill>
            <a:ln w="19050" algn="ctr">
              <a:noFill/>
              <a:miter lim="800000"/>
              <a:headEnd/>
              <a:tailEnd/>
            </a:ln>
          </p:spPr>
          <p:txBody>
            <a:bodyPr wrap="square" lIns="0" tIns="0" rIns="0" bIns="91440" rtlCol="0" anchor="t" anchorCtr="0">
              <a:spAutoFit/>
            </a:bodyPr>
            <a:lstStyle/>
            <a:p>
              <a:pPr marL="171450" indent="-171450">
                <a:lnSpc>
                  <a:spcPct val="106000"/>
                </a:lnSpc>
                <a:buFont typeface="Arial" panose="020B0604020202020204" pitchFamily="34" charset="0"/>
                <a:buChar char="•"/>
              </a:pPr>
              <a:r>
                <a:rPr lang="en-US" sz="1400">
                  <a:ea typeface="Verdana"/>
                  <a:cs typeface="Calibri"/>
                </a:rPr>
                <a:t>Use templates in this deck</a:t>
              </a:r>
            </a:p>
            <a:p>
              <a:pPr marL="171450" indent="-171450">
                <a:lnSpc>
                  <a:spcPct val="106000"/>
                </a:lnSpc>
                <a:buFont typeface="Arial" panose="020B0604020202020204" pitchFamily="34" charset="0"/>
                <a:buChar char="•"/>
              </a:pPr>
              <a:r>
                <a:rPr lang="en-US" sz="1400">
                  <a:ea typeface="Verdana"/>
                  <a:cs typeface="Calibri"/>
                </a:rPr>
                <a:t>Copy/paste image 1 as needed into GFS documents</a:t>
              </a:r>
              <a:endParaRPr lang="en-US" sz="1400">
                <a:ea typeface="Verdana" panose="020B0604030504040204" pitchFamily="34" charset="0"/>
                <a:cs typeface="Calibri" panose="020F0502020204030204" pitchFamily="34" charset="0"/>
              </a:endParaRPr>
            </a:p>
          </p:txBody>
        </p:sp>
      </p:grpSp>
      <p:sp>
        <p:nvSpPr>
          <p:cNvPr id="15" name="Text Placeholder 10">
            <a:extLst>
              <a:ext uri="{FF2B5EF4-FFF2-40B4-BE49-F238E27FC236}">
                <a16:creationId xmlns:a16="http://schemas.microsoft.com/office/drawing/2014/main" id="{721CE58A-F36E-B5AA-EC26-739D1744AF7E}"/>
              </a:ext>
            </a:extLst>
          </p:cNvPr>
          <p:cNvSpPr txBox="1">
            <a:spLocks/>
          </p:cNvSpPr>
          <p:nvPr/>
        </p:nvSpPr>
        <p:spPr>
          <a:xfrm>
            <a:off x="342900" y="5266652"/>
            <a:ext cx="4178300" cy="913070"/>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lIns="0" tIns="0" rIns="0" bIns="0" anchor="t">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nSpc>
                <a:spcPct val="100000"/>
              </a:lnSpc>
              <a:defRPr/>
            </a:pPr>
            <a:r>
              <a:rPr lang="en-US" sz="1400">
                <a:latin typeface="+mj-lt"/>
                <a:ea typeface="Open Sans"/>
                <a:cs typeface="Open Sans"/>
              </a:rPr>
              <a:t>This image establishes a new brand identity for Global Finance Services. It should be  the primary image used for client-facing and internal GFS communications</a:t>
            </a:r>
            <a:r>
              <a:rPr lang="en-US" sz="1400" i="1">
                <a:latin typeface="+mj-lt"/>
                <a:ea typeface="Open Sans"/>
                <a:cs typeface="Open Sans"/>
              </a:rPr>
              <a:t>.</a:t>
            </a:r>
          </a:p>
          <a:p>
            <a:pPr>
              <a:lnSpc>
                <a:spcPct val="100000"/>
              </a:lnSpc>
              <a:defRPr/>
            </a:pPr>
            <a:r>
              <a:rPr lang="en-US" sz="1400">
                <a:latin typeface="+mj-lt"/>
                <a:ea typeface="Open Sans"/>
                <a:cs typeface="Open Sans"/>
              </a:rPr>
              <a:t>It replaces </a:t>
            </a:r>
            <a:r>
              <a:rPr lang="en-US" sz="1400">
                <a:ea typeface="Open Sans"/>
                <a:cs typeface="Open Sans"/>
              </a:rPr>
              <a:t>the previously used fireball motif.</a:t>
            </a:r>
          </a:p>
        </p:txBody>
      </p:sp>
      <p:sp>
        <p:nvSpPr>
          <p:cNvPr id="18" name="Rectangle 17">
            <a:extLst>
              <a:ext uri="{FF2B5EF4-FFF2-40B4-BE49-F238E27FC236}">
                <a16:creationId xmlns:a16="http://schemas.microsoft.com/office/drawing/2014/main" id="{D592F99A-F02D-2FEB-266D-E51C713DB2FD}"/>
              </a:ext>
            </a:extLst>
          </p:cNvPr>
          <p:cNvSpPr/>
          <p:nvPr/>
        </p:nvSpPr>
        <p:spPr bwMode="gray">
          <a:xfrm>
            <a:off x="342900" y="4881598"/>
            <a:ext cx="4178299" cy="335662"/>
          </a:xfrm>
          <a:prstGeom prst="rect">
            <a:avLst/>
          </a:prstGeom>
          <a:solidFill>
            <a:schemeClr val="tx1"/>
          </a:solidFill>
          <a:ln w="19050" algn="ctr">
            <a:noFill/>
            <a:miter lim="800000"/>
            <a:headEnd/>
            <a:tailEnd/>
          </a:ln>
        </p:spPr>
        <p:txBody>
          <a:bodyPr wrap="square" lIns="91440" tIns="88900" rIns="88900" bIns="88900" rtlCol="0" anchor="ctr"/>
          <a:lstStyle/>
          <a:p>
            <a:pPr algn="ctr">
              <a:lnSpc>
                <a:spcPct val="106000"/>
              </a:lnSpc>
              <a:buFont typeface="Wingdings 2" pitchFamily="18" charset="2"/>
            </a:pPr>
            <a:r>
              <a:rPr lang="en-US" sz="1600" b="1">
                <a:solidFill>
                  <a:schemeClr val="bg1"/>
                </a:solidFill>
                <a:ea typeface="Verdana"/>
                <a:cs typeface="Calibri"/>
              </a:rPr>
              <a:t>Hero image </a:t>
            </a:r>
            <a:r>
              <a:rPr lang="en-US" sz="1600">
                <a:solidFill>
                  <a:schemeClr val="bg1"/>
                </a:solidFill>
                <a:ea typeface="Verdana"/>
                <a:cs typeface="Calibri"/>
              </a:rPr>
              <a:t>(the "symbol of GFS")</a:t>
            </a:r>
            <a:endParaRPr lang="en-US" sz="2400">
              <a:solidFill>
                <a:schemeClr val="bg1"/>
              </a:solidFill>
            </a:endParaRPr>
          </a:p>
        </p:txBody>
      </p:sp>
    </p:spTree>
    <p:extLst>
      <p:ext uri="{BB962C8B-B14F-4D97-AF65-F5344CB8AC3E}">
        <p14:creationId xmlns:p14="http://schemas.microsoft.com/office/powerpoint/2010/main" val="33200142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53D1C-B05C-03D2-3A9A-AF74C2520D48}"/>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E013F5DC-0A35-28DC-056F-89B50BDF6880}"/>
              </a:ext>
            </a:extLst>
          </p:cNvPr>
          <p:cNvGrpSpPr>
            <a:grpSpLocks noGrp="1" noUngrp="1" noRot="1" noMove="1" noResize="1"/>
          </p:cNvGrpSpPr>
          <p:nvPr/>
        </p:nvGrpSpPr>
        <p:grpSpPr>
          <a:xfrm>
            <a:off x="9593874" y="1124735"/>
            <a:ext cx="1985151" cy="4046789"/>
            <a:chOff x="9716480" y="1433533"/>
            <a:chExt cx="1985151" cy="4046789"/>
          </a:xfrm>
        </p:grpSpPr>
        <p:sp>
          <p:nvSpPr>
            <p:cNvPr id="57" name="object 57">
              <a:extLst>
                <a:ext uri="{FF2B5EF4-FFF2-40B4-BE49-F238E27FC236}">
                  <a16:creationId xmlns:a16="http://schemas.microsoft.com/office/drawing/2014/main" id="{20CC463B-68F2-957A-85F4-A5967CDF4CEF}"/>
                </a:ext>
              </a:extLst>
            </p:cNvPr>
            <p:cNvSpPr>
              <a:spLocks noGrp="1" noRot="1" noMove="1" noResize="1" noEditPoints="1" noAdjustHandles="1" noChangeArrowheads="1" noChangeShapeType="1"/>
            </p:cNvSpPr>
            <p:nvPr/>
          </p:nvSpPr>
          <p:spPr>
            <a:xfrm>
              <a:off x="9716480" y="1433533"/>
              <a:ext cx="1985151" cy="4046789"/>
            </a:xfrm>
            <a:prstGeom prst="rect">
              <a:avLst/>
            </a:prstGeom>
            <a:blipFill>
              <a:blip r:embed="rId3" cstate="print"/>
              <a:stretch>
                <a:fillRect/>
              </a:stretch>
            </a:blipFill>
          </p:spPr>
          <p:txBody>
            <a:bodyPr wrap="square" lIns="0" tIns="0" rIns="0" bIns="0" rtlCol="0"/>
            <a:lstStyle/>
            <a:p>
              <a:endParaRPr/>
            </a:p>
          </p:txBody>
        </p:sp>
        <p:pic>
          <p:nvPicPr>
            <p:cNvPr id="12" name="Picture 11">
              <a:extLst>
                <a:ext uri="{FF2B5EF4-FFF2-40B4-BE49-F238E27FC236}">
                  <a16:creationId xmlns:a16="http://schemas.microsoft.com/office/drawing/2014/main" id="{951BB648-53A9-59FC-789A-F93D2D4A954C}"/>
                </a:ext>
              </a:extLst>
            </p:cNvPr>
            <p:cNvPicPr>
              <a:picLocks noGrp="1" noRot="1" noChangeAspect="1" noMove="1" noResize="1" noEditPoints="1" noAdjustHandles="1" noChangeArrowheads="1" noChangeShapeType="1" noCrop="1"/>
            </p:cNvPicPr>
            <p:nvPr/>
          </p:nvPicPr>
          <p:blipFill>
            <a:blip r:embed="rId4"/>
            <a:srcRect l="990" t="350" b="11603"/>
            <a:stretch>
              <a:fillRect/>
            </a:stretch>
          </p:blipFill>
          <p:spPr>
            <a:xfrm>
              <a:off x="9901432" y="1850947"/>
              <a:ext cx="1638000" cy="3091515"/>
            </a:xfrm>
            <a:prstGeom prst="roundRect">
              <a:avLst>
                <a:gd name="adj" fmla="val 2246"/>
              </a:avLst>
            </a:prstGeom>
            <a:ln>
              <a:solidFill>
                <a:schemeClr val="bg1"/>
              </a:solidFill>
            </a:ln>
          </p:spPr>
        </p:pic>
      </p:grpSp>
      <p:pic>
        <p:nvPicPr>
          <p:cNvPr id="15" name="Picture 14">
            <a:extLst>
              <a:ext uri="{FF2B5EF4-FFF2-40B4-BE49-F238E27FC236}">
                <a16:creationId xmlns:a16="http://schemas.microsoft.com/office/drawing/2014/main" id="{44D6A1F2-08A2-7C0F-C58A-41128C5151F7}"/>
              </a:ext>
            </a:extLst>
          </p:cNvPr>
          <p:cNvPicPr>
            <a:picLocks noChangeAspect="1"/>
          </p:cNvPicPr>
          <p:nvPr/>
        </p:nvPicPr>
        <p:blipFill>
          <a:blip r:embed="rId5"/>
          <a:srcRect r="2303"/>
          <a:stretch>
            <a:fillRect/>
          </a:stretch>
        </p:blipFill>
        <p:spPr>
          <a:xfrm>
            <a:off x="5746028" y="1217814"/>
            <a:ext cx="3612648" cy="2298848"/>
          </a:xfrm>
          <a:prstGeom prst="rect">
            <a:avLst/>
          </a:prstGeom>
        </p:spPr>
      </p:pic>
      <p:pic>
        <p:nvPicPr>
          <p:cNvPr id="17" name="Picture 16" descr="A black and white tablet&#10;&#10;AI-generated content may be incorrect.">
            <a:extLst>
              <a:ext uri="{FF2B5EF4-FFF2-40B4-BE49-F238E27FC236}">
                <a16:creationId xmlns:a16="http://schemas.microsoft.com/office/drawing/2014/main" id="{08219DA9-EE7E-2480-E34C-2B39ED3BD095}"/>
              </a:ext>
            </a:extLst>
          </p:cNvPr>
          <p:cNvPicPr>
            <a:picLocks noGrp="1" noRot="1" noChangeAspect="1" noMove="1" noResize="1" noEditPoints="1" noAdjustHandles="1" noChangeArrowheads="1" noChangeShapeType="1" noCrop="1"/>
          </p:cNvPicPr>
          <p:nvPr/>
        </p:nvPicPr>
        <p:blipFill>
          <a:blip r:embed="rId6"/>
          <a:srcRect l="51244" t="7086" r="3065" b="7643"/>
          <a:stretch>
            <a:fillRect/>
          </a:stretch>
        </p:blipFill>
        <p:spPr>
          <a:xfrm>
            <a:off x="5616696" y="1089741"/>
            <a:ext cx="3859579" cy="2557194"/>
          </a:xfrm>
          <a:prstGeom prst="rect">
            <a:avLst/>
          </a:prstGeom>
        </p:spPr>
      </p:pic>
      <p:sp>
        <p:nvSpPr>
          <p:cNvPr id="119" name="object 4">
            <a:extLst>
              <a:ext uri="{FF2B5EF4-FFF2-40B4-BE49-F238E27FC236}">
                <a16:creationId xmlns:a16="http://schemas.microsoft.com/office/drawing/2014/main" id="{AE315599-7D84-AD5A-23FB-2A355B9CC474}"/>
              </a:ext>
            </a:extLst>
          </p:cNvPr>
          <p:cNvSpPr txBox="1">
            <a:spLocks/>
          </p:cNvSpPr>
          <p:nvPr/>
        </p:nvSpPr>
        <p:spPr bwMode="gray">
          <a:xfrm>
            <a:off x="5743760" y="854744"/>
            <a:ext cx="3718825" cy="197490"/>
          </a:xfrm>
          <a:prstGeom prst="rect">
            <a:avLst/>
          </a:prstGeom>
        </p:spPr>
        <p:txBody>
          <a:bodyPr vert="horz" wrap="square" lIns="0" tIns="12700" rIns="0" bIns="0" rtlCol="0" anchor="t" anchorCtr="0">
            <a:spAutoFit/>
          </a:bodyPr>
          <a:lstStyle>
            <a:lvl1pPr algn="l" defTabSz="1219185" rtl="0" eaLnBrk="1" latinLnBrk="0" hangingPunct="1">
              <a:spcBef>
                <a:spcPct val="0"/>
              </a:spcBef>
              <a:buNone/>
              <a:defRPr sz="1800" b="0" i="0" kern="1200">
                <a:solidFill>
                  <a:schemeClr val="tx1"/>
                </a:solidFill>
                <a:latin typeface="OpenSans-Light"/>
                <a:ea typeface="+mj-ea"/>
                <a:cs typeface="OpenSans-Light"/>
              </a:defRPr>
            </a:lvl1pPr>
          </a:lstStyle>
          <a:p>
            <a:pPr marL="12700">
              <a:spcBef>
                <a:spcPts val="100"/>
              </a:spcBef>
            </a:pPr>
            <a:r>
              <a:rPr lang="en-US" sz="1200" b="1">
                <a:solidFill>
                  <a:srgbClr val="00A3E0"/>
                </a:solidFill>
                <a:latin typeface="+mn-lt"/>
                <a:ea typeface="Verdana" panose="020B0604030504040204" pitchFamily="34" charset="0"/>
                <a:cs typeface="Calibri" panose="020F0502020204030204" pitchFamily="34" charset="0"/>
              </a:rPr>
              <a:t>Presentation cover</a:t>
            </a:r>
            <a:r>
              <a:rPr lang="en-US" sz="1200">
                <a:solidFill>
                  <a:srgbClr val="00A3E0"/>
                </a:solidFill>
                <a:latin typeface="+mn-lt"/>
                <a:ea typeface="Verdana" panose="020B0604030504040204" pitchFamily="34" charset="0"/>
                <a:cs typeface="Calibri" panose="020F0502020204030204" pitchFamily="34" charset="0"/>
              </a:rPr>
              <a:t> on tablet</a:t>
            </a:r>
            <a:endParaRPr lang="en-US" sz="1200" spc="-10">
              <a:solidFill>
                <a:srgbClr val="00A3E0"/>
              </a:solidFill>
              <a:latin typeface="+mn-lt"/>
              <a:ea typeface="Verdana" panose="020B0604030504040204" pitchFamily="34" charset="0"/>
              <a:cs typeface="Calibri" panose="020F0502020204030204" pitchFamily="34" charset="0"/>
            </a:endParaRPr>
          </a:p>
        </p:txBody>
      </p:sp>
      <p:sp>
        <p:nvSpPr>
          <p:cNvPr id="122" name="object 4">
            <a:extLst>
              <a:ext uri="{FF2B5EF4-FFF2-40B4-BE49-F238E27FC236}">
                <a16:creationId xmlns:a16="http://schemas.microsoft.com/office/drawing/2014/main" id="{9E8950DF-F5D6-5DBC-FBB3-6FEF151FC941}"/>
              </a:ext>
            </a:extLst>
          </p:cNvPr>
          <p:cNvSpPr txBox="1">
            <a:spLocks/>
          </p:cNvSpPr>
          <p:nvPr/>
        </p:nvSpPr>
        <p:spPr bwMode="gray">
          <a:xfrm>
            <a:off x="9611764" y="854744"/>
            <a:ext cx="2262160" cy="197490"/>
          </a:xfrm>
          <a:prstGeom prst="rect">
            <a:avLst/>
          </a:prstGeom>
        </p:spPr>
        <p:txBody>
          <a:bodyPr vert="horz" wrap="square" lIns="0" tIns="12700" rIns="0" bIns="0" rtlCol="0" anchor="t" anchorCtr="0">
            <a:spAutoFit/>
          </a:bodyPr>
          <a:lstStyle>
            <a:lvl1pPr algn="l" defTabSz="1219185" rtl="0" eaLnBrk="1" latinLnBrk="0" hangingPunct="1">
              <a:spcBef>
                <a:spcPct val="0"/>
              </a:spcBef>
              <a:buNone/>
              <a:defRPr sz="1800" b="0" i="0" kern="1200">
                <a:solidFill>
                  <a:schemeClr val="tx1"/>
                </a:solidFill>
                <a:latin typeface="OpenSans-Light"/>
                <a:ea typeface="+mj-ea"/>
                <a:cs typeface="OpenSans-Light"/>
              </a:defRPr>
            </a:lvl1pPr>
          </a:lstStyle>
          <a:p>
            <a:pPr marL="12700">
              <a:spcBef>
                <a:spcPts val="0"/>
              </a:spcBef>
            </a:pPr>
            <a:r>
              <a:rPr lang="en-US" sz="1200" b="1">
                <a:solidFill>
                  <a:srgbClr val="00A3E0"/>
                </a:solidFill>
                <a:latin typeface="+mn-lt"/>
                <a:ea typeface="Verdana" panose="020B0604030504040204" pitchFamily="34" charset="0"/>
                <a:cs typeface="Verdana" panose="020B0604030504040204" pitchFamily="34" charset="0"/>
              </a:rPr>
              <a:t>Email template </a:t>
            </a:r>
            <a:r>
              <a:rPr lang="en-US" sz="1200">
                <a:solidFill>
                  <a:srgbClr val="00A3E0"/>
                </a:solidFill>
                <a:latin typeface="+mn-lt"/>
                <a:ea typeface="Verdana" panose="020B0604030504040204" pitchFamily="34" charset="0"/>
                <a:cs typeface="Verdana" panose="020B0604030504040204" pitchFamily="34" charset="0"/>
              </a:rPr>
              <a:t>On mobile device</a:t>
            </a:r>
            <a:endParaRPr lang="en-US" sz="1200" spc="-10">
              <a:solidFill>
                <a:srgbClr val="00A3E0"/>
              </a:solidFill>
              <a:latin typeface="+mn-lt"/>
              <a:ea typeface="Verdana" panose="020B0604030504040204" pitchFamily="34" charset="0"/>
              <a:cs typeface="Verdana" panose="020B0604030504040204" pitchFamily="34" charset="0"/>
            </a:endParaRPr>
          </a:p>
        </p:txBody>
      </p:sp>
      <p:sp>
        <p:nvSpPr>
          <p:cNvPr id="123" name="object 4">
            <a:extLst>
              <a:ext uri="{FF2B5EF4-FFF2-40B4-BE49-F238E27FC236}">
                <a16:creationId xmlns:a16="http://schemas.microsoft.com/office/drawing/2014/main" id="{229D3892-F2C3-C0EA-1BDA-D792E7E73756}"/>
              </a:ext>
            </a:extLst>
          </p:cNvPr>
          <p:cNvSpPr txBox="1">
            <a:spLocks/>
          </p:cNvSpPr>
          <p:nvPr/>
        </p:nvSpPr>
        <p:spPr bwMode="gray">
          <a:xfrm>
            <a:off x="351405" y="4584885"/>
            <a:ext cx="3747506" cy="197490"/>
          </a:xfrm>
          <a:prstGeom prst="rect">
            <a:avLst/>
          </a:prstGeom>
        </p:spPr>
        <p:txBody>
          <a:bodyPr vert="horz" wrap="square" lIns="0" tIns="12700" rIns="0" bIns="0" rtlCol="0" anchor="t" anchorCtr="0">
            <a:spAutoFit/>
          </a:bodyPr>
          <a:lstStyle>
            <a:lvl1pPr algn="l" defTabSz="1219185" rtl="0" eaLnBrk="1" latinLnBrk="0" hangingPunct="1">
              <a:spcBef>
                <a:spcPct val="0"/>
              </a:spcBef>
              <a:buNone/>
              <a:defRPr sz="1800" b="0" i="0" kern="1200">
                <a:solidFill>
                  <a:schemeClr val="tx1"/>
                </a:solidFill>
                <a:latin typeface="OpenSans-Light"/>
                <a:ea typeface="+mj-ea"/>
                <a:cs typeface="OpenSans-Light"/>
              </a:defRPr>
            </a:lvl1pPr>
          </a:lstStyle>
          <a:p>
            <a:pPr marL="12700">
              <a:spcBef>
                <a:spcPts val="0"/>
              </a:spcBef>
            </a:pPr>
            <a:r>
              <a:rPr lang="en-US" sz="1200" b="1">
                <a:solidFill>
                  <a:srgbClr val="00A3E0"/>
                </a:solidFill>
                <a:latin typeface="+mn-lt"/>
                <a:ea typeface="Verdana" panose="020B0604030504040204" pitchFamily="34" charset="0"/>
                <a:cs typeface="Calibri" panose="020F0502020204030204" pitchFamily="34" charset="0"/>
              </a:rPr>
              <a:t>Web banner </a:t>
            </a:r>
            <a:endParaRPr lang="en-US" sz="1200" spc="-10">
              <a:solidFill>
                <a:srgbClr val="00A3E0"/>
              </a:solidFill>
              <a:latin typeface="+mn-lt"/>
              <a:ea typeface="Verdana" panose="020B0604030504040204" pitchFamily="34" charset="0"/>
              <a:cs typeface="Calibri" panose="020F0502020204030204" pitchFamily="34" charset="0"/>
            </a:endParaRPr>
          </a:p>
        </p:txBody>
      </p:sp>
      <p:sp>
        <p:nvSpPr>
          <p:cNvPr id="19" name="Title 18">
            <a:extLst>
              <a:ext uri="{FF2B5EF4-FFF2-40B4-BE49-F238E27FC236}">
                <a16:creationId xmlns:a16="http://schemas.microsoft.com/office/drawing/2014/main" id="{CCAE1ADA-05F9-D81F-B0F0-6E080F473EB8}"/>
              </a:ext>
            </a:extLst>
          </p:cNvPr>
          <p:cNvSpPr>
            <a:spLocks noGrp="1"/>
          </p:cNvSpPr>
          <p:nvPr>
            <p:ph type="title"/>
          </p:nvPr>
        </p:nvSpPr>
        <p:spPr/>
        <p:txBody>
          <a:bodyPr/>
          <a:lstStyle/>
          <a:p>
            <a:r>
              <a:rPr lang="en-US">
                <a:solidFill>
                  <a:schemeClr val="tx1"/>
                </a:solidFill>
                <a:cs typeface="Calibri"/>
              </a:rPr>
              <a:t>GFS Style Guide | </a:t>
            </a:r>
            <a:r>
              <a:rPr lang="en-US" b="1"/>
              <a:t>Hero image applications</a:t>
            </a:r>
            <a:endParaRPr lang="en-US"/>
          </a:p>
        </p:txBody>
      </p:sp>
      <p:sp>
        <p:nvSpPr>
          <p:cNvPr id="20" name="object 4">
            <a:extLst>
              <a:ext uri="{FF2B5EF4-FFF2-40B4-BE49-F238E27FC236}">
                <a16:creationId xmlns:a16="http://schemas.microsoft.com/office/drawing/2014/main" id="{E9391FD6-0621-223A-9FED-431752FCD72A}"/>
              </a:ext>
            </a:extLst>
          </p:cNvPr>
          <p:cNvSpPr txBox="1">
            <a:spLocks/>
          </p:cNvSpPr>
          <p:nvPr/>
        </p:nvSpPr>
        <p:spPr bwMode="gray">
          <a:xfrm>
            <a:off x="341365" y="946184"/>
            <a:ext cx="3718825" cy="197490"/>
          </a:xfrm>
          <a:prstGeom prst="rect">
            <a:avLst/>
          </a:prstGeom>
        </p:spPr>
        <p:txBody>
          <a:bodyPr vert="horz" wrap="square" lIns="0" tIns="12700" rIns="0" bIns="0" rtlCol="0" anchor="t" anchorCtr="0">
            <a:spAutoFit/>
          </a:bodyPr>
          <a:lstStyle>
            <a:lvl1pPr algn="l" defTabSz="1219185" rtl="0" eaLnBrk="1" latinLnBrk="0" hangingPunct="1">
              <a:spcBef>
                <a:spcPct val="0"/>
              </a:spcBef>
              <a:buNone/>
              <a:defRPr sz="1800" b="0" i="0" kern="1200">
                <a:solidFill>
                  <a:schemeClr val="tx1"/>
                </a:solidFill>
                <a:latin typeface="OpenSans-Light"/>
                <a:ea typeface="+mj-ea"/>
                <a:cs typeface="OpenSans-Light"/>
              </a:defRPr>
            </a:lvl1pPr>
          </a:lstStyle>
          <a:p>
            <a:pPr marL="12700">
              <a:spcBef>
                <a:spcPts val="100"/>
              </a:spcBef>
            </a:pPr>
            <a:r>
              <a:rPr lang="en-US" sz="1200" b="1">
                <a:solidFill>
                  <a:srgbClr val="00A3E0"/>
                </a:solidFill>
                <a:latin typeface="+mn-lt"/>
                <a:ea typeface="Verdana" panose="020B0604030504040204" pitchFamily="34" charset="0"/>
                <a:cs typeface="Calibri" panose="020F0502020204030204" pitchFamily="34" charset="0"/>
              </a:rPr>
              <a:t>Document cover / poster</a:t>
            </a:r>
          </a:p>
        </p:txBody>
      </p:sp>
      <p:pic>
        <p:nvPicPr>
          <p:cNvPr id="22" name="Picture 21">
            <a:extLst>
              <a:ext uri="{FF2B5EF4-FFF2-40B4-BE49-F238E27FC236}">
                <a16:creationId xmlns:a16="http://schemas.microsoft.com/office/drawing/2014/main" id="{7DC4783B-1038-2794-836D-B6B1FA13277D}"/>
              </a:ext>
            </a:extLst>
          </p:cNvPr>
          <p:cNvPicPr>
            <a:picLocks noGrp="1" noRot="1" noChangeAspect="1" noMove="1" noResize="1" noEditPoints="1" noAdjustHandles="1" noChangeArrowheads="1" noChangeShapeType="1" noCrop="1"/>
          </p:cNvPicPr>
          <p:nvPr/>
        </p:nvPicPr>
        <p:blipFill>
          <a:blip r:embed="rId7"/>
          <a:stretch>
            <a:fillRect/>
          </a:stretch>
        </p:blipFill>
        <p:spPr>
          <a:xfrm>
            <a:off x="2846430" y="1165375"/>
            <a:ext cx="2417919" cy="3125905"/>
          </a:xfrm>
          <a:prstGeom prst="rect">
            <a:avLst/>
          </a:prstGeom>
          <a:effectLst>
            <a:outerShdw blurRad="50800" dist="38100" dir="5400000" algn="t" rotWithShape="0">
              <a:prstClr val="black">
                <a:alpha val="40000"/>
              </a:prstClr>
            </a:outerShdw>
          </a:effectLst>
        </p:spPr>
      </p:pic>
      <p:pic>
        <p:nvPicPr>
          <p:cNvPr id="24" name="Picture 23">
            <a:extLst>
              <a:ext uri="{FF2B5EF4-FFF2-40B4-BE49-F238E27FC236}">
                <a16:creationId xmlns:a16="http://schemas.microsoft.com/office/drawing/2014/main" id="{5E3067A6-3219-4844-4F4F-4C9D0FBC752C}"/>
              </a:ext>
            </a:extLst>
          </p:cNvPr>
          <p:cNvPicPr>
            <a:picLocks noGrp="1" noRot="1" noChangeAspect="1" noMove="1" noResize="1" noEditPoints="1" noAdjustHandles="1" noChangeArrowheads="1" noChangeShapeType="1" noCrop="1"/>
          </p:cNvPicPr>
          <p:nvPr/>
        </p:nvPicPr>
        <p:blipFill>
          <a:blip r:embed="rId8"/>
          <a:stretch>
            <a:fillRect/>
          </a:stretch>
        </p:blipFill>
        <p:spPr>
          <a:xfrm>
            <a:off x="342900" y="1165375"/>
            <a:ext cx="2417919" cy="3133723"/>
          </a:xfrm>
          <a:prstGeom prst="rect">
            <a:avLst/>
          </a:prstGeom>
          <a:effectLst>
            <a:outerShdw blurRad="50800" dist="38100" dir="5400000" algn="t" rotWithShape="0">
              <a:prstClr val="black">
                <a:alpha val="40000"/>
              </a:prstClr>
            </a:outerShdw>
          </a:effectLst>
        </p:spPr>
      </p:pic>
      <p:grpSp>
        <p:nvGrpSpPr>
          <p:cNvPr id="28" name="Group 27">
            <a:extLst>
              <a:ext uri="{FF2B5EF4-FFF2-40B4-BE49-F238E27FC236}">
                <a16:creationId xmlns:a16="http://schemas.microsoft.com/office/drawing/2014/main" id="{F4C76024-320F-B249-5B93-742505C808DE}"/>
              </a:ext>
            </a:extLst>
          </p:cNvPr>
          <p:cNvGrpSpPr>
            <a:grpSpLocks noGrp="1" noUngrp="1" noRot="1" noMove="1" noResize="1"/>
          </p:cNvGrpSpPr>
          <p:nvPr/>
        </p:nvGrpSpPr>
        <p:grpSpPr>
          <a:xfrm>
            <a:off x="351405" y="4821251"/>
            <a:ext cx="5059531" cy="1408176"/>
            <a:chOff x="483754" y="8398024"/>
            <a:chExt cx="5059531" cy="1408176"/>
          </a:xfrm>
        </p:grpSpPr>
        <p:sp>
          <p:nvSpPr>
            <p:cNvPr id="143" name="Rectangle 142">
              <a:extLst>
                <a:ext uri="{FF2B5EF4-FFF2-40B4-BE49-F238E27FC236}">
                  <a16:creationId xmlns:a16="http://schemas.microsoft.com/office/drawing/2014/main" id="{2E9840C5-D1E7-6B41-4D11-BFDEC31ADBA8}"/>
                </a:ext>
              </a:extLst>
            </p:cNvPr>
            <p:cNvSpPr>
              <a:spLocks noGrp="1" noRot="1" noMove="1" noResize="1" noEditPoints="1" noAdjustHandles="1" noChangeArrowheads="1" noChangeShapeType="1"/>
            </p:cNvSpPr>
            <p:nvPr/>
          </p:nvSpPr>
          <p:spPr bwMode="gray">
            <a:xfrm>
              <a:off x="483754" y="8398024"/>
              <a:ext cx="5059531" cy="1408176"/>
            </a:xfrm>
            <a:prstGeom prst="rect">
              <a:avLst/>
            </a:prstGeom>
            <a:solidFill>
              <a:schemeClr val="bg1"/>
            </a:solidFill>
            <a:ln w="6350" algn="ctr">
              <a:solidFill>
                <a:schemeClr val="bg1">
                  <a:lumMod val="95000"/>
                </a:schemeClr>
              </a:solidFill>
              <a:miter lim="800000"/>
              <a:headEnd/>
              <a:tailEnd/>
            </a:ln>
            <a:effectLst>
              <a:outerShdw blurRad="50800" dist="38100" dir="5400000" algn="t"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25" name="Picture 24" descr="Deloitte logo lockup with Together makes progress tagline">
              <a:extLst>
                <a:ext uri="{FF2B5EF4-FFF2-40B4-BE49-F238E27FC236}">
                  <a16:creationId xmlns:a16="http://schemas.microsoft.com/office/drawing/2014/main" id="{D906276E-CDC5-7264-72F0-4371F459A904}"/>
                </a:ext>
              </a:extLst>
            </p:cNvPr>
            <p:cNvPicPr>
              <a:picLocks noGrp="1" noRot="1" noChangeAspect="1" noMove="1" noResize="1" noEditPoints="1" noAdjustHandles="1" noChangeArrowheads="1" noChangeShapeType="1" noCrop="1"/>
            </p:cNvPicPr>
            <p:nvPr/>
          </p:nvPicPr>
          <p:blipFill>
            <a:blip r:embed="rId9">
              <a:extLst>
                <a:ext uri="{28A0092B-C50C-407E-A947-70E740481C1C}">
                  <a14:useLocalDpi xmlns:a14="http://schemas.microsoft.com/office/drawing/2010/main" val="0"/>
                </a:ext>
              </a:extLst>
            </a:blip>
            <a:srcRect l="12039" t="26971"/>
            <a:stretch>
              <a:fillRect/>
            </a:stretch>
          </p:blipFill>
          <p:spPr>
            <a:xfrm>
              <a:off x="607059" y="8536940"/>
              <a:ext cx="962661" cy="376141"/>
            </a:xfrm>
            <a:prstGeom prst="rect">
              <a:avLst/>
            </a:prstGeom>
          </p:spPr>
        </p:pic>
        <p:pic>
          <p:nvPicPr>
            <p:cNvPr id="26" name="Picture 25" descr="A logo of a planet earth with a star around it&#10;&#10;AI-generated content may be incorrect.">
              <a:extLst>
                <a:ext uri="{FF2B5EF4-FFF2-40B4-BE49-F238E27FC236}">
                  <a16:creationId xmlns:a16="http://schemas.microsoft.com/office/drawing/2014/main" id="{E67CD2F8-7138-2370-E6E4-14276BA0C831}"/>
                </a:ext>
              </a:extLst>
            </p:cNvPr>
            <p:cNvPicPr>
              <a:picLocks noGrp="1" noRot="1" noChangeAspect="1" noMove="1" noResize="1" noEditPoints="1" noAdjustHandles="1" noChangeArrowheads="1" noChangeShapeType="1" noCrop="1"/>
            </p:cNvPicPr>
            <p:nvPr/>
          </p:nvPicPr>
          <p:blipFill>
            <a:blip r:embed="rId10"/>
            <a:srcRect l="12220" t="29922" r="9237" b="27399"/>
            <a:stretch>
              <a:fillRect/>
            </a:stretch>
          </p:blipFill>
          <p:spPr>
            <a:xfrm>
              <a:off x="2760819" y="8398024"/>
              <a:ext cx="2591419" cy="1408176"/>
            </a:xfrm>
            <a:prstGeom prst="rect">
              <a:avLst/>
            </a:prstGeom>
          </p:spPr>
        </p:pic>
        <p:sp>
          <p:nvSpPr>
            <p:cNvPr id="27" name="Title 2">
              <a:extLst>
                <a:ext uri="{FF2B5EF4-FFF2-40B4-BE49-F238E27FC236}">
                  <a16:creationId xmlns:a16="http://schemas.microsoft.com/office/drawing/2014/main" id="{74D5CE7B-1720-ACEA-603C-A7C939D88F92}"/>
                </a:ext>
              </a:extLst>
            </p:cNvPr>
            <p:cNvSpPr txBox="1">
              <a:spLocks noGrp="1" noRot="1" noMove="1" noResize="1" noEditPoints="1" noAdjustHandles="1" noChangeArrowheads="1" noChangeShapeType="1"/>
            </p:cNvSpPr>
            <p:nvPr/>
          </p:nvSpPr>
          <p:spPr bwMode="gray">
            <a:xfrm>
              <a:off x="607059" y="9352935"/>
              <a:ext cx="1586283" cy="323165"/>
            </a:xfrm>
            <a:prstGeom prst="rect">
              <a:avLst/>
            </a:prstGeom>
          </p:spPr>
          <p:txBody>
            <a:bodyPr vert="horz" wrap="square" lIns="0" tIns="0" rIns="0" bIns="0" rtlCol="0" anchor="b" anchorCtr="0">
              <a:spAutoFit/>
            </a:bodyPr>
            <a:lstStyle>
              <a:lvl1pPr algn="l" defTabSz="685800" rtl="0" eaLnBrk="1" latinLnBrk="0" hangingPunct="1">
                <a:spcBef>
                  <a:spcPct val="0"/>
                </a:spcBef>
                <a:buNone/>
                <a:defRPr sz="2100" b="0" i="0" kern="1200">
                  <a:solidFill>
                    <a:srgbClr val="00A3E0"/>
                  </a:solidFill>
                  <a:latin typeface="Aptos" panose="020B0004020202020204" pitchFamily="34" charset="0"/>
                  <a:ea typeface="+mj-ea"/>
                  <a:cs typeface="Calibri Light" panose="020F0302020204030204" pitchFamily="34" charset="0"/>
                </a:defRPr>
              </a:lvl1pPr>
            </a:lstStyle>
            <a:p>
              <a:r>
                <a:rPr lang="en-US" sz="1100" b="1"/>
                <a:t>Global Finance Services</a:t>
              </a:r>
              <a:br>
                <a:rPr lang="en-US" sz="1100">
                  <a:solidFill>
                    <a:schemeClr val="bg1"/>
                  </a:solidFill>
                </a:rPr>
              </a:br>
              <a:r>
                <a:rPr lang="en-US" sz="1000">
                  <a:solidFill>
                    <a:schemeClr val="tx1"/>
                  </a:solidFill>
                  <a:latin typeface="+mj-lt"/>
                </a:rPr>
                <a:t>www.deloitte.com </a:t>
              </a:r>
            </a:p>
          </p:txBody>
        </p:sp>
      </p:grpSp>
      <p:grpSp>
        <p:nvGrpSpPr>
          <p:cNvPr id="48" name="Group 47">
            <a:extLst>
              <a:ext uri="{FF2B5EF4-FFF2-40B4-BE49-F238E27FC236}">
                <a16:creationId xmlns:a16="http://schemas.microsoft.com/office/drawing/2014/main" id="{20935125-E3EB-8C84-6F7E-08D8BBB95257}"/>
              </a:ext>
            </a:extLst>
          </p:cNvPr>
          <p:cNvGrpSpPr>
            <a:grpSpLocks noGrp="1" noUngrp="1" noRot="1" noMove="1" noResize="1"/>
          </p:cNvGrpSpPr>
          <p:nvPr/>
        </p:nvGrpSpPr>
        <p:grpSpPr>
          <a:xfrm>
            <a:off x="5649288" y="3709299"/>
            <a:ext cx="3859579" cy="2740822"/>
            <a:chOff x="5505624" y="3867129"/>
            <a:chExt cx="3859579" cy="2740822"/>
          </a:xfrm>
        </p:grpSpPr>
        <p:pic>
          <p:nvPicPr>
            <p:cNvPr id="45" name="Picture 44">
              <a:extLst>
                <a:ext uri="{FF2B5EF4-FFF2-40B4-BE49-F238E27FC236}">
                  <a16:creationId xmlns:a16="http://schemas.microsoft.com/office/drawing/2014/main" id="{85A26CB3-4AB0-5EE9-35A0-CFCC354EE673}"/>
                </a:ext>
              </a:extLst>
            </p:cNvPr>
            <p:cNvPicPr>
              <a:picLocks noGrp="1" noRot="1" noChangeAspect="1" noMove="1" noResize="1" noEditPoints="1" noAdjustHandles="1" noChangeArrowheads="1" noChangeShapeType="1" noCrop="1"/>
            </p:cNvPicPr>
            <p:nvPr/>
          </p:nvPicPr>
          <p:blipFill>
            <a:blip r:embed="rId11"/>
            <a:srcRect t="2254" b="21393"/>
            <a:stretch>
              <a:fillRect/>
            </a:stretch>
          </p:blipFill>
          <p:spPr>
            <a:xfrm>
              <a:off x="5618091" y="4194729"/>
              <a:ext cx="3634646" cy="2282272"/>
            </a:xfrm>
            <a:prstGeom prst="rect">
              <a:avLst/>
            </a:prstGeom>
          </p:spPr>
        </p:pic>
        <p:sp>
          <p:nvSpPr>
            <p:cNvPr id="121" name="object 4">
              <a:extLst>
                <a:ext uri="{FF2B5EF4-FFF2-40B4-BE49-F238E27FC236}">
                  <a16:creationId xmlns:a16="http://schemas.microsoft.com/office/drawing/2014/main" id="{4F1EDBA9-29CF-31A4-A63A-3E253805DBC8}"/>
                </a:ext>
              </a:extLst>
            </p:cNvPr>
            <p:cNvSpPr txBox="1">
              <a:spLocks noGrp="1" noRot="1" noMove="1" noResize="1" noEditPoints="1" noAdjustHandles="1" noChangeArrowheads="1" noChangeShapeType="1"/>
            </p:cNvSpPr>
            <p:nvPr/>
          </p:nvSpPr>
          <p:spPr bwMode="gray">
            <a:xfrm>
              <a:off x="5618091" y="3867129"/>
              <a:ext cx="3711085" cy="197490"/>
            </a:xfrm>
            <a:prstGeom prst="rect">
              <a:avLst/>
            </a:prstGeom>
          </p:spPr>
          <p:txBody>
            <a:bodyPr vert="horz" wrap="square" lIns="0" tIns="12700" rIns="0" bIns="0" rtlCol="0" anchor="t" anchorCtr="0">
              <a:spAutoFit/>
            </a:bodyPr>
            <a:lstStyle>
              <a:lvl1pPr algn="l" defTabSz="1219185" rtl="0" eaLnBrk="1" latinLnBrk="0" hangingPunct="1">
                <a:spcBef>
                  <a:spcPct val="0"/>
                </a:spcBef>
                <a:buNone/>
                <a:defRPr sz="1800" b="0" i="0" kern="1200">
                  <a:solidFill>
                    <a:schemeClr val="tx1"/>
                  </a:solidFill>
                  <a:latin typeface="OpenSans-Light"/>
                  <a:ea typeface="+mj-ea"/>
                  <a:cs typeface="OpenSans-Light"/>
                </a:defRPr>
              </a:lvl1pPr>
            </a:lstStyle>
            <a:p>
              <a:pPr marL="12700">
                <a:spcBef>
                  <a:spcPts val="100"/>
                </a:spcBef>
              </a:pPr>
              <a:r>
                <a:rPr lang="en-US" sz="1200" b="1">
                  <a:solidFill>
                    <a:srgbClr val="00A3E0"/>
                  </a:solidFill>
                  <a:latin typeface="+mn-lt"/>
                  <a:ea typeface="Verdana" panose="020B0604030504040204" pitchFamily="34" charset="0"/>
                  <a:cs typeface="Calibri" panose="020F0502020204030204" pitchFamily="34" charset="0"/>
                </a:rPr>
                <a:t>GFS website landing page </a:t>
              </a:r>
              <a:r>
                <a:rPr lang="en-US" sz="1200">
                  <a:solidFill>
                    <a:srgbClr val="00A3E0"/>
                  </a:solidFill>
                  <a:latin typeface="+mn-lt"/>
                  <a:ea typeface="Verdana" panose="020B0604030504040204" pitchFamily="34" charset="0"/>
                  <a:cs typeface="Calibri" panose="020F0502020204030204" pitchFamily="34" charset="0"/>
                </a:rPr>
                <a:t>on tablet</a:t>
              </a:r>
              <a:endParaRPr lang="en-US" sz="1200" spc="-10">
                <a:solidFill>
                  <a:srgbClr val="00A3E0"/>
                </a:solidFill>
                <a:latin typeface="+mn-lt"/>
                <a:ea typeface="Verdana" panose="020B0604030504040204" pitchFamily="34" charset="0"/>
                <a:cs typeface="Calibri" panose="020F0502020204030204" pitchFamily="34" charset="0"/>
              </a:endParaRPr>
            </a:p>
          </p:txBody>
        </p:sp>
        <p:pic>
          <p:nvPicPr>
            <p:cNvPr id="43" name="Picture 42" descr="A black and white tablet&#10;&#10;AI-generated content may be incorrect.">
              <a:extLst>
                <a:ext uri="{FF2B5EF4-FFF2-40B4-BE49-F238E27FC236}">
                  <a16:creationId xmlns:a16="http://schemas.microsoft.com/office/drawing/2014/main" id="{CE807067-5972-E6B2-F200-2521E1E7BB02}"/>
                </a:ext>
              </a:extLst>
            </p:cNvPr>
            <p:cNvPicPr>
              <a:picLocks noGrp="1" noRot="1" noChangeAspect="1" noMove="1" noResize="1" noEditPoints="1" noAdjustHandles="1" noChangeArrowheads="1" noChangeShapeType="1" noCrop="1"/>
            </p:cNvPicPr>
            <p:nvPr/>
          </p:nvPicPr>
          <p:blipFill>
            <a:blip r:embed="rId6"/>
            <a:srcRect l="51244" t="7086" r="3065" b="7643"/>
            <a:stretch>
              <a:fillRect/>
            </a:stretch>
          </p:blipFill>
          <p:spPr>
            <a:xfrm>
              <a:off x="5505624" y="4050757"/>
              <a:ext cx="3859579" cy="2557194"/>
            </a:xfrm>
            <a:prstGeom prst="rect">
              <a:avLst/>
            </a:prstGeom>
          </p:spPr>
        </p:pic>
      </p:grpSp>
    </p:spTree>
    <p:extLst>
      <p:ext uri="{BB962C8B-B14F-4D97-AF65-F5344CB8AC3E}">
        <p14:creationId xmlns:p14="http://schemas.microsoft.com/office/powerpoint/2010/main" val="378377567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0C403-4CCB-C10C-3B4C-5143C653072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38FA11-2DF7-B209-788D-6AFED62B5245}"/>
              </a:ext>
            </a:extLst>
          </p:cNvPr>
          <p:cNvSpPr>
            <a:spLocks noGrp="1"/>
          </p:cNvSpPr>
          <p:nvPr>
            <p:ph type="body" sz="quarter" idx="13"/>
          </p:nvPr>
        </p:nvSpPr>
        <p:spPr/>
        <p:txBody>
          <a:bodyPr/>
          <a:lstStyle/>
          <a:p>
            <a:r>
              <a:rPr lang="en-US"/>
              <a:t>Purpose and usage</a:t>
            </a:r>
          </a:p>
          <a:p>
            <a:endParaRPr lang="en-US"/>
          </a:p>
        </p:txBody>
      </p:sp>
      <p:sp>
        <p:nvSpPr>
          <p:cNvPr id="3" name="Title 2">
            <a:extLst>
              <a:ext uri="{FF2B5EF4-FFF2-40B4-BE49-F238E27FC236}">
                <a16:creationId xmlns:a16="http://schemas.microsoft.com/office/drawing/2014/main" id="{35F9D603-B906-9E31-135F-C08383D9CECA}"/>
              </a:ext>
            </a:extLst>
          </p:cNvPr>
          <p:cNvSpPr>
            <a:spLocks noGrp="1"/>
          </p:cNvSpPr>
          <p:nvPr>
            <p:ph type="title"/>
          </p:nvPr>
        </p:nvSpPr>
        <p:spPr/>
        <p:txBody>
          <a:bodyPr/>
          <a:lstStyle/>
          <a:p>
            <a:pPr>
              <a:spcBef>
                <a:spcPct val="0"/>
              </a:spcBef>
            </a:pPr>
            <a:r>
              <a:rPr lang="en-US">
                <a:solidFill>
                  <a:schemeClr val="tx1"/>
                </a:solidFill>
                <a:cs typeface="Calibri"/>
              </a:rPr>
              <a:t>GFS Style Guide | </a:t>
            </a:r>
            <a:r>
              <a:rPr lang="en-US" b="1"/>
              <a:t>Expanded hero image</a:t>
            </a:r>
            <a:endParaRPr lang="en-US" b="0" i="0">
              <a:solidFill>
                <a:schemeClr val="tx1"/>
              </a:solidFill>
              <a:latin typeface="+mj-lt"/>
            </a:endParaRPr>
          </a:p>
        </p:txBody>
      </p:sp>
      <p:pic>
        <p:nvPicPr>
          <p:cNvPr id="5" name="Picture 4">
            <a:extLst>
              <a:ext uri="{FF2B5EF4-FFF2-40B4-BE49-F238E27FC236}">
                <a16:creationId xmlns:a16="http://schemas.microsoft.com/office/drawing/2014/main" id="{CAB34427-E025-124E-367B-9F72BBF3FF7B}"/>
              </a:ext>
            </a:extLst>
          </p:cNvPr>
          <p:cNvPicPr>
            <a:picLocks noGrp="1" noRot="1" noChangeAspect="1" noMove="1" noResize="1" noEditPoints="1" noAdjustHandles="1" noChangeArrowheads="1" noChangeShapeType="1" noCrop="1"/>
          </p:cNvPicPr>
          <p:nvPr/>
        </p:nvPicPr>
        <p:blipFill>
          <a:blip r:embed="rId2"/>
          <a:srcRect l="2362" r="2362"/>
          <a:stretch/>
        </p:blipFill>
        <p:spPr>
          <a:xfrm>
            <a:off x="-64008" y="472437"/>
            <a:ext cx="4635828" cy="4865676"/>
          </a:xfrm>
          <a:prstGeom prst="rect">
            <a:avLst/>
          </a:prstGeom>
        </p:spPr>
      </p:pic>
      <p:sp>
        <p:nvSpPr>
          <p:cNvPr id="6" name="Text Placeholder 10">
            <a:extLst>
              <a:ext uri="{FF2B5EF4-FFF2-40B4-BE49-F238E27FC236}">
                <a16:creationId xmlns:a16="http://schemas.microsoft.com/office/drawing/2014/main" id="{694254C7-F632-B0EB-32CA-C9F51320B152}"/>
              </a:ext>
            </a:extLst>
          </p:cNvPr>
          <p:cNvSpPr txBox="1">
            <a:spLocks/>
          </p:cNvSpPr>
          <p:nvPr/>
        </p:nvSpPr>
        <p:spPr>
          <a:xfrm>
            <a:off x="342900" y="5266652"/>
            <a:ext cx="3759199" cy="215444"/>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lIns="0" tIns="0" rIns="0" bIns="0" anchor="t">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nSpc>
                <a:spcPct val="100000"/>
              </a:lnSpc>
              <a:defRPr/>
            </a:pPr>
            <a:r>
              <a:rPr lang="en-US" sz="1400">
                <a:latin typeface="+mj-lt"/>
                <a:ea typeface="Open Sans" panose="020B0606030504020204" pitchFamily="34" charset="0"/>
                <a:cs typeface="Open Sans" panose="020B0606030504020204" pitchFamily="34" charset="0"/>
              </a:rPr>
              <a:t>This image replaces the previous lightbulb icon. </a:t>
            </a:r>
          </a:p>
        </p:txBody>
      </p:sp>
      <p:sp>
        <p:nvSpPr>
          <p:cNvPr id="7" name="Rectangle 6">
            <a:extLst>
              <a:ext uri="{FF2B5EF4-FFF2-40B4-BE49-F238E27FC236}">
                <a16:creationId xmlns:a16="http://schemas.microsoft.com/office/drawing/2014/main" id="{A4337FFE-A61F-EC68-D3DB-333CE5594223}"/>
              </a:ext>
            </a:extLst>
          </p:cNvPr>
          <p:cNvSpPr/>
          <p:nvPr/>
        </p:nvSpPr>
        <p:spPr bwMode="gray">
          <a:xfrm>
            <a:off x="342901" y="4881598"/>
            <a:ext cx="3759200" cy="335662"/>
          </a:xfrm>
          <a:prstGeom prst="rect">
            <a:avLst/>
          </a:prstGeom>
          <a:solidFill>
            <a:schemeClr val="tx1"/>
          </a:solidFill>
          <a:ln w="19050" algn="ctr">
            <a:noFill/>
            <a:miter lim="800000"/>
            <a:headEnd/>
            <a:tailEnd/>
          </a:ln>
        </p:spPr>
        <p:txBody>
          <a:bodyPr wrap="square" lIns="91440" tIns="88900" rIns="88900" bIns="88900" rtlCol="0" anchor="ctr"/>
          <a:lstStyle/>
          <a:p>
            <a:pPr algn="ctr">
              <a:lnSpc>
                <a:spcPct val="106000"/>
              </a:lnSpc>
              <a:buFont typeface="Wingdings 2" pitchFamily="18" charset="2"/>
              <a:buNone/>
            </a:pPr>
            <a:r>
              <a:rPr lang="en-US" sz="1600" b="1">
                <a:solidFill>
                  <a:schemeClr val="bg1"/>
                </a:solidFill>
                <a:ea typeface="Verdana" panose="020B0604030504040204" pitchFamily="34" charset="0"/>
                <a:cs typeface="Calibri" panose="020F0502020204030204" pitchFamily="34" charset="0"/>
              </a:rPr>
              <a:t>Expanded hero image</a:t>
            </a:r>
          </a:p>
        </p:txBody>
      </p:sp>
      <p:grpSp>
        <p:nvGrpSpPr>
          <p:cNvPr id="11" name="Group 10">
            <a:extLst>
              <a:ext uri="{FF2B5EF4-FFF2-40B4-BE49-F238E27FC236}">
                <a16:creationId xmlns:a16="http://schemas.microsoft.com/office/drawing/2014/main" id="{4CD89BC6-4D7D-C56B-0217-700D06AFAB52}"/>
              </a:ext>
            </a:extLst>
          </p:cNvPr>
          <p:cNvGrpSpPr/>
          <p:nvPr/>
        </p:nvGrpSpPr>
        <p:grpSpPr>
          <a:xfrm>
            <a:off x="5862262" y="1108709"/>
            <a:ext cx="5986838" cy="4737019"/>
            <a:chOff x="5862262" y="726965"/>
            <a:chExt cx="5986838" cy="4737019"/>
          </a:xfrm>
        </p:grpSpPr>
        <p:grpSp>
          <p:nvGrpSpPr>
            <p:cNvPr id="17" name="Group 16">
              <a:extLst>
                <a:ext uri="{FF2B5EF4-FFF2-40B4-BE49-F238E27FC236}">
                  <a16:creationId xmlns:a16="http://schemas.microsoft.com/office/drawing/2014/main" id="{961B6DD6-2679-2625-53F7-41D46457D867}"/>
                </a:ext>
              </a:extLst>
            </p:cNvPr>
            <p:cNvGrpSpPr/>
            <p:nvPr/>
          </p:nvGrpSpPr>
          <p:grpSpPr>
            <a:xfrm>
              <a:off x="5862262" y="726965"/>
              <a:ext cx="5986838" cy="1649580"/>
              <a:chOff x="5862262" y="726965"/>
              <a:chExt cx="5986838" cy="1649580"/>
            </a:xfrm>
          </p:grpSpPr>
          <p:sp>
            <p:nvSpPr>
              <p:cNvPr id="24" name="Rectangle 23">
                <a:extLst>
                  <a:ext uri="{FF2B5EF4-FFF2-40B4-BE49-F238E27FC236}">
                    <a16:creationId xmlns:a16="http://schemas.microsoft.com/office/drawing/2014/main" id="{3F99E535-8B3A-74F5-C9F7-818FFA9B4425}"/>
                  </a:ext>
                </a:extLst>
              </p:cNvPr>
              <p:cNvSpPr/>
              <p:nvPr/>
            </p:nvSpPr>
            <p:spPr bwMode="gray">
              <a:xfrm>
                <a:off x="5862262" y="1149542"/>
                <a:ext cx="5986838" cy="1227003"/>
              </a:xfrm>
              <a:prstGeom prst="rect">
                <a:avLst/>
              </a:prstGeom>
              <a:solidFill>
                <a:schemeClr val="bg1"/>
              </a:solidFill>
              <a:ln w="19050" algn="ctr">
                <a:noFill/>
                <a:miter lim="800000"/>
                <a:headEnd/>
                <a:tailEnd/>
              </a:ln>
            </p:spPr>
            <p:txBody>
              <a:bodyPr wrap="square" lIns="0" tIns="0" rIns="0" bIns="91440" rtlCol="0" anchor="t" anchorCtr="0">
                <a:spAutoFit/>
              </a:bodyPr>
              <a:lstStyle/>
              <a:p>
                <a:pPr>
                  <a:lnSpc>
                    <a:spcPct val="106000"/>
                  </a:lnSpc>
                  <a:buFont typeface="Wingdings 2" pitchFamily="18" charset="2"/>
                </a:pPr>
                <a:r>
                  <a:rPr lang="en-US" sz="1400">
                    <a:ea typeface="Verdana"/>
                    <a:cs typeface="Calibri"/>
                  </a:rPr>
                  <a:t>This image is an expansion of the GFS primary or hero image. It incorporates the four GFS strategic objectives to highlight our core principles and broadly showcase the brand identity. </a:t>
                </a:r>
                <a:endParaRPr lang="en-US" sz="1400"/>
              </a:p>
              <a:p>
                <a:pPr>
                  <a:lnSpc>
                    <a:spcPct val="106000"/>
                  </a:lnSpc>
                  <a:buFont typeface="Wingdings 2" pitchFamily="18" charset="2"/>
                  <a:buNone/>
                </a:pPr>
                <a:endParaRPr lang="en-US" sz="1400">
                  <a:ea typeface="Verdana" panose="020B0604030504040204" pitchFamily="34" charset="0"/>
                  <a:cs typeface="Calibri" panose="020F0502020204030204" pitchFamily="34" charset="0"/>
                </a:endParaRPr>
              </a:p>
              <a:p>
                <a:pPr>
                  <a:lnSpc>
                    <a:spcPct val="106000"/>
                  </a:lnSpc>
                  <a:buFont typeface="Wingdings 2" pitchFamily="18" charset="2"/>
                  <a:buNone/>
                </a:pPr>
                <a:r>
                  <a:rPr lang="en-US" sz="1400">
                    <a:ea typeface="Verdana"/>
                    <a:cs typeface="Calibri"/>
                  </a:rPr>
                  <a:t>For more details on the GFS strategic goals, refer to slide 12.</a:t>
                </a:r>
              </a:p>
            </p:txBody>
          </p:sp>
          <p:sp>
            <p:nvSpPr>
              <p:cNvPr id="25" name="Rectangle 24">
                <a:extLst>
                  <a:ext uri="{FF2B5EF4-FFF2-40B4-BE49-F238E27FC236}">
                    <a16:creationId xmlns:a16="http://schemas.microsoft.com/office/drawing/2014/main" id="{95375A78-F7C4-2FE6-816D-DC2F74F42D5D}"/>
                  </a:ext>
                </a:extLst>
              </p:cNvPr>
              <p:cNvSpPr/>
              <p:nvPr/>
            </p:nvSpPr>
            <p:spPr bwMode="gray">
              <a:xfrm>
                <a:off x="5862262" y="726965"/>
                <a:ext cx="5986837" cy="335662"/>
              </a:xfrm>
              <a:prstGeom prst="rect">
                <a:avLst/>
              </a:prstGeom>
              <a:solidFill>
                <a:schemeClr val="tx1"/>
              </a:solidFill>
              <a:ln w="19050" algn="ctr">
                <a:noFill/>
                <a:miter lim="800000"/>
                <a:headEnd/>
                <a:tailEnd/>
              </a:ln>
            </p:spPr>
            <p:txBody>
              <a:bodyPr wrap="square" lIns="91440" tIns="88900" rIns="88900" bIns="88900" rtlCol="0" anchor="ctr"/>
              <a:lstStyle/>
              <a:p>
                <a:pPr>
                  <a:lnSpc>
                    <a:spcPct val="106000"/>
                  </a:lnSpc>
                </a:pPr>
                <a:r>
                  <a:rPr lang="en-US" sz="1600" b="1">
                    <a:solidFill>
                      <a:schemeClr val="bg1"/>
                    </a:solidFill>
                    <a:ea typeface="Verdana"/>
                    <a:cs typeface="Calibri"/>
                  </a:rPr>
                  <a:t>What it symbolizes</a:t>
                </a:r>
                <a:endParaRPr lang="en-US" sz="1600">
                  <a:solidFill>
                    <a:schemeClr val="bg1"/>
                  </a:solidFill>
                  <a:ea typeface="Verdana"/>
                  <a:cs typeface="Calibri"/>
                </a:endParaRPr>
              </a:p>
            </p:txBody>
          </p:sp>
        </p:grpSp>
        <p:grpSp>
          <p:nvGrpSpPr>
            <p:cNvPr id="18" name="Group 17">
              <a:extLst>
                <a:ext uri="{FF2B5EF4-FFF2-40B4-BE49-F238E27FC236}">
                  <a16:creationId xmlns:a16="http://schemas.microsoft.com/office/drawing/2014/main" id="{B1862019-DA45-48C6-92D9-72007068D94E}"/>
                </a:ext>
              </a:extLst>
            </p:cNvPr>
            <p:cNvGrpSpPr/>
            <p:nvPr/>
          </p:nvGrpSpPr>
          <p:grpSpPr>
            <a:xfrm>
              <a:off x="5862262" y="2874865"/>
              <a:ext cx="5986837" cy="1208101"/>
              <a:chOff x="5862262" y="2976133"/>
              <a:chExt cx="5986837" cy="1208101"/>
            </a:xfrm>
          </p:grpSpPr>
          <p:sp>
            <p:nvSpPr>
              <p:cNvPr id="22" name="Rectangle 21">
                <a:extLst>
                  <a:ext uri="{FF2B5EF4-FFF2-40B4-BE49-F238E27FC236}">
                    <a16:creationId xmlns:a16="http://schemas.microsoft.com/office/drawing/2014/main" id="{0E5B67B0-44BC-9D81-5A9C-2291E0E496D2}"/>
                  </a:ext>
                </a:extLst>
              </p:cNvPr>
              <p:cNvSpPr/>
              <p:nvPr/>
            </p:nvSpPr>
            <p:spPr bwMode="gray">
              <a:xfrm>
                <a:off x="5862262" y="2976133"/>
                <a:ext cx="5986837" cy="335662"/>
              </a:xfrm>
              <a:prstGeom prst="rect">
                <a:avLst/>
              </a:prstGeom>
              <a:solidFill>
                <a:schemeClr val="tx1"/>
              </a:solidFill>
              <a:ln w="19050" algn="ctr">
                <a:noFill/>
                <a:miter lim="800000"/>
                <a:headEnd/>
                <a:tailEnd/>
              </a:ln>
            </p:spPr>
            <p:txBody>
              <a:bodyPr wrap="square" lIns="91440" tIns="88900" rIns="88900" bIns="88900" rtlCol="0" anchor="ctr"/>
              <a:lstStyle/>
              <a:p>
                <a:pPr>
                  <a:lnSpc>
                    <a:spcPct val="106000"/>
                  </a:lnSpc>
                  <a:buFont typeface="Wingdings 2" pitchFamily="18" charset="2"/>
                  <a:buNone/>
                </a:pPr>
                <a:r>
                  <a:rPr lang="en-US" sz="1600" b="1">
                    <a:solidFill>
                      <a:schemeClr val="bg1"/>
                    </a:solidFill>
                    <a:ea typeface="Verdana"/>
                    <a:cs typeface="Calibri"/>
                  </a:rPr>
                  <a:t>When to use it</a:t>
                </a:r>
                <a:endParaRPr lang="en-US" sz="1600">
                  <a:solidFill>
                    <a:schemeClr val="bg1"/>
                  </a:solidFill>
                  <a:ea typeface="Verdana"/>
                  <a:cs typeface="Calibri"/>
                </a:endParaRPr>
              </a:p>
            </p:txBody>
          </p:sp>
          <p:sp>
            <p:nvSpPr>
              <p:cNvPr id="23" name="Rectangle 22">
                <a:extLst>
                  <a:ext uri="{FF2B5EF4-FFF2-40B4-BE49-F238E27FC236}">
                    <a16:creationId xmlns:a16="http://schemas.microsoft.com/office/drawing/2014/main" id="{6073F182-7D96-6856-0DFA-07C3354D9140}"/>
                  </a:ext>
                </a:extLst>
              </p:cNvPr>
              <p:cNvSpPr/>
              <p:nvPr/>
            </p:nvSpPr>
            <p:spPr bwMode="gray">
              <a:xfrm>
                <a:off x="5862262" y="3414023"/>
                <a:ext cx="5801418" cy="770211"/>
              </a:xfrm>
              <a:prstGeom prst="rect">
                <a:avLst/>
              </a:prstGeom>
              <a:solidFill>
                <a:schemeClr val="bg1"/>
              </a:solidFill>
              <a:ln w="19050" algn="ctr">
                <a:noFill/>
                <a:miter lim="800000"/>
                <a:headEnd/>
                <a:tailEnd/>
              </a:ln>
            </p:spPr>
            <p:txBody>
              <a:bodyPr wrap="square" lIns="0" tIns="0" rIns="0" bIns="91440" rtlCol="0" anchor="t" anchorCtr="0">
                <a:spAutoFit/>
              </a:bodyPr>
              <a:lstStyle/>
              <a:p>
                <a:pPr marL="171450" indent="-171450">
                  <a:lnSpc>
                    <a:spcPct val="106000"/>
                  </a:lnSpc>
                  <a:buFont typeface="Arial" panose="020B0604020202020204" pitchFamily="34" charset="0"/>
                  <a:buChar char="•"/>
                </a:pPr>
                <a:r>
                  <a:rPr lang="en-US" sz="1400">
                    <a:ea typeface="Verdana"/>
                    <a:cs typeface="Calibri"/>
                  </a:rPr>
                  <a:t>Alternative option for GFS email communications</a:t>
                </a:r>
              </a:p>
              <a:p>
                <a:pPr marL="171450" indent="-171450">
                  <a:lnSpc>
                    <a:spcPct val="106000"/>
                  </a:lnSpc>
                  <a:buFont typeface="Arial" panose="020B0604020202020204" pitchFamily="34" charset="0"/>
                  <a:buChar char="•"/>
                </a:pPr>
                <a:r>
                  <a:rPr lang="en-US" sz="1400">
                    <a:ea typeface="Verdana"/>
                    <a:cs typeface="Calibri"/>
                  </a:rPr>
                  <a:t>GFS general marketing collateral or presentations - as approved by GFS Leadership team</a:t>
                </a:r>
              </a:p>
            </p:txBody>
          </p:sp>
        </p:grpSp>
        <p:grpSp>
          <p:nvGrpSpPr>
            <p:cNvPr id="19" name="Group 18">
              <a:extLst>
                <a:ext uri="{FF2B5EF4-FFF2-40B4-BE49-F238E27FC236}">
                  <a16:creationId xmlns:a16="http://schemas.microsoft.com/office/drawing/2014/main" id="{27CDC946-2B50-08AC-3696-0E88AB3FDADC}"/>
                </a:ext>
              </a:extLst>
            </p:cNvPr>
            <p:cNvGrpSpPr/>
            <p:nvPr/>
          </p:nvGrpSpPr>
          <p:grpSpPr>
            <a:xfrm>
              <a:off x="5862262" y="4499854"/>
              <a:ext cx="5986835" cy="964130"/>
              <a:chOff x="5862262" y="5286143"/>
              <a:chExt cx="5986835" cy="964130"/>
            </a:xfrm>
          </p:grpSpPr>
          <p:sp>
            <p:nvSpPr>
              <p:cNvPr id="20" name="Rectangle 19">
                <a:extLst>
                  <a:ext uri="{FF2B5EF4-FFF2-40B4-BE49-F238E27FC236}">
                    <a16:creationId xmlns:a16="http://schemas.microsoft.com/office/drawing/2014/main" id="{D3E79923-54D8-A4F1-A0BE-93F5752604DE}"/>
                  </a:ext>
                </a:extLst>
              </p:cNvPr>
              <p:cNvSpPr/>
              <p:nvPr/>
            </p:nvSpPr>
            <p:spPr bwMode="gray">
              <a:xfrm>
                <a:off x="5862262" y="5286143"/>
                <a:ext cx="5986835" cy="335662"/>
              </a:xfrm>
              <a:prstGeom prst="rect">
                <a:avLst/>
              </a:prstGeom>
              <a:solidFill>
                <a:schemeClr val="tx1"/>
              </a:solidFill>
              <a:ln w="19050" algn="ctr">
                <a:noFill/>
                <a:miter lim="800000"/>
                <a:headEnd/>
                <a:tailEnd/>
              </a:ln>
            </p:spPr>
            <p:txBody>
              <a:bodyPr wrap="square" lIns="91440" tIns="88900" rIns="88900" bIns="88900" rtlCol="0" anchor="ctr"/>
              <a:lstStyle/>
              <a:p>
                <a:pPr>
                  <a:lnSpc>
                    <a:spcPct val="106000"/>
                  </a:lnSpc>
                </a:pPr>
                <a:r>
                  <a:rPr lang="en-US" sz="1600" b="1">
                    <a:solidFill>
                      <a:schemeClr val="bg1"/>
                    </a:solidFill>
                    <a:ea typeface="Verdana"/>
                    <a:cs typeface="Calibri"/>
                  </a:rPr>
                  <a:t>How to use it</a:t>
                </a:r>
                <a:endParaRPr lang="en-US" sz="1600">
                  <a:solidFill>
                    <a:schemeClr val="bg1"/>
                  </a:solidFill>
                  <a:ea typeface="Verdana"/>
                  <a:cs typeface="Calibri"/>
                </a:endParaRPr>
              </a:p>
            </p:txBody>
          </p:sp>
          <p:sp>
            <p:nvSpPr>
              <p:cNvPr id="21" name="Rectangle 20">
                <a:extLst>
                  <a:ext uri="{FF2B5EF4-FFF2-40B4-BE49-F238E27FC236}">
                    <a16:creationId xmlns:a16="http://schemas.microsoft.com/office/drawing/2014/main" id="{FE401E24-6DF9-52BB-9E7D-5B8FDC59500E}"/>
                  </a:ext>
                </a:extLst>
              </p:cNvPr>
              <p:cNvSpPr/>
              <p:nvPr/>
            </p:nvSpPr>
            <p:spPr bwMode="gray">
              <a:xfrm>
                <a:off x="5862262" y="5708458"/>
                <a:ext cx="5496618" cy="541815"/>
              </a:xfrm>
              <a:prstGeom prst="rect">
                <a:avLst/>
              </a:prstGeom>
              <a:solidFill>
                <a:schemeClr val="bg1"/>
              </a:solidFill>
              <a:ln w="19050" algn="ctr">
                <a:noFill/>
                <a:miter lim="800000"/>
                <a:headEnd/>
                <a:tailEnd/>
              </a:ln>
            </p:spPr>
            <p:txBody>
              <a:bodyPr wrap="square" lIns="0" tIns="0" rIns="0" bIns="91440" rtlCol="0" anchor="t" anchorCtr="0">
                <a:spAutoFit/>
              </a:bodyPr>
              <a:lstStyle/>
              <a:p>
                <a:pPr marL="171450" indent="-171450">
                  <a:lnSpc>
                    <a:spcPct val="106000"/>
                  </a:lnSpc>
                  <a:buFont typeface="Arial" panose="020B0604020202020204" pitchFamily="34" charset="0"/>
                  <a:buChar char="•"/>
                </a:pPr>
                <a:r>
                  <a:rPr lang="en-US" sz="1400">
                    <a:ea typeface="Verdana"/>
                    <a:cs typeface="Calibri"/>
                  </a:rPr>
                  <a:t>Use email templates in this deck</a:t>
                </a:r>
              </a:p>
              <a:p>
                <a:pPr marL="171450" indent="-171450">
                  <a:lnSpc>
                    <a:spcPct val="106000"/>
                  </a:lnSpc>
                  <a:buFont typeface="Arial" panose="020B0604020202020204" pitchFamily="34" charset="0"/>
                  <a:buChar char="•"/>
                </a:pPr>
                <a:r>
                  <a:rPr lang="en-US" sz="1400">
                    <a:ea typeface="Verdana"/>
                    <a:cs typeface="Calibri"/>
                  </a:rPr>
                  <a:t>Copy/paste image 2  as needed into GFS documents</a:t>
                </a:r>
                <a:endParaRPr lang="en-US" sz="1400">
                  <a:ea typeface="Verdana" panose="020B0604030504040204" pitchFamily="34" charset="0"/>
                  <a:cs typeface="Calibri" panose="020F0502020204030204" pitchFamily="34" charset="0"/>
                </a:endParaRPr>
              </a:p>
            </p:txBody>
          </p:sp>
        </p:grpSp>
      </p:grpSp>
    </p:spTree>
    <p:extLst>
      <p:ext uri="{BB962C8B-B14F-4D97-AF65-F5344CB8AC3E}">
        <p14:creationId xmlns:p14="http://schemas.microsoft.com/office/powerpoint/2010/main" val="114686526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F4690-046B-1637-A5EF-FBC634F89AB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AA4D03F-5EB3-921C-546A-5EE4AEFF4581}"/>
              </a:ext>
            </a:extLst>
          </p:cNvPr>
          <p:cNvSpPr>
            <a:spLocks noGrp="1"/>
          </p:cNvSpPr>
          <p:nvPr>
            <p:ph type="body" sz="quarter" idx="13"/>
          </p:nvPr>
        </p:nvSpPr>
        <p:spPr/>
        <p:txBody>
          <a:bodyPr/>
          <a:lstStyle/>
          <a:p>
            <a:r>
              <a:rPr lang="en-US"/>
              <a:t>Purpose and usage</a:t>
            </a:r>
          </a:p>
          <a:p>
            <a:endParaRPr lang="en-US"/>
          </a:p>
        </p:txBody>
      </p:sp>
      <p:sp>
        <p:nvSpPr>
          <p:cNvPr id="3" name="Title 2">
            <a:extLst>
              <a:ext uri="{FF2B5EF4-FFF2-40B4-BE49-F238E27FC236}">
                <a16:creationId xmlns:a16="http://schemas.microsoft.com/office/drawing/2014/main" id="{BEF03348-B1FF-4B71-654B-8C5D02887296}"/>
              </a:ext>
            </a:extLst>
          </p:cNvPr>
          <p:cNvSpPr>
            <a:spLocks noGrp="1"/>
          </p:cNvSpPr>
          <p:nvPr>
            <p:ph type="title"/>
          </p:nvPr>
        </p:nvSpPr>
        <p:spPr/>
        <p:txBody>
          <a:bodyPr/>
          <a:lstStyle/>
          <a:p>
            <a:r>
              <a:rPr lang="en-US">
                <a:solidFill>
                  <a:schemeClr val="tx1"/>
                </a:solidFill>
                <a:cs typeface="Calibri"/>
              </a:rPr>
              <a:t>GFS Style Guide | </a:t>
            </a:r>
            <a:r>
              <a:rPr lang="en-US" b="1">
                <a:cs typeface="Calibri Light"/>
              </a:rPr>
              <a:t>SWIFT wordmark</a:t>
            </a:r>
            <a:endParaRPr lang="en-US"/>
          </a:p>
        </p:txBody>
      </p:sp>
      <p:pic>
        <p:nvPicPr>
          <p:cNvPr id="5" name="Picture 4" descr="A picture containing text, clipart, vector graphics, sign&#10;&#10;Description automatically generated">
            <a:extLst>
              <a:ext uri="{FF2B5EF4-FFF2-40B4-BE49-F238E27FC236}">
                <a16:creationId xmlns:a16="http://schemas.microsoft.com/office/drawing/2014/main" id="{581DA56A-09B9-0804-1511-D29F659A7A9F}"/>
              </a:ext>
            </a:extLst>
          </p:cNvPr>
          <p:cNvPicPr>
            <a:picLocks noGrp="1" noRot="1" noChangeAspect="1" noMove="1" noResize="1" noEditPoints="1" noAdjustHandles="1" noChangeArrowheads="1" noChangeShapeType="1" noCrop="1"/>
          </p:cNvPicPr>
          <p:nvPr/>
        </p:nvPicPr>
        <p:blipFill>
          <a:blip r:embed="rId2"/>
          <a:stretch>
            <a:fillRect/>
          </a:stretch>
        </p:blipFill>
        <p:spPr>
          <a:xfrm>
            <a:off x="1052195" y="2783805"/>
            <a:ext cx="2340612" cy="945607"/>
          </a:xfrm>
          <a:prstGeom prst="rect">
            <a:avLst/>
          </a:prstGeom>
        </p:spPr>
      </p:pic>
      <p:sp>
        <p:nvSpPr>
          <p:cNvPr id="10" name="Text Placeholder 10">
            <a:extLst>
              <a:ext uri="{FF2B5EF4-FFF2-40B4-BE49-F238E27FC236}">
                <a16:creationId xmlns:a16="http://schemas.microsoft.com/office/drawing/2014/main" id="{B4CA6513-B0CC-9B88-6097-4871412E3AED}"/>
              </a:ext>
            </a:extLst>
          </p:cNvPr>
          <p:cNvSpPr txBox="1">
            <a:spLocks/>
          </p:cNvSpPr>
          <p:nvPr/>
        </p:nvSpPr>
        <p:spPr>
          <a:xfrm>
            <a:off x="342900" y="5266652"/>
            <a:ext cx="3759199" cy="861774"/>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lIns="0" tIns="0" rIns="0" bIns="0" anchor="t">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nSpc>
                <a:spcPct val="100000"/>
              </a:lnSpc>
              <a:defRPr/>
            </a:pPr>
            <a:r>
              <a:rPr lang="en-US" sz="1400">
                <a:latin typeface="+mj-lt"/>
                <a:ea typeface="Open Sans"/>
                <a:cs typeface="Open Sans"/>
              </a:rPr>
              <a:t>The wordmark is used to establish brand identity for the SWIFT platform. It can be used with the GFS imagery or as a standalone image for SWIFT collateral and deliverables.</a:t>
            </a:r>
          </a:p>
        </p:txBody>
      </p:sp>
      <p:sp>
        <p:nvSpPr>
          <p:cNvPr id="11" name="Rectangle 10">
            <a:extLst>
              <a:ext uri="{FF2B5EF4-FFF2-40B4-BE49-F238E27FC236}">
                <a16:creationId xmlns:a16="http://schemas.microsoft.com/office/drawing/2014/main" id="{0F135410-7AC6-99EA-C4C9-A1472149E7B0}"/>
              </a:ext>
            </a:extLst>
          </p:cNvPr>
          <p:cNvSpPr/>
          <p:nvPr/>
        </p:nvSpPr>
        <p:spPr bwMode="gray">
          <a:xfrm>
            <a:off x="342901" y="4881598"/>
            <a:ext cx="3759200" cy="335662"/>
          </a:xfrm>
          <a:prstGeom prst="rect">
            <a:avLst/>
          </a:prstGeom>
          <a:solidFill>
            <a:schemeClr val="tx1"/>
          </a:solidFill>
          <a:ln w="19050" algn="ctr">
            <a:noFill/>
            <a:miter lim="800000"/>
            <a:headEnd/>
            <a:tailEnd/>
          </a:ln>
        </p:spPr>
        <p:txBody>
          <a:bodyPr wrap="square" lIns="91440" tIns="88900" rIns="88900" bIns="88900" rtlCol="0" anchor="ctr"/>
          <a:lstStyle/>
          <a:p>
            <a:pPr algn="ctr">
              <a:lnSpc>
                <a:spcPct val="106000"/>
              </a:lnSpc>
              <a:buFont typeface="Wingdings 2" pitchFamily="18" charset="2"/>
              <a:buNone/>
            </a:pPr>
            <a:r>
              <a:rPr lang="en-US" sz="1600" b="1">
                <a:solidFill>
                  <a:schemeClr val="bg1"/>
                </a:solidFill>
                <a:ea typeface="Verdana" panose="020B0604030504040204" pitchFamily="34" charset="0"/>
                <a:cs typeface="Calibri" panose="020F0502020204030204" pitchFamily="34" charset="0"/>
              </a:rPr>
              <a:t>Wordmark (Text logo for Swift)</a:t>
            </a:r>
          </a:p>
        </p:txBody>
      </p:sp>
      <p:grpSp>
        <p:nvGrpSpPr>
          <p:cNvPr id="16" name="Group 15">
            <a:extLst>
              <a:ext uri="{FF2B5EF4-FFF2-40B4-BE49-F238E27FC236}">
                <a16:creationId xmlns:a16="http://schemas.microsoft.com/office/drawing/2014/main" id="{A21DBB8E-3D9A-8477-6EFB-30B49784CBA5}"/>
              </a:ext>
            </a:extLst>
          </p:cNvPr>
          <p:cNvGrpSpPr/>
          <p:nvPr/>
        </p:nvGrpSpPr>
        <p:grpSpPr>
          <a:xfrm>
            <a:off x="5862262" y="1108709"/>
            <a:ext cx="5986837" cy="4508623"/>
            <a:chOff x="5862262" y="726965"/>
            <a:chExt cx="5986837" cy="4508623"/>
          </a:xfrm>
        </p:grpSpPr>
        <p:grpSp>
          <p:nvGrpSpPr>
            <p:cNvPr id="17" name="Group 16">
              <a:extLst>
                <a:ext uri="{FF2B5EF4-FFF2-40B4-BE49-F238E27FC236}">
                  <a16:creationId xmlns:a16="http://schemas.microsoft.com/office/drawing/2014/main" id="{2CF24627-5CB4-A785-9935-55A99AA02BC0}"/>
                </a:ext>
              </a:extLst>
            </p:cNvPr>
            <p:cNvGrpSpPr/>
            <p:nvPr/>
          </p:nvGrpSpPr>
          <p:grpSpPr>
            <a:xfrm>
              <a:off x="5862262" y="726965"/>
              <a:ext cx="5986837" cy="964392"/>
              <a:chOff x="5862262" y="726965"/>
              <a:chExt cx="5986837" cy="964392"/>
            </a:xfrm>
          </p:grpSpPr>
          <p:sp>
            <p:nvSpPr>
              <p:cNvPr id="24" name="Rectangle 23">
                <a:extLst>
                  <a:ext uri="{FF2B5EF4-FFF2-40B4-BE49-F238E27FC236}">
                    <a16:creationId xmlns:a16="http://schemas.microsoft.com/office/drawing/2014/main" id="{44B17DE8-07DC-CB8B-CB73-A68F50A8EB91}"/>
                  </a:ext>
                </a:extLst>
              </p:cNvPr>
              <p:cNvSpPr/>
              <p:nvPr/>
            </p:nvSpPr>
            <p:spPr bwMode="gray">
              <a:xfrm>
                <a:off x="5862262" y="1149542"/>
                <a:ext cx="5429515" cy="541815"/>
              </a:xfrm>
              <a:prstGeom prst="rect">
                <a:avLst/>
              </a:prstGeom>
              <a:solidFill>
                <a:schemeClr val="bg1"/>
              </a:solidFill>
              <a:ln w="19050" algn="ctr">
                <a:noFill/>
                <a:miter lim="800000"/>
                <a:headEnd/>
                <a:tailEnd/>
              </a:ln>
            </p:spPr>
            <p:txBody>
              <a:bodyPr wrap="square" lIns="0" tIns="0" rIns="0" bIns="91440" rtlCol="0" anchor="t" anchorCtr="0">
                <a:spAutoFit/>
              </a:bodyPr>
              <a:lstStyle/>
              <a:p>
                <a:pPr>
                  <a:lnSpc>
                    <a:spcPct val="106000"/>
                  </a:lnSpc>
                </a:pPr>
                <a:r>
                  <a:rPr lang="en-US" sz="1400">
                    <a:ea typeface="Verdana"/>
                    <a:cs typeface="Calibri"/>
                  </a:rPr>
                  <a:t>This wordmark identifies the SWIFT brand, which is the GFS global finance platform, powered by SAP S4 HANA.</a:t>
                </a:r>
              </a:p>
            </p:txBody>
          </p:sp>
          <p:sp>
            <p:nvSpPr>
              <p:cNvPr id="25" name="Rectangle 24">
                <a:extLst>
                  <a:ext uri="{FF2B5EF4-FFF2-40B4-BE49-F238E27FC236}">
                    <a16:creationId xmlns:a16="http://schemas.microsoft.com/office/drawing/2014/main" id="{217412A2-E780-BD74-2AD2-29F5F945DFEA}"/>
                  </a:ext>
                </a:extLst>
              </p:cNvPr>
              <p:cNvSpPr/>
              <p:nvPr/>
            </p:nvSpPr>
            <p:spPr bwMode="gray">
              <a:xfrm>
                <a:off x="5862262" y="726965"/>
                <a:ext cx="5986837" cy="335662"/>
              </a:xfrm>
              <a:prstGeom prst="rect">
                <a:avLst/>
              </a:prstGeom>
              <a:solidFill>
                <a:schemeClr val="tx1"/>
              </a:solidFill>
              <a:ln w="19050" algn="ctr">
                <a:noFill/>
                <a:miter lim="800000"/>
                <a:headEnd/>
                <a:tailEnd/>
              </a:ln>
            </p:spPr>
            <p:txBody>
              <a:bodyPr wrap="square" lIns="91440" tIns="88900" rIns="88900" bIns="88900" rtlCol="0" anchor="ctr"/>
              <a:lstStyle/>
              <a:p>
                <a:pPr>
                  <a:lnSpc>
                    <a:spcPct val="106000"/>
                  </a:lnSpc>
                  <a:buFont typeface="Wingdings 2" pitchFamily="18" charset="2"/>
                  <a:buNone/>
                </a:pPr>
                <a:r>
                  <a:rPr lang="en-US" sz="1600" b="1">
                    <a:solidFill>
                      <a:schemeClr val="bg1"/>
                    </a:solidFill>
                    <a:ea typeface="Verdana"/>
                    <a:cs typeface="Calibri"/>
                  </a:rPr>
                  <a:t>What it symbolizes</a:t>
                </a:r>
                <a:endParaRPr lang="en-US" sz="1600">
                  <a:solidFill>
                    <a:schemeClr val="bg1"/>
                  </a:solidFill>
                  <a:ea typeface="Verdana"/>
                  <a:cs typeface="Calibri"/>
                </a:endParaRPr>
              </a:p>
            </p:txBody>
          </p:sp>
        </p:grpSp>
        <p:grpSp>
          <p:nvGrpSpPr>
            <p:cNvPr id="18" name="Group 17">
              <a:extLst>
                <a:ext uri="{FF2B5EF4-FFF2-40B4-BE49-F238E27FC236}">
                  <a16:creationId xmlns:a16="http://schemas.microsoft.com/office/drawing/2014/main" id="{97901EFF-0824-6A21-0866-A5474CC3B63A}"/>
                </a:ext>
              </a:extLst>
            </p:cNvPr>
            <p:cNvGrpSpPr/>
            <p:nvPr/>
          </p:nvGrpSpPr>
          <p:grpSpPr>
            <a:xfrm>
              <a:off x="5862262" y="2874865"/>
              <a:ext cx="5986837" cy="1208101"/>
              <a:chOff x="5862262" y="2976133"/>
              <a:chExt cx="5986837" cy="1208101"/>
            </a:xfrm>
          </p:grpSpPr>
          <p:sp>
            <p:nvSpPr>
              <p:cNvPr id="22" name="Rectangle 21">
                <a:extLst>
                  <a:ext uri="{FF2B5EF4-FFF2-40B4-BE49-F238E27FC236}">
                    <a16:creationId xmlns:a16="http://schemas.microsoft.com/office/drawing/2014/main" id="{8F76C06D-8FB5-AAA1-F5CD-83988BC160DF}"/>
                  </a:ext>
                </a:extLst>
              </p:cNvPr>
              <p:cNvSpPr/>
              <p:nvPr/>
            </p:nvSpPr>
            <p:spPr bwMode="gray">
              <a:xfrm>
                <a:off x="5862262" y="2976133"/>
                <a:ext cx="5986837" cy="335662"/>
              </a:xfrm>
              <a:prstGeom prst="rect">
                <a:avLst/>
              </a:prstGeom>
              <a:solidFill>
                <a:schemeClr val="tx1"/>
              </a:solidFill>
              <a:ln w="19050" algn="ctr">
                <a:noFill/>
                <a:miter lim="800000"/>
                <a:headEnd/>
                <a:tailEnd/>
              </a:ln>
            </p:spPr>
            <p:txBody>
              <a:bodyPr wrap="square" lIns="91440" tIns="88900" rIns="88900" bIns="88900" rtlCol="0" anchor="ctr"/>
              <a:lstStyle/>
              <a:p>
                <a:pPr>
                  <a:lnSpc>
                    <a:spcPct val="106000"/>
                  </a:lnSpc>
                  <a:buFont typeface="Wingdings 2" pitchFamily="18" charset="2"/>
                  <a:buNone/>
                </a:pPr>
                <a:r>
                  <a:rPr lang="en-US" sz="1600" b="1">
                    <a:solidFill>
                      <a:schemeClr val="bg1"/>
                    </a:solidFill>
                    <a:ea typeface="Verdana"/>
                    <a:cs typeface="Calibri"/>
                  </a:rPr>
                  <a:t>When to use it</a:t>
                </a:r>
                <a:endParaRPr lang="en-US" sz="1600">
                  <a:solidFill>
                    <a:schemeClr val="bg1"/>
                  </a:solidFill>
                  <a:ea typeface="Verdana"/>
                  <a:cs typeface="Calibri"/>
                </a:endParaRPr>
              </a:p>
            </p:txBody>
          </p:sp>
          <p:sp>
            <p:nvSpPr>
              <p:cNvPr id="23" name="Rectangle 22">
                <a:extLst>
                  <a:ext uri="{FF2B5EF4-FFF2-40B4-BE49-F238E27FC236}">
                    <a16:creationId xmlns:a16="http://schemas.microsoft.com/office/drawing/2014/main" id="{A6403158-6205-FF38-BA46-A5F59B211787}"/>
                  </a:ext>
                </a:extLst>
              </p:cNvPr>
              <p:cNvSpPr/>
              <p:nvPr/>
            </p:nvSpPr>
            <p:spPr bwMode="gray">
              <a:xfrm>
                <a:off x="5862262" y="3414023"/>
                <a:ext cx="5986836" cy="770211"/>
              </a:xfrm>
              <a:prstGeom prst="rect">
                <a:avLst/>
              </a:prstGeom>
              <a:solidFill>
                <a:schemeClr val="bg1"/>
              </a:solidFill>
              <a:ln w="19050" algn="ctr">
                <a:noFill/>
                <a:miter lim="800000"/>
                <a:headEnd/>
                <a:tailEnd/>
              </a:ln>
            </p:spPr>
            <p:txBody>
              <a:bodyPr wrap="square" lIns="0" tIns="0" rIns="0" bIns="91440" rtlCol="0" anchor="t" anchorCtr="0">
                <a:spAutoFit/>
              </a:bodyPr>
              <a:lstStyle/>
              <a:p>
                <a:pPr marL="171450" indent="-171450">
                  <a:lnSpc>
                    <a:spcPct val="106000"/>
                  </a:lnSpc>
                  <a:buFont typeface="Arial" panose="020B0604020202020204" pitchFamily="34" charset="0"/>
                  <a:buChar char="•"/>
                </a:pPr>
                <a:r>
                  <a:rPr lang="en-US" sz="1400">
                    <a:ea typeface="Verdana" panose="020B0604030504040204" pitchFamily="34" charset="0"/>
                    <a:cs typeface="Calibri" panose="020F0502020204030204" pitchFamily="34" charset="0"/>
                  </a:rPr>
                  <a:t>On SWIFT-specific communications and deliverables</a:t>
                </a:r>
              </a:p>
              <a:p>
                <a:pPr marL="171450" indent="-171450">
                  <a:lnSpc>
                    <a:spcPct val="106000"/>
                  </a:lnSpc>
                  <a:buFont typeface="Arial" panose="020B0604020202020204" pitchFamily="34" charset="0"/>
                  <a:buChar char="•"/>
                </a:pPr>
                <a:r>
                  <a:rPr lang="en-US" sz="1400">
                    <a:ea typeface="Verdana" panose="020B0604030504040204" pitchFamily="34" charset="0"/>
                    <a:cs typeface="Calibri" panose="020F0502020204030204" pitchFamily="34" charset="0"/>
                  </a:rPr>
                  <a:t>As a background option during SWIFT-specific meetings with geography stakeholders</a:t>
                </a:r>
              </a:p>
            </p:txBody>
          </p:sp>
        </p:grpSp>
        <p:grpSp>
          <p:nvGrpSpPr>
            <p:cNvPr id="19" name="Group 18">
              <a:extLst>
                <a:ext uri="{FF2B5EF4-FFF2-40B4-BE49-F238E27FC236}">
                  <a16:creationId xmlns:a16="http://schemas.microsoft.com/office/drawing/2014/main" id="{9D2CAA05-7139-5CAA-73FB-867D73B5E7ED}"/>
                </a:ext>
              </a:extLst>
            </p:cNvPr>
            <p:cNvGrpSpPr/>
            <p:nvPr/>
          </p:nvGrpSpPr>
          <p:grpSpPr>
            <a:xfrm>
              <a:off x="5862262" y="4499854"/>
              <a:ext cx="5986835" cy="735734"/>
              <a:chOff x="5862262" y="5286143"/>
              <a:chExt cx="5986835" cy="735734"/>
            </a:xfrm>
          </p:grpSpPr>
          <p:sp>
            <p:nvSpPr>
              <p:cNvPr id="20" name="Rectangle 19">
                <a:extLst>
                  <a:ext uri="{FF2B5EF4-FFF2-40B4-BE49-F238E27FC236}">
                    <a16:creationId xmlns:a16="http://schemas.microsoft.com/office/drawing/2014/main" id="{25DEDC94-69AE-CD35-2FF1-5DE0D78C9E47}"/>
                  </a:ext>
                </a:extLst>
              </p:cNvPr>
              <p:cNvSpPr/>
              <p:nvPr/>
            </p:nvSpPr>
            <p:spPr bwMode="gray">
              <a:xfrm>
                <a:off x="5862262" y="5286143"/>
                <a:ext cx="5986835" cy="335662"/>
              </a:xfrm>
              <a:prstGeom prst="rect">
                <a:avLst/>
              </a:prstGeom>
              <a:solidFill>
                <a:schemeClr val="tx1"/>
              </a:solidFill>
              <a:ln w="19050" algn="ctr">
                <a:noFill/>
                <a:miter lim="800000"/>
                <a:headEnd/>
                <a:tailEnd/>
              </a:ln>
            </p:spPr>
            <p:txBody>
              <a:bodyPr wrap="square" lIns="91440" tIns="88900" rIns="88900" bIns="88900" rtlCol="0" anchor="ctr"/>
              <a:lstStyle/>
              <a:p>
                <a:pPr>
                  <a:lnSpc>
                    <a:spcPct val="106000"/>
                  </a:lnSpc>
                </a:pPr>
                <a:r>
                  <a:rPr lang="en-US" sz="1600" b="1">
                    <a:solidFill>
                      <a:schemeClr val="bg1"/>
                    </a:solidFill>
                    <a:ea typeface="Verdana"/>
                    <a:cs typeface="Calibri"/>
                  </a:rPr>
                  <a:t>How to use it</a:t>
                </a:r>
                <a:endParaRPr lang="en-US" sz="1600">
                  <a:solidFill>
                    <a:schemeClr val="bg1"/>
                  </a:solidFill>
                  <a:ea typeface="Verdana"/>
                  <a:cs typeface="Calibri"/>
                </a:endParaRPr>
              </a:p>
            </p:txBody>
          </p:sp>
          <p:sp>
            <p:nvSpPr>
              <p:cNvPr id="21" name="Rectangle 20">
                <a:extLst>
                  <a:ext uri="{FF2B5EF4-FFF2-40B4-BE49-F238E27FC236}">
                    <a16:creationId xmlns:a16="http://schemas.microsoft.com/office/drawing/2014/main" id="{49A25F38-3982-1906-9BA1-00C1EFC98CFA}"/>
                  </a:ext>
                </a:extLst>
              </p:cNvPr>
              <p:cNvSpPr/>
              <p:nvPr/>
            </p:nvSpPr>
            <p:spPr bwMode="gray">
              <a:xfrm>
                <a:off x="5862262" y="5708458"/>
                <a:ext cx="4561898" cy="313419"/>
              </a:xfrm>
              <a:prstGeom prst="rect">
                <a:avLst/>
              </a:prstGeom>
              <a:solidFill>
                <a:schemeClr val="bg1"/>
              </a:solidFill>
              <a:ln w="19050" algn="ctr">
                <a:noFill/>
                <a:miter lim="800000"/>
                <a:headEnd/>
                <a:tailEnd/>
              </a:ln>
            </p:spPr>
            <p:txBody>
              <a:bodyPr wrap="square" lIns="0" tIns="0" rIns="0" bIns="91440" rtlCol="0" anchor="t" anchorCtr="0">
                <a:spAutoFit/>
              </a:bodyPr>
              <a:lstStyle/>
              <a:p>
                <a:pPr marL="171450" indent="-171450">
                  <a:lnSpc>
                    <a:spcPct val="106000"/>
                  </a:lnSpc>
                  <a:buFont typeface="Arial" panose="020B0604020202020204" pitchFamily="34" charset="0"/>
                  <a:buChar char="•"/>
                </a:pPr>
                <a:r>
                  <a:rPr lang="en-US" sz="1400">
                    <a:ea typeface="Verdana"/>
                    <a:cs typeface="Calibri"/>
                  </a:rPr>
                  <a:t>Copy/paste wordmark as needed into GFS documents</a:t>
                </a:r>
                <a:endParaRPr lang="en-US" sz="1400">
                  <a:ea typeface="Verdana" panose="020B0604030504040204" pitchFamily="34" charset="0"/>
                  <a:cs typeface="Calibri" panose="020F0502020204030204" pitchFamily="34" charset="0"/>
                </a:endParaRPr>
              </a:p>
            </p:txBody>
          </p:sp>
        </p:grpSp>
      </p:grpSp>
    </p:spTree>
    <p:extLst>
      <p:ext uri="{BB962C8B-B14F-4D97-AF65-F5344CB8AC3E}">
        <p14:creationId xmlns:p14="http://schemas.microsoft.com/office/powerpoint/2010/main" val="262703403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EE910-326A-2D66-2F95-76C2102B0B8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B3D0968-78E8-619E-B01D-503AC22C30AC}"/>
              </a:ext>
            </a:extLst>
          </p:cNvPr>
          <p:cNvPicPr>
            <a:picLocks noGrp="1" noRot="1" noChangeAspect="1" noMove="1" noResize="1" noEditPoints="1" noAdjustHandles="1" noChangeArrowheads="1" noChangeShapeType="1" noCrop="1"/>
          </p:cNvPicPr>
          <p:nvPr/>
        </p:nvPicPr>
        <p:blipFill>
          <a:blip r:embed="rId2"/>
          <a:srcRect l="41970" t="13065" r="10123" b="18400"/>
          <a:stretch>
            <a:fillRect/>
          </a:stretch>
        </p:blipFill>
        <p:spPr>
          <a:xfrm>
            <a:off x="0" y="-1"/>
            <a:ext cx="4447671" cy="6362701"/>
          </a:xfrm>
          <a:prstGeom prst="rect">
            <a:avLst/>
          </a:prstGeom>
        </p:spPr>
      </p:pic>
      <p:pic>
        <p:nvPicPr>
          <p:cNvPr id="16" name="Graphic 15">
            <a:extLst>
              <a:ext uri="{FF2B5EF4-FFF2-40B4-BE49-F238E27FC236}">
                <a16:creationId xmlns:a16="http://schemas.microsoft.com/office/drawing/2014/main" id="{502460AB-7DFA-46D5-0D88-9989A851AC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50143" y="1866900"/>
            <a:ext cx="409575" cy="476250"/>
          </a:xfrm>
          <a:prstGeom prst="rect">
            <a:avLst/>
          </a:prstGeom>
        </p:spPr>
      </p:pic>
      <p:sp>
        <p:nvSpPr>
          <p:cNvPr id="22" name="Freeform: Shape 21">
            <a:extLst>
              <a:ext uri="{FF2B5EF4-FFF2-40B4-BE49-F238E27FC236}">
                <a16:creationId xmlns:a16="http://schemas.microsoft.com/office/drawing/2014/main" id="{C3AF57DA-E71D-3B84-8B78-48F8745929A0}"/>
              </a:ext>
            </a:extLst>
          </p:cNvPr>
          <p:cNvSpPr/>
          <p:nvPr/>
        </p:nvSpPr>
        <p:spPr>
          <a:xfrm>
            <a:off x="4117821" y="2434123"/>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B644EF1-C6E2-6834-77C6-50A3B3725080}"/>
              </a:ext>
            </a:extLst>
          </p:cNvPr>
          <p:cNvSpPr/>
          <p:nvPr/>
        </p:nvSpPr>
        <p:spPr>
          <a:xfrm>
            <a:off x="4363089" y="2373024"/>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C15AD36-59ED-71E0-DA96-5AA6D43C0758}"/>
              </a:ext>
            </a:extLst>
          </p:cNvPr>
          <p:cNvSpPr/>
          <p:nvPr/>
        </p:nvSpPr>
        <p:spPr>
          <a:xfrm>
            <a:off x="4202735" y="2171534"/>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229C461-8285-B4D0-BDB6-C4688F922FEA}"/>
              </a:ext>
            </a:extLst>
          </p:cNvPr>
          <p:cNvSpPr/>
          <p:nvPr/>
        </p:nvSpPr>
        <p:spPr>
          <a:xfrm>
            <a:off x="3091683" y="5537247"/>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2CC7DE5-AF54-F005-EFC5-75B15E0BD6E4}"/>
              </a:ext>
            </a:extLst>
          </p:cNvPr>
          <p:cNvSpPr/>
          <p:nvPr/>
        </p:nvSpPr>
        <p:spPr>
          <a:xfrm>
            <a:off x="3064577" y="5836071"/>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D61D648-9A25-2AF2-BB62-FAA12F1FCADF}"/>
              </a:ext>
            </a:extLst>
          </p:cNvPr>
          <p:cNvSpPr/>
          <p:nvPr/>
        </p:nvSpPr>
        <p:spPr>
          <a:xfrm>
            <a:off x="3351695" y="5702675"/>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pic>
        <p:nvPicPr>
          <p:cNvPr id="28" name="Graphic 27">
            <a:extLst>
              <a:ext uri="{FF2B5EF4-FFF2-40B4-BE49-F238E27FC236}">
                <a16:creationId xmlns:a16="http://schemas.microsoft.com/office/drawing/2014/main" id="{06EFE0D5-BCC9-3AEE-A548-62750F3FD7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16176" y="5524500"/>
            <a:ext cx="304320" cy="353860"/>
          </a:xfrm>
          <a:prstGeom prst="rect">
            <a:avLst/>
          </a:prstGeom>
        </p:spPr>
      </p:pic>
      <p:sp>
        <p:nvSpPr>
          <p:cNvPr id="5" name="Title 3">
            <a:extLst>
              <a:ext uri="{FF2B5EF4-FFF2-40B4-BE49-F238E27FC236}">
                <a16:creationId xmlns:a16="http://schemas.microsoft.com/office/drawing/2014/main" id="{13721F33-2A52-991B-193C-4097CDBE7FB5}"/>
              </a:ext>
            </a:extLst>
          </p:cNvPr>
          <p:cNvSpPr txBox="1">
            <a:spLocks noGrp="1" noRot="1" noMove="1" noResize="1" noEditPoints="1" noAdjustHandles="1" noChangeArrowheads="1" noChangeShapeType="1"/>
          </p:cNvSpPr>
          <p:nvPr/>
        </p:nvSpPr>
        <p:spPr bwMode="gray">
          <a:xfrm>
            <a:off x="4447671" y="2804403"/>
            <a:ext cx="4491924" cy="628904"/>
          </a:xfrm>
          <a:prstGeom prst="rect">
            <a:avLst/>
          </a:prstGeom>
        </p:spPr>
        <p:txBody>
          <a:bodyPr vert="horz" lIns="0" tIns="0" rIns="0" bIns="0" rtlCol="0" anchor="b" anchorCtr="0">
            <a:no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4500">
                <a:solidFill>
                  <a:srgbClr val="00A3E0"/>
                </a:solidFill>
              </a:rPr>
              <a:t>Icons</a:t>
            </a:r>
          </a:p>
        </p:txBody>
      </p:sp>
      <p:cxnSp>
        <p:nvCxnSpPr>
          <p:cNvPr id="6" name="Straight Connector 5">
            <a:extLst>
              <a:ext uri="{FF2B5EF4-FFF2-40B4-BE49-F238E27FC236}">
                <a16:creationId xmlns:a16="http://schemas.microsoft.com/office/drawing/2014/main" id="{7658BF48-1438-F02F-B1DA-945839C3878C}"/>
              </a:ext>
            </a:extLst>
          </p:cNvPr>
          <p:cNvCxnSpPr>
            <a:cxnSpLocks noGrp="1" noRot="1" noMove="1" noResize="1" noEditPoints="1" noAdjustHandles="1" noChangeArrowheads="1" noChangeShapeType="1"/>
          </p:cNvCxnSpPr>
          <p:nvPr/>
        </p:nvCxnSpPr>
        <p:spPr>
          <a:xfrm>
            <a:off x="4447671" y="3693390"/>
            <a:ext cx="1465449" cy="0"/>
          </a:xfrm>
          <a:prstGeom prst="line">
            <a:avLst/>
          </a:prstGeom>
          <a:ln w="19050">
            <a:solidFill>
              <a:srgbClr val="00A3E0"/>
            </a:solidFill>
            <a:tailEnd type="oval"/>
          </a:ln>
        </p:spPr>
        <p:style>
          <a:lnRef idx="1">
            <a:schemeClr val="accent1"/>
          </a:lnRef>
          <a:fillRef idx="0">
            <a:schemeClr val="accent1"/>
          </a:fillRef>
          <a:effectRef idx="0">
            <a:schemeClr val="accent1"/>
          </a:effectRef>
          <a:fontRef idx="minor">
            <a:schemeClr val="tx1"/>
          </a:fontRef>
        </p:style>
      </p:cxnSp>
      <p:pic>
        <p:nvPicPr>
          <p:cNvPr id="8" name="Graphic 7">
            <a:hlinkClick r:id="rId5" action="ppaction://hlinksldjump"/>
            <a:extLst>
              <a:ext uri="{FF2B5EF4-FFF2-40B4-BE49-F238E27FC236}">
                <a16:creationId xmlns:a16="http://schemas.microsoft.com/office/drawing/2014/main" id="{57A5C44C-5FA4-100A-CD59-889AEFF8BFF4}"/>
              </a:ext>
            </a:extLst>
          </p:cNvPr>
          <p:cNvPicPr>
            <a:picLocks noGrp="1" noRot="1" noChangeAspect="1" noMove="1" noResize="1" noEditPoints="1" noAdjustHandles="1" noChangeArrowheads="1" noChangeShapeType="1" noCrop="1"/>
          </p:cNvPicPr>
          <p:nvPr/>
        </p:nvPicPr>
        <p:blipFill>
          <a:blip r:embed="rId6">
            <a:extLst>
              <a:ext uri="{96DAC541-7B7A-43D3-8B79-37D633B846F1}">
                <asvg:svgBlip xmlns:asvg="http://schemas.microsoft.com/office/drawing/2016/SVG/main" r:embed="rId7"/>
              </a:ext>
            </a:extLst>
          </a:blip>
          <a:stretch>
            <a:fillRect/>
          </a:stretch>
        </p:blipFill>
        <p:spPr>
          <a:xfrm>
            <a:off x="11379200" y="309880"/>
            <a:ext cx="469900" cy="469900"/>
          </a:xfrm>
          <a:prstGeom prst="rect">
            <a:avLst/>
          </a:prstGeom>
        </p:spPr>
      </p:pic>
    </p:spTree>
    <p:extLst>
      <p:ext uri="{BB962C8B-B14F-4D97-AF65-F5344CB8AC3E}">
        <p14:creationId xmlns:p14="http://schemas.microsoft.com/office/powerpoint/2010/main" val="1003609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73F016C2-276B-8EFC-165C-7A36C8DB050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F2EEFA8-8971-9457-0F2F-FC3FDC8E4B7C}"/>
              </a:ext>
            </a:extLst>
          </p:cNvPr>
          <p:cNvPicPr>
            <a:picLocks noGrp="1" noRot="1" noChangeAspect="1" noMove="1" noResize="1" noEditPoints="1" noAdjustHandles="1" noChangeArrowheads="1" noChangeShapeType="1" noCrop="1"/>
          </p:cNvPicPr>
          <p:nvPr/>
        </p:nvPicPr>
        <p:blipFill>
          <a:blip r:embed="rId3"/>
          <a:srcRect l="18921" r="18921"/>
          <a:stretch/>
        </p:blipFill>
        <p:spPr>
          <a:xfrm>
            <a:off x="6210300" y="1504943"/>
            <a:ext cx="2705006" cy="4351758"/>
          </a:xfrm>
          <a:prstGeom prst="rect">
            <a:avLst/>
          </a:prstGeom>
        </p:spPr>
      </p:pic>
      <p:pic>
        <p:nvPicPr>
          <p:cNvPr id="9" name="Picture 8">
            <a:extLst>
              <a:ext uri="{FF2B5EF4-FFF2-40B4-BE49-F238E27FC236}">
                <a16:creationId xmlns:a16="http://schemas.microsoft.com/office/drawing/2014/main" id="{3C78338D-4AC8-1BE9-A22C-EBEF8509C933}"/>
              </a:ext>
            </a:extLst>
          </p:cNvPr>
          <p:cNvPicPr>
            <a:picLocks noGrp="1" noRot="1" noChangeAspect="1" noMove="1" noResize="1" noEditPoints="1" noAdjustHandles="1" noChangeArrowheads="1" noChangeShapeType="1" noCrop="1"/>
          </p:cNvPicPr>
          <p:nvPr/>
        </p:nvPicPr>
        <p:blipFill>
          <a:blip r:embed="rId4"/>
          <a:srcRect l="9466" r="9466"/>
          <a:stretch/>
        </p:blipFill>
        <p:spPr>
          <a:xfrm>
            <a:off x="-168746" y="1577827"/>
            <a:ext cx="3527877" cy="4351758"/>
          </a:xfrm>
          <a:prstGeom prst="rect">
            <a:avLst/>
          </a:prstGeom>
        </p:spPr>
      </p:pic>
      <p:pic>
        <p:nvPicPr>
          <p:cNvPr id="19" name="Picture 18">
            <a:extLst>
              <a:ext uri="{FF2B5EF4-FFF2-40B4-BE49-F238E27FC236}">
                <a16:creationId xmlns:a16="http://schemas.microsoft.com/office/drawing/2014/main" id="{A847A79D-FFDB-F80F-B840-A1DD1D5676B0}"/>
              </a:ext>
            </a:extLst>
          </p:cNvPr>
          <p:cNvPicPr>
            <a:picLocks noGrp="1" noRot="1" noChangeAspect="1" noMove="1" noResize="1" noEditPoints="1" noAdjustHandles="1" noChangeArrowheads="1" noChangeShapeType="1" noCrop="1"/>
          </p:cNvPicPr>
          <p:nvPr/>
        </p:nvPicPr>
        <p:blipFill>
          <a:blip r:embed="rId5"/>
          <a:srcRect l="18921" r="18921"/>
          <a:stretch/>
        </p:blipFill>
        <p:spPr>
          <a:xfrm>
            <a:off x="8961655" y="1413938"/>
            <a:ext cx="2705006" cy="4351758"/>
          </a:xfrm>
          <a:prstGeom prst="rect">
            <a:avLst/>
          </a:prstGeom>
        </p:spPr>
      </p:pic>
      <p:pic>
        <p:nvPicPr>
          <p:cNvPr id="20" name="Picture 19">
            <a:extLst>
              <a:ext uri="{FF2B5EF4-FFF2-40B4-BE49-F238E27FC236}">
                <a16:creationId xmlns:a16="http://schemas.microsoft.com/office/drawing/2014/main" id="{C71C84B0-662A-5613-E210-D524DFF86DC3}"/>
              </a:ext>
            </a:extLst>
          </p:cNvPr>
          <p:cNvPicPr>
            <a:picLocks noGrp="1" noRot="1" noChangeAspect="1" noMove="1" noResize="1" noEditPoints="1" noAdjustHandles="1" noChangeArrowheads="1" noChangeShapeType="1" noCrop="1"/>
          </p:cNvPicPr>
          <p:nvPr/>
        </p:nvPicPr>
        <p:blipFill>
          <a:blip r:embed="rId6"/>
          <a:srcRect l="18921" r="18921"/>
          <a:stretch/>
        </p:blipFill>
        <p:spPr>
          <a:xfrm>
            <a:off x="3289562" y="1504943"/>
            <a:ext cx="2705006" cy="4351758"/>
          </a:xfrm>
          <a:prstGeom prst="rect">
            <a:avLst/>
          </a:prstGeom>
        </p:spPr>
      </p:pic>
      <p:sp>
        <p:nvSpPr>
          <p:cNvPr id="12" name="Text Placeholder 10">
            <a:extLst>
              <a:ext uri="{FF2B5EF4-FFF2-40B4-BE49-F238E27FC236}">
                <a16:creationId xmlns:a16="http://schemas.microsoft.com/office/drawing/2014/main" id="{32D90AD4-2E26-8F40-153D-F70A75A44D4F}"/>
              </a:ext>
            </a:extLst>
          </p:cNvPr>
          <p:cNvSpPr txBox="1">
            <a:spLocks/>
          </p:cNvSpPr>
          <p:nvPr/>
        </p:nvSpPr>
        <p:spPr>
          <a:xfrm>
            <a:off x="8982080" y="5559760"/>
            <a:ext cx="2699507" cy="296941"/>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ct val="130000"/>
              </a:lnSpc>
              <a:defRPr/>
            </a:pPr>
            <a:r>
              <a:rPr lang="en-US" sz="1600" b="1" i="1">
                <a:solidFill>
                  <a:schemeClr val="accent3"/>
                </a:solidFill>
                <a:latin typeface="Aptos" panose="020B0004020202020204" pitchFamily="34" charset="0"/>
                <a:ea typeface="Open Sans" panose="020B0606030504020204" pitchFamily="34" charset="0"/>
                <a:cs typeface="Open Sans" panose="020B0606030504020204" pitchFamily="34" charset="0"/>
              </a:rPr>
              <a:t>People-centricity</a:t>
            </a:r>
          </a:p>
        </p:txBody>
      </p:sp>
      <p:sp>
        <p:nvSpPr>
          <p:cNvPr id="13" name="Text Placeholder 10">
            <a:extLst>
              <a:ext uri="{FF2B5EF4-FFF2-40B4-BE49-F238E27FC236}">
                <a16:creationId xmlns:a16="http://schemas.microsoft.com/office/drawing/2014/main" id="{90A8AA23-BC38-1E0D-F59E-FDD0405D1952}"/>
              </a:ext>
            </a:extLst>
          </p:cNvPr>
          <p:cNvSpPr txBox="1">
            <a:spLocks/>
          </p:cNvSpPr>
          <p:nvPr/>
        </p:nvSpPr>
        <p:spPr>
          <a:xfrm>
            <a:off x="480369" y="1094801"/>
            <a:ext cx="9075218" cy="610424"/>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lIns="0" tIns="0" rIns="0" bIns="0" anchor="t">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nSpc>
                <a:spcPct val="100000"/>
              </a:lnSpc>
              <a:defRPr/>
            </a:pPr>
            <a:r>
              <a:rPr lang="en-US" sz="1100">
                <a:latin typeface="Aptos"/>
                <a:ea typeface="Open Sans"/>
                <a:cs typeface="Open Sans"/>
              </a:rPr>
              <a:t>The icons represent the four GFS strategic objectives (critical success factors)</a:t>
            </a:r>
            <a:r>
              <a:rPr lang="pl-PL" sz="1100">
                <a:latin typeface="Aptos"/>
                <a:ea typeface="Open Sans"/>
                <a:cs typeface="Open Sans"/>
              </a:rPr>
              <a:t> </a:t>
            </a:r>
            <a:r>
              <a:rPr lang="en-US" sz="1100">
                <a:latin typeface="Aptos"/>
                <a:ea typeface="Open Sans"/>
                <a:cs typeface="Open Sans"/>
              </a:rPr>
              <a:t>and can be used in the following instances:</a:t>
            </a:r>
          </a:p>
          <a:p>
            <a:pPr marL="171450" indent="-171450">
              <a:lnSpc>
                <a:spcPct val="100000"/>
              </a:lnSpc>
              <a:buFont typeface="Arial" panose="020B0604020202020204" pitchFamily="34" charset="0"/>
              <a:buChar char="•"/>
              <a:defRPr/>
            </a:pPr>
            <a:r>
              <a:rPr lang="en-US" sz="1100">
                <a:latin typeface="Aptos"/>
                <a:ea typeface="Open Sans"/>
                <a:cs typeface="Open Sans"/>
              </a:rPr>
              <a:t>In Word documents and PowerPoint decks as secondary images</a:t>
            </a:r>
          </a:p>
          <a:p>
            <a:pPr marL="171450" indent="-171450">
              <a:lnSpc>
                <a:spcPct val="100000"/>
              </a:lnSpc>
              <a:buFont typeface="Arial" panose="020B0604020202020204" pitchFamily="34" charset="0"/>
              <a:buChar char="•"/>
              <a:defRPr/>
            </a:pPr>
            <a:r>
              <a:rPr lang="en-US" sz="1100">
                <a:latin typeface="Aptos"/>
                <a:ea typeface="Open Sans"/>
                <a:cs typeface="Open Sans"/>
              </a:rPr>
              <a:t>Within tables and charts</a:t>
            </a:r>
          </a:p>
        </p:txBody>
      </p:sp>
      <p:sp>
        <p:nvSpPr>
          <p:cNvPr id="4" name="Text Placeholder 10">
            <a:extLst>
              <a:ext uri="{FF2B5EF4-FFF2-40B4-BE49-F238E27FC236}">
                <a16:creationId xmlns:a16="http://schemas.microsoft.com/office/drawing/2014/main" id="{948F1FE7-14D8-5422-6F54-48D7DADBC605}"/>
              </a:ext>
            </a:extLst>
          </p:cNvPr>
          <p:cNvSpPr txBox="1">
            <a:spLocks/>
          </p:cNvSpPr>
          <p:nvPr/>
        </p:nvSpPr>
        <p:spPr>
          <a:xfrm>
            <a:off x="3295061" y="5559760"/>
            <a:ext cx="2699507" cy="296941"/>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ct val="130000"/>
              </a:lnSpc>
              <a:defRPr/>
            </a:pPr>
            <a:r>
              <a:rPr lang="en-US" sz="1600" b="1" i="1">
                <a:solidFill>
                  <a:schemeClr val="accent3"/>
                </a:solidFill>
                <a:latin typeface="Aptos" panose="020B0004020202020204" pitchFamily="34" charset="0"/>
                <a:ea typeface="Open Sans" panose="020B0606030504020204" pitchFamily="34" charset="0"/>
                <a:cs typeface="Open Sans" panose="020B0606030504020204" pitchFamily="34" charset="0"/>
              </a:rPr>
              <a:t>Operational excellence</a:t>
            </a:r>
          </a:p>
        </p:txBody>
      </p:sp>
      <p:sp>
        <p:nvSpPr>
          <p:cNvPr id="5" name="Text Placeholder 10">
            <a:extLst>
              <a:ext uri="{FF2B5EF4-FFF2-40B4-BE49-F238E27FC236}">
                <a16:creationId xmlns:a16="http://schemas.microsoft.com/office/drawing/2014/main" id="{1315EF00-8BAE-FCC5-D8D4-FC62BFE7E1B0}"/>
              </a:ext>
            </a:extLst>
          </p:cNvPr>
          <p:cNvSpPr txBox="1">
            <a:spLocks/>
          </p:cNvSpPr>
          <p:nvPr/>
        </p:nvSpPr>
        <p:spPr>
          <a:xfrm>
            <a:off x="6236224" y="5559760"/>
            <a:ext cx="2699507" cy="296941"/>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ct val="130000"/>
              </a:lnSpc>
              <a:defRPr/>
            </a:pPr>
            <a:r>
              <a:rPr lang="en-US" sz="1600" b="1" i="1">
                <a:solidFill>
                  <a:schemeClr val="accent3"/>
                </a:solidFill>
                <a:latin typeface="Aptos" panose="020B0004020202020204" pitchFamily="34" charset="0"/>
                <a:ea typeface="Open Sans" panose="020B0606030504020204" pitchFamily="34" charset="0"/>
                <a:cs typeface="Open Sans" panose="020B0606030504020204" pitchFamily="34" charset="0"/>
              </a:rPr>
              <a:t>Innovation</a:t>
            </a:r>
          </a:p>
        </p:txBody>
      </p:sp>
      <p:sp>
        <p:nvSpPr>
          <p:cNvPr id="6" name="Text Placeholder 10">
            <a:extLst>
              <a:ext uri="{FF2B5EF4-FFF2-40B4-BE49-F238E27FC236}">
                <a16:creationId xmlns:a16="http://schemas.microsoft.com/office/drawing/2014/main" id="{0E5426A7-78CD-69BA-2CFD-0050085D3E8A}"/>
              </a:ext>
            </a:extLst>
          </p:cNvPr>
          <p:cNvSpPr txBox="1">
            <a:spLocks/>
          </p:cNvSpPr>
          <p:nvPr/>
        </p:nvSpPr>
        <p:spPr>
          <a:xfrm>
            <a:off x="278324" y="5559759"/>
            <a:ext cx="2699507" cy="296941"/>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ct val="130000"/>
              </a:lnSpc>
              <a:defRPr/>
            </a:pPr>
            <a:r>
              <a:rPr lang="en-US" sz="1600" b="1" i="1">
                <a:solidFill>
                  <a:schemeClr val="accent3"/>
                </a:solidFill>
                <a:latin typeface="Aptos" panose="020B0004020202020204" pitchFamily="34" charset="0"/>
                <a:ea typeface="Open Sans" panose="020B0606030504020204" pitchFamily="34" charset="0"/>
                <a:cs typeface="Open Sans" panose="020B0606030504020204" pitchFamily="34" charset="0"/>
              </a:rPr>
              <a:t>Client service</a:t>
            </a:r>
          </a:p>
        </p:txBody>
      </p:sp>
      <p:sp>
        <p:nvSpPr>
          <p:cNvPr id="7" name="Title 2">
            <a:extLst>
              <a:ext uri="{FF2B5EF4-FFF2-40B4-BE49-F238E27FC236}">
                <a16:creationId xmlns:a16="http://schemas.microsoft.com/office/drawing/2014/main" id="{5B0FA2A8-70AE-FEAD-D246-89FCC6149B3E}"/>
              </a:ext>
            </a:extLst>
          </p:cNvPr>
          <p:cNvSpPr txBox="1">
            <a:spLocks/>
          </p:cNvSpPr>
          <p:nvPr/>
        </p:nvSpPr>
        <p:spPr>
          <a:xfrm>
            <a:off x="278324" y="345992"/>
            <a:ext cx="11506200" cy="342000"/>
          </a:xfrm>
          <a:prstGeom prst="rect">
            <a:avLst/>
          </a:prstGeom>
        </p:spPr>
        <p:txBody>
          <a:bodyPr lIns="91440" tIns="45720" rIns="91440" bIns="45720" anchor="t"/>
          <a:lst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pPr>
              <a:spcBef>
                <a:spcPts val="0"/>
              </a:spcBef>
            </a:pPr>
            <a:r>
              <a:rPr lang="en-US">
                <a:latin typeface="+mn-lt"/>
                <a:cs typeface="Calibri"/>
              </a:rPr>
              <a:t>GFS Style Guide | </a:t>
            </a:r>
            <a:r>
              <a:rPr lang="en-US" b="1">
                <a:solidFill>
                  <a:srgbClr val="00A3E0"/>
                </a:solidFill>
                <a:latin typeface="+mn-lt"/>
                <a:cs typeface="Calibri Light"/>
              </a:rPr>
              <a:t>Icons </a:t>
            </a:r>
          </a:p>
        </p:txBody>
      </p:sp>
      <p:sp>
        <p:nvSpPr>
          <p:cNvPr id="2" name="Text Placeholder 1">
            <a:extLst>
              <a:ext uri="{FF2B5EF4-FFF2-40B4-BE49-F238E27FC236}">
                <a16:creationId xmlns:a16="http://schemas.microsoft.com/office/drawing/2014/main" id="{0FAEE454-E1E8-68BA-100C-76F1B70E7FDE}"/>
              </a:ext>
            </a:extLst>
          </p:cNvPr>
          <p:cNvSpPr>
            <a:spLocks noGrp="1"/>
          </p:cNvSpPr>
          <p:nvPr>
            <p:ph type="body" sz="quarter" idx="13"/>
          </p:nvPr>
        </p:nvSpPr>
        <p:spPr>
          <a:xfrm>
            <a:off x="372880" y="684001"/>
            <a:ext cx="11506200" cy="309204"/>
          </a:xfrm>
        </p:spPr>
        <p:txBody>
          <a:bodyPr/>
          <a:lstStyle/>
          <a:p>
            <a:r>
              <a:rPr lang="en-US">
                <a:cs typeface="Calibri Light"/>
              </a:rPr>
              <a:t>Our shared strategic goals</a:t>
            </a:r>
          </a:p>
        </p:txBody>
      </p:sp>
    </p:spTree>
    <p:extLst>
      <p:ext uri="{BB962C8B-B14F-4D97-AF65-F5344CB8AC3E}">
        <p14:creationId xmlns:p14="http://schemas.microsoft.com/office/powerpoint/2010/main" val="3362122445"/>
      </p:ext>
    </p:extLst>
  </p:cSld>
  <p:clrMapOvr>
    <a:overrideClrMapping bg1="lt1" tx1="dk1" bg2="lt2" tx2="dk2" accent1="accent1" accent2="accent2" accent3="accent3" accent4="accent4" accent5="accent5" accent6="accent6" hlink="hlink" folHlink="folHlink"/>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F245B-8340-BFAB-DFB3-476CF357DCEB}"/>
            </a:ext>
          </a:extLst>
        </p:cNvPr>
        <p:cNvGrpSpPr/>
        <p:nvPr/>
      </p:nvGrpSpPr>
      <p:grpSpPr>
        <a:xfrm>
          <a:off x="0" y="0"/>
          <a:ext cx="0" cy="0"/>
          <a:chOff x="0" y="0"/>
          <a:chExt cx="0" cy="0"/>
        </a:xfrm>
      </p:grpSpPr>
      <p:sp>
        <p:nvSpPr>
          <p:cNvPr id="12" name="Text Placeholder 10">
            <a:extLst>
              <a:ext uri="{FF2B5EF4-FFF2-40B4-BE49-F238E27FC236}">
                <a16:creationId xmlns:a16="http://schemas.microsoft.com/office/drawing/2014/main" id="{DAC7FB1F-3C8A-21E0-39B1-DDE2FD80E9DE}"/>
              </a:ext>
            </a:extLst>
          </p:cNvPr>
          <p:cNvSpPr txBox="1">
            <a:spLocks noGrp="1" noRot="1" noMove="1" noResize="1" noEditPoints="1" noAdjustHandles="1" noChangeArrowheads="1" noChangeShapeType="1"/>
          </p:cNvSpPr>
          <p:nvPr/>
        </p:nvSpPr>
        <p:spPr>
          <a:xfrm>
            <a:off x="2576432" y="4862850"/>
            <a:ext cx="2117725" cy="430887"/>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ct val="100000"/>
              </a:lnSpc>
              <a:spcAft>
                <a:spcPts val="0"/>
              </a:spcAft>
              <a:defRPr/>
            </a:pPr>
            <a:r>
              <a:rPr lang="en-US" sz="1400" b="1" i="1">
                <a:solidFill>
                  <a:schemeClr val="accent3"/>
                </a:solidFill>
                <a:latin typeface="Aptos" panose="020B0004020202020204" pitchFamily="34" charset="0"/>
                <a:ea typeface="Open Sans" panose="020B0606030504020204" pitchFamily="34" charset="0"/>
                <a:cs typeface="Open Sans" panose="020B0606030504020204" pitchFamily="34" charset="0"/>
              </a:rPr>
              <a:t>Shared </a:t>
            </a:r>
            <a:endParaRPr lang="pl-PL" sz="1400" b="1" i="1">
              <a:solidFill>
                <a:schemeClr val="accent3"/>
              </a:solidFill>
              <a:latin typeface="Aptos" panose="020B0004020202020204" pitchFamily="34" charset="0"/>
              <a:ea typeface="Open Sans" panose="020B0606030504020204" pitchFamily="34" charset="0"/>
              <a:cs typeface="Open Sans" panose="020B0606030504020204" pitchFamily="34" charset="0"/>
            </a:endParaRPr>
          </a:p>
          <a:p>
            <a:pPr algn="ctr">
              <a:lnSpc>
                <a:spcPct val="100000"/>
              </a:lnSpc>
              <a:spcAft>
                <a:spcPts val="0"/>
              </a:spcAft>
              <a:defRPr/>
            </a:pPr>
            <a:r>
              <a:rPr lang="en-US" sz="1400" b="1" i="1">
                <a:solidFill>
                  <a:schemeClr val="accent3"/>
                </a:solidFill>
                <a:latin typeface="Aptos" panose="020B0004020202020204" pitchFamily="34" charset="0"/>
                <a:ea typeface="Open Sans" panose="020B0606030504020204" pitchFamily="34" charset="0"/>
                <a:cs typeface="Open Sans" panose="020B0606030504020204" pitchFamily="34" charset="0"/>
              </a:rPr>
              <a:t>Operations</a:t>
            </a:r>
          </a:p>
        </p:txBody>
      </p:sp>
      <p:sp>
        <p:nvSpPr>
          <p:cNvPr id="13" name="Text Placeholder 10">
            <a:extLst>
              <a:ext uri="{FF2B5EF4-FFF2-40B4-BE49-F238E27FC236}">
                <a16:creationId xmlns:a16="http://schemas.microsoft.com/office/drawing/2014/main" id="{A2D2BA4A-D39B-D598-96EE-E74F478A5A64}"/>
              </a:ext>
            </a:extLst>
          </p:cNvPr>
          <p:cNvSpPr txBox="1">
            <a:spLocks/>
          </p:cNvSpPr>
          <p:nvPr/>
        </p:nvSpPr>
        <p:spPr>
          <a:xfrm>
            <a:off x="342900" y="1169725"/>
            <a:ext cx="8572406" cy="610424"/>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lIns="0" tIns="0" rIns="0" bIns="0" anchor="t">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nSpc>
                <a:spcPct val="100000"/>
              </a:lnSpc>
              <a:defRPr/>
            </a:pPr>
            <a:r>
              <a:rPr lang="en-US" sz="1100">
                <a:latin typeface="Aptos"/>
                <a:ea typeface="Open Sans"/>
                <a:cs typeface="Open Sans"/>
              </a:rPr>
              <a:t>The icons represent the core teams that comprise GFS and can be used in the following instances:</a:t>
            </a:r>
          </a:p>
          <a:p>
            <a:pPr marL="171450" indent="-171450">
              <a:lnSpc>
                <a:spcPct val="100000"/>
              </a:lnSpc>
              <a:buFont typeface="Arial" panose="020B0604020202020204" pitchFamily="34" charset="0"/>
              <a:buChar char="•"/>
              <a:defRPr/>
            </a:pPr>
            <a:r>
              <a:rPr lang="en-US" sz="1100">
                <a:latin typeface="Aptos"/>
                <a:ea typeface="Open Sans"/>
                <a:cs typeface="Open Sans"/>
              </a:rPr>
              <a:t>In Word documents and PowerPoint decks as secondary images</a:t>
            </a:r>
          </a:p>
          <a:p>
            <a:pPr marL="171450" indent="-171450">
              <a:lnSpc>
                <a:spcPct val="100000"/>
              </a:lnSpc>
              <a:buFont typeface="Arial" panose="020B0604020202020204" pitchFamily="34" charset="0"/>
              <a:buChar char="•"/>
              <a:defRPr/>
            </a:pPr>
            <a:r>
              <a:rPr lang="en-US" sz="1100">
                <a:latin typeface="Aptos"/>
                <a:ea typeface="Open Sans"/>
                <a:cs typeface="Open Sans"/>
              </a:rPr>
              <a:t>Within tables and charts</a:t>
            </a:r>
          </a:p>
        </p:txBody>
      </p:sp>
      <p:sp>
        <p:nvSpPr>
          <p:cNvPr id="7" name="Text Placeholder 10">
            <a:extLst>
              <a:ext uri="{FF2B5EF4-FFF2-40B4-BE49-F238E27FC236}">
                <a16:creationId xmlns:a16="http://schemas.microsoft.com/office/drawing/2014/main" id="{E2C5812E-8257-A607-55FB-EF254CAE454F}"/>
              </a:ext>
            </a:extLst>
          </p:cNvPr>
          <p:cNvSpPr txBox="1">
            <a:spLocks noGrp="1" noRot="1" noMove="1" noResize="1" noEditPoints="1" noAdjustHandles="1" noChangeArrowheads="1" noChangeShapeType="1"/>
          </p:cNvSpPr>
          <p:nvPr/>
        </p:nvSpPr>
        <p:spPr>
          <a:xfrm>
            <a:off x="7481968" y="4885503"/>
            <a:ext cx="2117725" cy="430887"/>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ct val="100000"/>
              </a:lnSpc>
              <a:spcAft>
                <a:spcPts val="0"/>
              </a:spcAft>
              <a:defRPr/>
            </a:pPr>
            <a:r>
              <a:rPr lang="en-US" sz="1400" b="1" i="1">
                <a:solidFill>
                  <a:schemeClr val="accent3"/>
                </a:solidFill>
                <a:latin typeface="Aptos" panose="020B0004020202020204" pitchFamily="34" charset="0"/>
                <a:ea typeface="Open Sans" panose="020B0606030504020204" pitchFamily="34" charset="0"/>
                <a:cs typeface="Open Sans" panose="020B0606030504020204" pitchFamily="34" charset="0"/>
              </a:rPr>
              <a:t>Strategic </a:t>
            </a:r>
            <a:endParaRPr lang="pl-PL" sz="1400" b="1" i="1">
              <a:solidFill>
                <a:schemeClr val="accent3"/>
              </a:solidFill>
              <a:latin typeface="Aptos" panose="020B0004020202020204" pitchFamily="34" charset="0"/>
              <a:ea typeface="Open Sans" panose="020B0606030504020204" pitchFamily="34" charset="0"/>
              <a:cs typeface="Open Sans" panose="020B0606030504020204" pitchFamily="34" charset="0"/>
            </a:endParaRPr>
          </a:p>
          <a:p>
            <a:pPr algn="ctr">
              <a:lnSpc>
                <a:spcPct val="100000"/>
              </a:lnSpc>
              <a:spcAft>
                <a:spcPts val="0"/>
              </a:spcAft>
              <a:defRPr/>
            </a:pPr>
            <a:r>
              <a:rPr lang="en-US" sz="1400" b="1" i="1">
                <a:solidFill>
                  <a:schemeClr val="accent3"/>
                </a:solidFill>
                <a:latin typeface="Aptos" panose="020B0004020202020204" pitchFamily="34" charset="0"/>
                <a:ea typeface="Open Sans" panose="020B0606030504020204" pitchFamily="34" charset="0"/>
                <a:cs typeface="Open Sans" panose="020B0606030504020204" pitchFamily="34" charset="0"/>
              </a:rPr>
              <a:t>Projects</a:t>
            </a:r>
          </a:p>
        </p:txBody>
      </p:sp>
      <p:sp>
        <p:nvSpPr>
          <p:cNvPr id="10" name="Text Placeholder 10">
            <a:extLst>
              <a:ext uri="{FF2B5EF4-FFF2-40B4-BE49-F238E27FC236}">
                <a16:creationId xmlns:a16="http://schemas.microsoft.com/office/drawing/2014/main" id="{2449E047-32DA-6BB4-8F2F-D969DDE71804}"/>
              </a:ext>
            </a:extLst>
          </p:cNvPr>
          <p:cNvSpPr txBox="1">
            <a:spLocks noGrp="1" noRot="1" noMove="1" noResize="1" noEditPoints="1" noAdjustHandles="1" noChangeArrowheads="1" noChangeShapeType="1"/>
          </p:cNvSpPr>
          <p:nvPr/>
        </p:nvSpPr>
        <p:spPr>
          <a:xfrm>
            <a:off x="5029200" y="4822997"/>
            <a:ext cx="2117725" cy="430887"/>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ct val="100000"/>
              </a:lnSpc>
              <a:spcAft>
                <a:spcPts val="0"/>
              </a:spcAft>
              <a:defRPr/>
            </a:pPr>
            <a:r>
              <a:rPr lang="en-US" sz="1400" b="1" i="1">
                <a:solidFill>
                  <a:schemeClr val="accent3"/>
                </a:solidFill>
                <a:latin typeface="Aptos" panose="020B0004020202020204" pitchFamily="34" charset="0"/>
                <a:ea typeface="Open Sans" panose="020B0606030504020204" pitchFamily="34" charset="0"/>
                <a:cs typeface="Open Sans" panose="020B0606030504020204" pitchFamily="34" charset="0"/>
              </a:rPr>
              <a:t>Global</a:t>
            </a:r>
            <a:r>
              <a:rPr lang="pl-PL" sz="1400" b="1" i="1">
                <a:solidFill>
                  <a:schemeClr val="accent3"/>
                </a:solidFill>
                <a:latin typeface="Aptos" panose="020B0004020202020204" pitchFamily="34" charset="0"/>
                <a:ea typeface="Open Sans" panose="020B0606030504020204" pitchFamily="34" charset="0"/>
                <a:cs typeface="Open Sans" panose="020B0606030504020204" pitchFamily="34" charset="0"/>
              </a:rPr>
              <a:t> </a:t>
            </a:r>
            <a:r>
              <a:rPr lang="en-US" sz="1400" b="1" i="1">
                <a:solidFill>
                  <a:schemeClr val="accent3"/>
                </a:solidFill>
                <a:latin typeface="Aptos" panose="020B0004020202020204" pitchFamily="34" charset="0"/>
                <a:ea typeface="Open Sans" panose="020B0606030504020204" pitchFamily="34" charset="0"/>
                <a:cs typeface="Open Sans" panose="020B0606030504020204" pitchFamily="34" charset="0"/>
              </a:rPr>
              <a:t>Process</a:t>
            </a:r>
            <a:endParaRPr lang="pl-PL" sz="1400" b="1" i="1">
              <a:solidFill>
                <a:schemeClr val="accent3"/>
              </a:solidFill>
              <a:latin typeface="Aptos" panose="020B0004020202020204" pitchFamily="34" charset="0"/>
              <a:ea typeface="Open Sans" panose="020B0606030504020204" pitchFamily="34" charset="0"/>
              <a:cs typeface="Open Sans" panose="020B0606030504020204" pitchFamily="34" charset="0"/>
            </a:endParaRPr>
          </a:p>
          <a:p>
            <a:pPr algn="ctr">
              <a:lnSpc>
                <a:spcPct val="100000"/>
              </a:lnSpc>
              <a:spcAft>
                <a:spcPts val="0"/>
              </a:spcAft>
              <a:defRPr/>
            </a:pPr>
            <a:r>
              <a:rPr lang="en-US" sz="1400" b="1" i="1">
                <a:solidFill>
                  <a:schemeClr val="accent3"/>
                </a:solidFill>
                <a:latin typeface="Aptos" panose="020B0004020202020204" pitchFamily="34" charset="0"/>
                <a:ea typeface="Open Sans" panose="020B0606030504020204" pitchFamily="34" charset="0"/>
                <a:cs typeface="Open Sans" panose="020B0606030504020204" pitchFamily="34" charset="0"/>
              </a:rPr>
              <a:t>Owner</a:t>
            </a:r>
          </a:p>
        </p:txBody>
      </p:sp>
      <p:sp>
        <p:nvSpPr>
          <p:cNvPr id="11" name="Text Placeholder 10">
            <a:extLst>
              <a:ext uri="{FF2B5EF4-FFF2-40B4-BE49-F238E27FC236}">
                <a16:creationId xmlns:a16="http://schemas.microsoft.com/office/drawing/2014/main" id="{2518AE15-36FB-F277-978B-9ED9C24D92D7}"/>
              </a:ext>
            </a:extLst>
          </p:cNvPr>
          <p:cNvSpPr txBox="1">
            <a:spLocks noGrp="1" noRot="1" noMove="1" noResize="1" noEditPoints="1" noAdjustHandles="1" noChangeArrowheads="1" noChangeShapeType="1"/>
          </p:cNvSpPr>
          <p:nvPr/>
        </p:nvSpPr>
        <p:spPr>
          <a:xfrm>
            <a:off x="9745176" y="4843198"/>
            <a:ext cx="2117725" cy="430887"/>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ct val="100000"/>
              </a:lnSpc>
              <a:spcAft>
                <a:spcPts val="0"/>
              </a:spcAft>
              <a:defRPr/>
            </a:pPr>
            <a:r>
              <a:rPr lang="en-US" sz="1400" b="1" i="1">
                <a:solidFill>
                  <a:schemeClr val="accent3"/>
                </a:solidFill>
                <a:latin typeface="Aptos" panose="020B0004020202020204" pitchFamily="34" charset="0"/>
                <a:ea typeface="Open Sans" panose="020B0606030504020204" pitchFamily="34" charset="0"/>
                <a:cs typeface="Open Sans" panose="020B0606030504020204" pitchFamily="34" charset="0"/>
              </a:rPr>
              <a:t>Global</a:t>
            </a:r>
            <a:endParaRPr lang="pl-PL" sz="1400" b="1" i="1">
              <a:solidFill>
                <a:schemeClr val="accent3"/>
              </a:solidFill>
              <a:latin typeface="Aptos" panose="020B0004020202020204" pitchFamily="34" charset="0"/>
              <a:ea typeface="Open Sans" panose="020B0606030504020204" pitchFamily="34" charset="0"/>
              <a:cs typeface="Open Sans" panose="020B0606030504020204" pitchFamily="34" charset="0"/>
            </a:endParaRPr>
          </a:p>
          <a:p>
            <a:pPr algn="ctr">
              <a:lnSpc>
                <a:spcPct val="100000"/>
              </a:lnSpc>
              <a:spcAft>
                <a:spcPts val="0"/>
              </a:spcAft>
              <a:defRPr/>
            </a:pPr>
            <a:r>
              <a:rPr lang="en-US" sz="1400" b="1" i="1">
                <a:solidFill>
                  <a:schemeClr val="accent3"/>
                </a:solidFill>
                <a:latin typeface="Aptos" panose="020B0004020202020204" pitchFamily="34" charset="0"/>
                <a:ea typeface="Open Sans" panose="020B0606030504020204" pitchFamily="34" charset="0"/>
                <a:cs typeface="Open Sans" panose="020B0606030504020204" pitchFamily="34" charset="0"/>
              </a:rPr>
              <a:t>Controls</a:t>
            </a:r>
          </a:p>
        </p:txBody>
      </p:sp>
      <p:sp>
        <p:nvSpPr>
          <p:cNvPr id="14" name="Text Placeholder 10">
            <a:extLst>
              <a:ext uri="{FF2B5EF4-FFF2-40B4-BE49-F238E27FC236}">
                <a16:creationId xmlns:a16="http://schemas.microsoft.com/office/drawing/2014/main" id="{270593C3-8E46-11EE-A36F-5AE20CEEFA82}"/>
              </a:ext>
            </a:extLst>
          </p:cNvPr>
          <p:cNvSpPr txBox="1">
            <a:spLocks noGrp="1" noRot="1" noMove="1" noResize="1" noEditPoints="1" noAdjustHandles="1" noChangeArrowheads="1" noChangeShapeType="1"/>
          </p:cNvSpPr>
          <p:nvPr/>
        </p:nvSpPr>
        <p:spPr>
          <a:xfrm>
            <a:off x="256011" y="4835079"/>
            <a:ext cx="2117725" cy="430887"/>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ct val="100000"/>
              </a:lnSpc>
              <a:spcAft>
                <a:spcPts val="0"/>
              </a:spcAft>
              <a:defRPr/>
            </a:pPr>
            <a:r>
              <a:rPr lang="en-US" sz="1400" b="1" i="1">
                <a:solidFill>
                  <a:schemeClr val="accent3"/>
                </a:solidFill>
                <a:latin typeface="Aptos" panose="020B0004020202020204" pitchFamily="34" charset="0"/>
                <a:ea typeface="Open Sans" panose="020B0606030504020204" pitchFamily="34" charset="0"/>
                <a:cs typeface="Open Sans" panose="020B0606030504020204" pitchFamily="34" charset="0"/>
              </a:rPr>
              <a:t>Engagement Financial Advisors</a:t>
            </a:r>
          </a:p>
        </p:txBody>
      </p:sp>
      <p:pic>
        <p:nvPicPr>
          <p:cNvPr id="16" name="Picture 15">
            <a:extLst>
              <a:ext uri="{FF2B5EF4-FFF2-40B4-BE49-F238E27FC236}">
                <a16:creationId xmlns:a16="http://schemas.microsoft.com/office/drawing/2014/main" id="{47ADCF5F-0883-46F0-23CD-DAE278C1806F}"/>
              </a:ext>
            </a:extLst>
          </p:cNvPr>
          <p:cNvPicPr>
            <a:picLocks noGrp="1" noRot="1" noChangeAspect="1" noMove="1" noResize="1" noEditPoints="1" noAdjustHandles="1" noChangeArrowheads="1" noChangeShapeType="1" noCrop="1"/>
          </p:cNvPicPr>
          <p:nvPr/>
        </p:nvPicPr>
        <p:blipFill>
          <a:blip r:embed="rId2"/>
          <a:srcRect l="6" r="6"/>
          <a:stretch/>
        </p:blipFill>
        <p:spPr>
          <a:xfrm>
            <a:off x="2572803" y="2528599"/>
            <a:ext cx="2121093" cy="2121354"/>
          </a:xfrm>
          <a:prstGeom prst="rect">
            <a:avLst/>
          </a:prstGeom>
        </p:spPr>
      </p:pic>
      <p:pic>
        <p:nvPicPr>
          <p:cNvPr id="17" name="Picture 16">
            <a:extLst>
              <a:ext uri="{FF2B5EF4-FFF2-40B4-BE49-F238E27FC236}">
                <a16:creationId xmlns:a16="http://schemas.microsoft.com/office/drawing/2014/main" id="{A3042CA3-D1B5-5234-83FE-5CE0417C8E28}"/>
              </a:ext>
            </a:extLst>
          </p:cNvPr>
          <p:cNvPicPr>
            <a:picLocks noGrp="1" noRot="1" noChangeAspect="1" noMove="1" noResize="1" noEditPoints="1" noAdjustHandles="1" noChangeArrowheads="1" noChangeShapeType="1" noCrop="1"/>
          </p:cNvPicPr>
          <p:nvPr/>
        </p:nvPicPr>
        <p:blipFill>
          <a:blip r:embed="rId3"/>
          <a:srcRect l="6" r="6"/>
          <a:stretch/>
        </p:blipFill>
        <p:spPr>
          <a:xfrm>
            <a:off x="7379023" y="2463056"/>
            <a:ext cx="2121093" cy="2121354"/>
          </a:xfrm>
          <a:prstGeom prst="rect">
            <a:avLst/>
          </a:prstGeom>
        </p:spPr>
      </p:pic>
      <p:pic>
        <p:nvPicPr>
          <p:cNvPr id="18" name="Picture 17">
            <a:extLst>
              <a:ext uri="{FF2B5EF4-FFF2-40B4-BE49-F238E27FC236}">
                <a16:creationId xmlns:a16="http://schemas.microsoft.com/office/drawing/2014/main" id="{CD932021-428B-AF9E-5151-805B28432122}"/>
              </a:ext>
            </a:extLst>
          </p:cNvPr>
          <p:cNvPicPr>
            <a:picLocks noGrp="1" noRot="1" noChangeAspect="1" noMove="1" noResize="1" noEditPoints="1" noAdjustHandles="1" noChangeArrowheads="1" noChangeShapeType="1" noCrop="1"/>
          </p:cNvPicPr>
          <p:nvPr/>
        </p:nvPicPr>
        <p:blipFill>
          <a:blip r:embed="rId4"/>
          <a:srcRect l="6" r="6"/>
          <a:stretch/>
        </p:blipFill>
        <p:spPr>
          <a:xfrm>
            <a:off x="5039179" y="2488746"/>
            <a:ext cx="2121093" cy="2121354"/>
          </a:xfrm>
          <a:prstGeom prst="rect">
            <a:avLst/>
          </a:prstGeom>
        </p:spPr>
      </p:pic>
      <p:pic>
        <p:nvPicPr>
          <p:cNvPr id="21" name="Picture 20">
            <a:extLst>
              <a:ext uri="{FF2B5EF4-FFF2-40B4-BE49-F238E27FC236}">
                <a16:creationId xmlns:a16="http://schemas.microsoft.com/office/drawing/2014/main" id="{AAC97715-21BE-47B3-95C8-9C1CB970CAF6}"/>
              </a:ext>
            </a:extLst>
          </p:cNvPr>
          <p:cNvPicPr>
            <a:picLocks noGrp="1" noRot="1" noChangeAspect="1" noMove="1" noResize="1" noEditPoints="1" noAdjustHandles="1" noChangeArrowheads="1" noChangeShapeType="1" noCrop="1"/>
          </p:cNvPicPr>
          <p:nvPr/>
        </p:nvPicPr>
        <p:blipFill>
          <a:blip r:embed="rId5"/>
          <a:srcRect l="6" r="6"/>
          <a:stretch/>
        </p:blipFill>
        <p:spPr>
          <a:xfrm>
            <a:off x="9741808" y="2425749"/>
            <a:ext cx="2121093" cy="2121354"/>
          </a:xfrm>
          <a:prstGeom prst="rect">
            <a:avLst/>
          </a:prstGeom>
        </p:spPr>
      </p:pic>
      <p:pic>
        <p:nvPicPr>
          <p:cNvPr id="22" name="Picture 21">
            <a:extLst>
              <a:ext uri="{FF2B5EF4-FFF2-40B4-BE49-F238E27FC236}">
                <a16:creationId xmlns:a16="http://schemas.microsoft.com/office/drawing/2014/main" id="{45BEB126-3D37-C14D-E753-52C57CC478A3}"/>
              </a:ext>
            </a:extLst>
          </p:cNvPr>
          <p:cNvPicPr>
            <a:picLocks noGrp="1" noRot="1" noChangeAspect="1" noMove="1" noResize="1" noEditPoints="1" noAdjustHandles="1" noChangeArrowheads="1" noChangeShapeType="1" noCrop="1"/>
          </p:cNvPicPr>
          <p:nvPr/>
        </p:nvPicPr>
        <p:blipFill>
          <a:blip r:embed="rId6"/>
          <a:srcRect l="9" r="9"/>
          <a:stretch/>
        </p:blipFill>
        <p:spPr>
          <a:xfrm>
            <a:off x="252382" y="2500828"/>
            <a:ext cx="2120959" cy="2121354"/>
          </a:xfrm>
          <a:prstGeom prst="rect">
            <a:avLst/>
          </a:prstGeom>
        </p:spPr>
      </p:pic>
      <p:sp>
        <p:nvSpPr>
          <p:cNvPr id="4" name="Title 2">
            <a:extLst>
              <a:ext uri="{FF2B5EF4-FFF2-40B4-BE49-F238E27FC236}">
                <a16:creationId xmlns:a16="http://schemas.microsoft.com/office/drawing/2014/main" id="{EC63F7BF-DFCE-B161-B7BF-BDF97C91430B}"/>
              </a:ext>
            </a:extLst>
          </p:cNvPr>
          <p:cNvSpPr txBox="1">
            <a:spLocks/>
          </p:cNvSpPr>
          <p:nvPr/>
        </p:nvSpPr>
        <p:spPr>
          <a:xfrm>
            <a:off x="248344" y="345992"/>
            <a:ext cx="11506200" cy="342000"/>
          </a:xfrm>
          <a:prstGeom prst="rect">
            <a:avLst/>
          </a:prstGeom>
        </p:spPr>
        <p:txBody>
          <a:bodyPr lIns="91440" tIns="45720" rIns="91440" bIns="45720" anchor="t"/>
          <a:lst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pPr>
              <a:spcBef>
                <a:spcPts val="0"/>
              </a:spcBef>
            </a:pPr>
            <a:r>
              <a:rPr lang="en-US">
                <a:latin typeface="+mn-lt"/>
                <a:cs typeface="Calibri"/>
              </a:rPr>
              <a:t>GFS Style Guide | </a:t>
            </a:r>
            <a:r>
              <a:rPr lang="en-US" b="1">
                <a:solidFill>
                  <a:srgbClr val="00A3E0"/>
                </a:solidFill>
                <a:latin typeface="+mn-lt"/>
                <a:cs typeface="Calibri Light"/>
              </a:rPr>
              <a:t>Icons</a:t>
            </a:r>
          </a:p>
        </p:txBody>
      </p:sp>
      <p:sp>
        <p:nvSpPr>
          <p:cNvPr id="2" name="Text Placeholder 1">
            <a:extLst>
              <a:ext uri="{FF2B5EF4-FFF2-40B4-BE49-F238E27FC236}">
                <a16:creationId xmlns:a16="http://schemas.microsoft.com/office/drawing/2014/main" id="{30030703-E94B-A1F3-995E-C9816B61F3E6}"/>
              </a:ext>
            </a:extLst>
          </p:cNvPr>
          <p:cNvSpPr>
            <a:spLocks noGrp="1"/>
          </p:cNvSpPr>
          <p:nvPr>
            <p:ph type="body" sz="quarter" idx="13"/>
          </p:nvPr>
        </p:nvSpPr>
        <p:spPr>
          <a:xfrm>
            <a:off x="342900" y="684000"/>
            <a:ext cx="11506200" cy="399633"/>
          </a:xfrm>
        </p:spPr>
        <p:txBody>
          <a:bodyPr/>
          <a:lstStyle/>
          <a:p>
            <a:r>
              <a:rPr lang="en-US"/>
              <a:t>Our team pillars</a:t>
            </a:r>
          </a:p>
        </p:txBody>
      </p:sp>
    </p:spTree>
    <p:extLst>
      <p:ext uri="{BB962C8B-B14F-4D97-AF65-F5344CB8AC3E}">
        <p14:creationId xmlns:p14="http://schemas.microsoft.com/office/powerpoint/2010/main" val="380509975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04298E8-C1D6-1505-6186-C05E780E9F3A}"/>
            </a:ext>
          </a:extLst>
        </p:cNvPr>
        <p:cNvGrpSpPr/>
        <p:nvPr/>
      </p:nvGrpSpPr>
      <p:grpSpPr>
        <a:xfrm>
          <a:off x="0" y="0"/>
          <a:ext cx="0" cy="0"/>
          <a:chOff x="0" y="0"/>
          <a:chExt cx="0" cy="0"/>
        </a:xfrm>
      </p:grpSpPr>
      <p:sp>
        <p:nvSpPr>
          <p:cNvPr id="13" name="Text Placeholder 10">
            <a:extLst>
              <a:ext uri="{FF2B5EF4-FFF2-40B4-BE49-F238E27FC236}">
                <a16:creationId xmlns:a16="http://schemas.microsoft.com/office/drawing/2014/main" id="{35214EBE-851C-956D-F071-BE15BE009FAD}"/>
              </a:ext>
            </a:extLst>
          </p:cNvPr>
          <p:cNvSpPr txBox="1">
            <a:spLocks/>
          </p:cNvSpPr>
          <p:nvPr/>
        </p:nvSpPr>
        <p:spPr>
          <a:xfrm>
            <a:off x="342900" y="1138934"/>
            <a:ext cx="9348074" cy="389850"/>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lIns="0" tIns="0" rIns="0" bIns="0" anchor="t">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nSpc>
                <a:spcPct val="100000"/>
              </a:lnSpc>
              <a:defRPr/>
            </a:pPr>
            <a:r>
              <a:rPr lang="en-US" sz="1100">
                <a:latin typeface="Aptos" panose="020B0004020202020204" pitchFamily="34" charset="0"/>
                <a:ea typeface="Open Sans"/>
                <a:cs typeface="Open Sans"/>
              </a:rPr>
              <a:t>These icons represent the services in the GFS shared services catalog and can be used in the following instances:</a:t>
            </a:r>
          </a:p>
          <a:p>
            <a:pPr marL="171450" indent="-171450">
              <a:lnSpc>
                <a:spcPct val="100000"/>
              </a:lnSpc>
              <a:buFont typeface="Arial" panose="020B0604020202020204" pitchFamily="34" charset="0"/>
              <a:buChar char="•"/>
              <a:defRPr/>
            </a:pPr>
            <a:r>
              <a:rPr lang="en-US" sz="1100">
                <a:latin typeface="Aptos" panose="020B0004020202020204" pitchFamily="34" charset="0"/>
                <a:ea typeface="Open Sans"/>
                <a:cs typeface="Open Sans"/>
              </a:rPr>
              <a:t>In Word documents and PowerPoint decks, the GFS website, within tables and charts</a:t>
            </a:r>
          </a:p>
        </p:txBody>
      </p:sp>
      <p:pic>
        <p:nvPicPr>
          <p:cNvPr id="16" name="Picture 15">
            <a:extLst>
              <a:ext uri="{FF2B5EF4-FFF2-40B4-BE49-F238E27FC236}">
                <a16:creationId xmlns:a16="http://schemas.microsoft.com/office/drawing/2014/main" id="{7E598793-18C6-7A15-572C-04F31DD5FAF6}"/>
              </a:ext>
            </a:extLst>
          </p:cNvPr>
          <p:cNvPicPr>
            <a:picLocks noGrp="1" noRot="1" noChangeAspect="1" noMove="1" noResize="1" noEditPoints="1" noAdjustHandles="1" noChangeArrowheads="1" noChangeShapeType="1" noCrop="1"/>
          </p:cNvPicPr>
          <p:nvPr/>
        </p:nvPicPr>
        <p:blipFill>
          <a:blip r:embed="rId3"/>
          <a:srcRect l="5918" r="5918"/>
          <a:stretch/>
        </p:blipFill>
        <p:spPr>
          <a:xfrm>
            <a:off x="3457012" y="1171481"/>
            <a:ext cx="2334754" cy="2648204"/>
          </a:xfrm>
          <a:prstGeom prst="rect">
            <a:avLst/>
          </a:prstGeom>
        </p:spPr>
      </p:pic>
      <p:pic>
        <p:nvPicPr>
          <p:cNvPr id="32" name="Picture 31">
            <a:extLst>
              <a:ext uri="{FF2B5EF4-FFF2-40B4-BE49-F238E27FC236}">
                <a16:creationId xmlns:a16="http://schemas.microsoft.com/office/drawing/2014/main" id="{1D8252A1-0B1B-E4E2-D20F-FDE0BDEFB9A0}"/>
              </a:ext>
            </a:extLst>
          </p:cNvPr>
          <p:cNvPicPr>
            <a:picLocks noGrp="1" noRot="1" noChangeAspect="1" noMove="1" noResize="1" noEditPoints="1" noAdjustHandles="1" noChangeArrowheads="1" noChangeShapeType="1" noCrop="1"/>
          </p:cNvPicPr>
          <p:nvPr/>
        </p:nvPicPr>
        <p:blipFill>
          <a:blip r:embed="rId4"/>
          <a:srcRect l="5787" r="5787"/>
          <a:stretch/>
        </p:blipFill>
        <p:spPr>
          <a:xfrm>
            <a:off x="525276" y="3616668"/>
            <a:ext cx="2334754" cy="2640345"/>
          </a:xfrm>
          <a:prstGeom prst="rect">
            <a:avLst/>
          </a:prstGeom>
        </p:spPr>
      </p:pic>
      <p:pic>
        <p:nvPicPr>
          <p:cNvPr id="33" name="Picture 32">
            <a:extLst>
              <a:ext uri="{FF2B5EF4-FFF2-40B4-BE49-F238E27FC236}">
                <a16:creationId xmlns:a16="http://schemas.microsoft.com/office/drawing/2014/main" id="{8ECE9CA2-32FB-3478-5415-DD40B04BD154}"/>
              </a:ext>
            </a:extLst>
          </p:cNvPr>
          <p:cNvPicPr>
            <a:picLocks noGrp="1" noRot="1" noChangeAspect="1" noMove="1" noResize="1" noEditPoints="1" noAdjustHandles="1" noChangeArrowheads="1" noChangeShapeType="1" noCrop="1"/>
          </p:cNvPicPr>
          <p:nvPr/>
        </p:nvPicPr>
        <p:blipFill>
          <a:blip r:embed="rId5"/>
          <a:srcRect l="5787" r="5787"/>
          <a:stretch/>
        </p:blipFill>
        <p:spPr>
          <a:xfrm>
            <a:off x="6398175" y="1171481"/>
            <a:ext cx="2334754" cy="2640345"/>
          </a:xfrm>
          <a:prstGeom prst="rect">
            <a:avLst/>
          </a:prstGeom>
        </p:spPr>
      </p:pic>
      <p:pic>
        <p:nvPicPr>
          <p:cNvPr id="34" name="Picture 33">
            <a:extLst>
              <a:ext uri="{FF2B5EF4-FFF2-40B4-BE49-F238E27FC236}">
                <a16:creationId xmlns:a16="http://schemas.microsoft.com/office/drawing/2014/main" id="{3A8B4805-2463-B21C-B502-73CE7F1474F5}"/>
              </a:ext>
            </a:extLst>
          </p:cNvPr>
          <p:cNvPicPr>
            <a:picLocks noGrp="1" noRot="1" noChangeAspect="1" noMove="1" noResize="1" noEditPoints="1" noAdjustHandles="1" noChangeArrowheads="1" noChangeShapeType="1" noCrop="1"/>
          </p:cNvPicPr>
          <p:nvPr/>
        </p:nvPicPr>
        <p:blipFill>
          <a:blip r:embed="rId6"/>
          <a:srcRect l="5787" r="5787"/>
          <a:stretch/>
        </p:blipFill>
        <p:spPr>
          <a:xfrm>
            <a:off x="9318941" y="1171481"/>
            <a:ext cx="2334754" cy="2640345"/>
          </a:xfrm>
          <a:prstGeom prst="rect">
            <a:avLst/>
          </a:prstGeom>
        </p:spPr>
      </p:pic>
      <p:pic>
        <p:nvPicPr>
          <p:cNvPr id="39" name="Picture 38">
            <a:extLst>
              <a:ext uri="{FF2B5EF4-FFF2-40B4-BE49-F238E27FC236}">
                <a16:creationId xmlns:a16="http://schemas.microsoft.com/office/drawing/2014/main" id="{869AE0E3-82AB-52FF-3D0E-A4EE514C91CF}"/>
              </a:ext>
            </a:extLst>
          </p:cNvPr>
          <p:cNvPicPr>
            <a:picLocks noGrp="1" noRot="1" noChangeAspect="1" noMove="1" noResize="1" noEditPoints="1" noAdjustHandles="1" noChangeArrowheads="1" noChangeShapeType="1" noCrop="1"/>
          </p:cNvPicPr>
          <p:nvPr/>
        </p:nvPicPr>
        <p:blipFill>
          <a:blip r:embed="rId7"/>
          <a:srcRect l="5918" r="5918"/>
          <a:stretch/>
        </p:blipFill>
        <p:spPr>
          <a:xfrm>
            <a:off x="3457012" y="3616668"/>
            <a:ext cx="2334754" cy="2648204"/>
          </a:xfrm>
          <a:prstGeom prst="rect">
            <a:avLst/>
          </a:prstGeom>
        </p:spPr>
      </p:pic>
      <p:pic>
        <p:nvPicPr>
          <p:cNvPr id="42" name="Picture 41">
            <a:extLst>
              <a:ext uri="{FF2B5EF4-FFF2-40B4-BE49-F238E27FC236}">
                <a16:creationId xmlns:a16="http://schemas.microsoft.com/office/drawing/2014/main" id="{8AF489AD-1F9E-2A21-03C4-812CDC6D5426}"/>
              </a:ext>
            </a:extLst>
          </p:cNvPr>
          <p:cNvPicPr>
            <a:picLocks noGrp="1" noRot="1" noChangeAspect="1" noMove="1" noResize="1" noEditPoints="1" noAdjustHandles="1" noChangeArrowheads="1" noChangeShapeType="1" noCrop="1"/>
          </p:cNvPicPr>
          <p:nvPr/>
        </p:nvPicPr>
        <p:blipFill>
          <a:blip r:embed="rId8"/>
          <a:srcRect l="5787" r="5787"/>
          <a:stretch/>
        </p:blipFill>
        <p:spPr>
          <a:xfrm>
            <a:off x="6398175" y="3616668"/>
            <a:ext cx="2334754" cy="2640345"/>
          </a:xfrm>
          <a:prstGeom prst="rect">
            <a:avLst/>
          </a:prstGeom>
        </p:spPr>
      </p:pic>
      <p:pic>
        <p:nvPicPr>
          <p:cNvPr id="43" name="Picture 42">
            <a:extLst>
              <a:ext uri="{FF2B5EF4-FFF2-40B4-BE49-F238E27FC236}">
                <a16:creationId xmlns:a16="http://schemas.microsoft.com/office/drawing/2014/main" id="{6E74EC83-33BD-2885-1671-22C19ACBB329}"/>
              </a:ext>
            </a:extLst>
          </p:cNvPr>
          <p:cNvPicPr>
            <a:picLocks noGrp="1" noRot="1" noChangeAspect="1" noMove="1" noResize="1" noEditPoints="1" noAdjustHandles="1" noChangeArrowheads="1" noChangeShapeType="1" noCrop="1"/>
          </p:cNvPicPr>
          <p:nvPr/>
        </p:nvPicPr>
        <p:blipFill>
          <a:blip r:embed="rId9"/>
          <a:srcRect l="2965" r="2965"/>
          <a:stretch/>
        </p:blipFill>
        <p:spPr>
          <a:xfrm>
            <a:off x="9240745" y="3616668"/>
            <a:ext cx="2491147" cy="2648204"/>
          </a:xfrm>
          <a:prstGeom prst="rect">
            <a:avLst/>
          </a:prstGeom>
        </p:spPr>
      </p:pic>
      <p:pic>
        <p:nvPicPr>
          <p:cNvPr id="15" name="Picture 14">
            <a:extLst>
              <a:ext uri="{FF2B5EF4-FFF2-40B4-BE49-F238E27FC236}">
                <a16:creationId xmlns:a16="http://schemas.microsoft.com/office/drawing/2014/main" id="{01C90369-6778-C71C-0DA8-18448D9E089D}"/>
              </a:ext>
            </a:extLst>
          </p:cNvPr>
          <p:cNvPicPr>
            <a:picLocks noGrp="1" noRot="1" noChangeAspect="1" noMove="1" noResize="1" noEditPoints="1" noAdjustHandles="1" noChangeArrowheads="1" noChangeShapeType="1" noCrop="1"/>
          </p:cNvPicPr>
          <p:nvPr/>
        </p:nvPicPr>
        <p:blipFill>
          <a:blip r:embed="rId10"/>
          <a:srcRect l="5787" r="5787"/>
          <a:stretch/>
        </p:blipFill>
        <p:spPr>
          <a:xfrm>
            <a:off x="525276" y="1171481"/>
            <a:ext cx="2334754" cy="2640345"/>
          </a:xfrm>
          <a:prstGeom prst="rect">
            <a:avLst/>
          </a:prstGeom>
        </p:spPr>
      </p:pic>
      <p:sp>
        <p:nvSpPr>
          <p:cNvPr id="4" name="Text Placeholder 10">
            <a:extLst>
              <a:ext uri="{FF2B5EF4-FFF2-40B4-BE49-F238E27FC236}">
                <a16:creationId xmlns:a16="http://schemas.microsoft.com/office/drawing/2014/main" id="{72A2D57F-79D8-1CCA-74F5-FD0637228ED7}"/>
              </a:ext>
            </a:extLst>
          </p:cNvPr>
          <p:cNvSpPr txBox="1">
            <a:spLocks noGrp="1" noRot="1" noMove="1" noResize="1" noEditPoints="1" noAdjustHandles="1" noChangeArrowheads="1" noChangeShapeType="1"/>
          </p:cNvSpPr>
          <p:nvPr/>
        </p:nvSpPr>
        <p:spPr>
          <a:xfrm>
            <a:off x="342900" y="3653702"/>
            <a:ext cx="2699507" cy="371064"/>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Engagement </a:t>
            </a:r>
          </a:p>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Financial Advisors (EFA)</a:t>
            </a:r>
          </a:p>
        </p:txBody>
      </p:sp>
      <p:sp>
        <p:nvSpPr>
          <p:cNvPr id="5" name="Text Placeholder 10">
            <a:extLst>
              <a:ext uri="{FF2B5EF4-FFF2-40B4-BE49-F238E27FC236}">
                <a16:creationId xmlns:a16="http://schemas.microsoft.com/office/drawing/2014/main" id="{4A784409-0A64-93D2-2790-CD5A857CEBCD}"/>
              </a:ext>
            </a:extLst>
          </p:cNvPr>
          <p:cNvSpPr txBox="1">
            <a:spLocks noGrp="1" noRot="1" noMove="1" noResize="1" noEditPoints="1" noAdjustHandles="1" noChangeArrowheads="1" noChangeShapeType="1"/>
          </p:cNvSpPr>
          <p:nvPr/>
        </p:nvSpPr>
        <p:spPr>
          <a:xfrm>
            <a:off x="3274636" y="3653702"/>
            <a:ext cx="2699507" cy="361574"/>
          </a:xfrm>
          <a:prstGeom prst="rect">
            <a:avLst/>
          </a:prstGeom>
        </p:spPr>
        <p:txBody>
          <a:bodyPr wrap="square" lIns="0" tIns="0" rIns="0" bIns="0" anchor="t">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Accounting &amp; Controllership </a:t>
            </a:r>
          </a:p>
          <a:p>
            <a:pPr algn="ctr">
              <a:lnSpc>
                <a:spcPts val="1400"/>
              </a:lnSpc>
              <a:spcAft>
                <a:spcPts val="0"/>
              </a:spcAft>
              <a:defRPr/>
            </a:pPr>
            <a:r>
              <a:rPr lang="en-US" sz="1400" b="1">
                <a:solidFill>
                  <a:srgbClr val="00A3E0"/>
                </a:solidFill>
                <a:ea typeface="Open Sans"/>
                <a:cs typeface="Open Sans"/>
              </a:rPr>
              <a:t>(A&amp;C)</a:t>
            </a:r>
          </a:p>
        </p:txBody>
      </p:sp>
      <p:sp>
        <p:nvSpPr>
          <p:cNvPr id="6" name="Text Placeholder 10">
            <a:extLst>
              <a:ext uri="{FF2B5EF4-FFF2-40B4-BE49-F238E27FC236}">
                <a16:creationId xmlns:a16="http://schemas.microsoft.com/office/drawing/2014/main" id="{B60A5E6E-585E-5DD1-D0A3-786C5A4F3815}"/>
              </a:ext>
            </a:extLst>
          </p:cNvPr>
          <p:cNvSpPr txBox="1">
            <a:spLocks noGrp="1" noRot="1" noMove="1" noResize="1" noEditPoints="1" noAdjustHandles="1" noChangeArrowheads="1" noChangeShapeType="1"/>
          </p:cNvSpPr>
          <p:nvPr/>
        </p:nvSpPr>
        <p:spPr>
          <a:xfrm>
            <a:off x="6215799" y="3653702"/>
            <a:ext cx="2699507" cy="371064"/>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Accounts Receivable Management (ARM)</a:t>
            </a:r>
          </a:p>
        </p:txBody>
      </p:sp>
      <p:sp>
        <p:nvSpPr>
          <p:cNvPr id="7" name="Text Placeholder 10">
            <a:extLst>
              <a:ext uri="{FF2B5EF4-FFF2-40B4-BE49-F238E27FC236}">
                <a16:creationId xmlns:a16="http://schemas.microsoft.com/office/drawing/2014/main" id="{C55B6CF7-15AC-6D00-8FBB-C0C34CAC5ACB}"/>
              </a:ext>
            </a:extLst>
          </p:cNvPr>
          <p:cNvSpPr txBox="1">
            <a:spLocks noGrp="1" noRot="1" noMove="1" noResize="1" noEditPoints="1" noAdjustHandles="1" noChangeArrowheads="1" noChangeShapeType="1"/>
          </p:cNvSpPr>
          <p:nvPr/>
        </p:nvSpPr>
        <p:spPr>
          <a:xfrm>
            <a:off x="9136565" y="3653702"/>
            <a:ext cx="2595327" cy="361574"/>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Client to Cash </a:t>
            </a:r>
          </a:p>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(CTC)</a:t>
            </a:r>
          </a:p>
        </p:txBody>
      </p:sp>
      <p:sp>
        <p:nvSpPr>
          <p:cNvPr id="8" name="Text Placeholder 10">
            <a:extLst>
              <a:ext uri="{FF2B5EF4-FFF2-40B4-BE49-F238E27FC236}">
                <a16:creationId xmlns:a16="http://schemas.microsoft.com/office/drawing/2014/main" id="{624CE5E1-E9FB-3C84-01E6-5A516A71EB62}"/>
              </a:ext>
            </a:extLst>
          </p:cNvPr>
          <p:cNvSpPr txBox="1">
            <a:spLocks noGrp="1" noRot="1" noMove="1" noResize="1" noEditPoints="1" noAdjustHandles="1" noChangeArrowheads="1" noChangeShapeType="1"/>
          </p:cNvSpPr>
          <p:nvPr/>
        </p:nvSpPr>
        <p:spPr>
          <a:xfrm>
            <a:off x="342900" y="6006874"/>
            <a:ext cx="2699507" cy="361574"/>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Reporting &amp; Analysis </a:t>
            </a:r>
          </a:p>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(R&amp;A) </a:t>
            </a:r>
          </a:p>
        </p:txBody>
      </p:sp>
      <p:sp>
        <p:nvSpPr>
          <p:cNvPr id="9" name="Text Placeholder 10">
            <a:extLst>
              <a:ext uri="{FF2B5EF4-FFF2-40B4-BE49-F238E27FC236}">
                <a16:creationId xmlns:a16="http://schemas.microsoft.com/office/drawing/2014/main" id="{30D81501-5F09-DDF0-A2C5-2F3BF1BE2712}"/>
              </a:ext>
            </a:extLst>
          </p:cNvPr>
          <p:cNvSpPr txBox="1">
            <a:spLocks noGrp="1" noRot="1" noMove="1" noResize="1" noEditPoints="1" noAdjustHandles="1" noChangeArrowheads="1" noChangeShapeType="1"/>
          </p:cNvSpPr>
          <p:nvPr/>
        </p:nvSpPr>
        <p:spPr>
          <a:xfrm>
            <a:off x="3274636" y="6006874"/>
            <a:ext cx="2699507" cy="361574"/>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Expense Compliance </a:t>
            </a:r>
          </a:p>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(EC)</a:t>
            </a:r>
          </a:p>
        </p:txBody>
      </p:sp>
      <p:sp>
        <p:nvSpPr>
          <p:cNvPr id="11" name="Text Placeholder 10">
            <a:extLst>
              <a:ext uri="{FF2B5EF4-FFF2-40B4-BE49-F238E27FC236}">
                <a16:creationId xmlns:a16="http://schemas.microsoft.com/office/drawing/2014/main" id="{008C1478-1EB1-D81B-4871-DDE79E6A5E2B}"/>
              </a:ext>
            </a:extLst>
          </p:cNvPr>
          <p:cNvSpPr txBox="1">
            <a:spLocks noGrp="1" noRot="1" noMove="1" noResize="1" noEditPoints="1" noAdjustHandles="1" noChangeArrowheads="1" noChangeShapeType="1"/>
          </p:cNvSpPr>
          <p:nvPr/>
        </p:nvSpPr>
        <p:spPr>
          <a:xfrm>
            <a:off x="6215799" y="6006874"/>
            <a:ext cx="2699507" cy="361574"/>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Global Data Management </a:t>
            </a:r>
          </a:p>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(GDM)</a:t>
            </a:r>
          </a:p>
        </p:txBody>
      </p:sp>
      <p:sp>
        <p:nvSpPr>
          <p:cNvPr id="12" name="Text Placeholder 10">
            <a:extLst>
              <a:ext uri="{FF2B5EF4-FFF2-40B4-BE49-F238E27FC236}">
                <a16:creationId xmlns:a16="http://schemas.microsoft.com/office/drawing/2014/main" id="{A1738259-AE41-4E73-1B77-4EB4C41E84FB}"/>
              </a:ext>
            </a:extLst>
          </p:cNvPr>
          <p:cNvSpPr txBox="1">
            <a:spLocks noGrp="1" noRot="1" noMove="1" noResize="1" noEditPoints="1" noAdjustHandles="1" noChangeArrowheads="1" noChangeShapeType="1"/>
          </p:cNvSpPr>
          <p:nvPr/>
        </p:nvSpPr>
        <p:spPr>
          <a:xfrm>
            <a:off x="9136565" y="6006874"/>
            <a:ext cx="2699507" cy="361574"/>
          </a:xfrm>
          <a:prstGeom prst="rect">
            <a:avLst/>
          </a:prstGeom>
        </p:spPr>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Procure to Pay </a:t>
            </a:r>
          </a:p>
          <a:p>
            <a:pPr algn="ctr">
              <a:lnSpc>
                <a:spcPts val="1400"/>
              </a:lnSpc>
              <a:spcAft>
                <a:spcPts val="0"/>
              </a:spcAft>
              <a:defRPr/>
            </a:pPr>
            <a:r>
              <a:rPr lang="en-US" sz="1400" b="1">
                <a:solidFill>
                  <a:srgbClr val="00A3E0"/>
                </a:solidFill>
                <a:ea typeface="Open Sans" panose="020B0606030504020204" pitchFamily="34" charset="0"/>
                <a:cs typeface="Open Sans" panose="020B0606030504020204" pitchFamily="34" charset="0"/>
              </a:rPr>
              <a:t>(PTP)</a:t>
            </a:r>
          </a:p>
        </p:txBody>
      </p:sp>
      <p:sp>
        <p:nvSpPr>
          <p:cNvPr id="19" name="Title 2">
            <a:extLst>
              <a:ext uri="{FF2B5EF4-FFF2-40B4-BE49-F238E27FC236}">
                <a16:creationId xmlns:a16="http://schemas.microsoft.com/office/drawing/2014/main" id="{8830FA69-9EA2-601B-FFE1-64932353A02B}"/>
              </a:ext>
            </a:extLst>
          </p:cNvPr>
          <p:cNvSpPr txBox="1">
            <a:spLocks/>
          </p:cNvSpPr>
          <p:nvPr/>
        </p:nvSpPr>
        <p:spPr>
          <a:xfrm>
            <a:off x="248344" y="345992"/>
            <a:ext cx="11506200" cy="342000"/>
          </a:xfrm>
          <a:prstGeom prst="rect">
            <a:avLst/>
          </a:prstGeom>
        </p:spPr>
        <p:txBody>
          <a:bodyPr lIns="91440" tIns="45720" rIns="91440" bIns="45720" anchor="t"/>
          <a:lst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pPr>
              <a:spcBef>
                <a:spcPts val="0"/>
              </a:spcBef>
            </a:pPr>
            <a:r>
              <a:rPr lang="en-US">
                <a:latin typeface="+mn-lt"/>
                <a:cs typeface="Calibri"/>
              </a:rPr>
              <a:t>GFS Style Guide | </a:t>
            </a:r>
            <a:r>
              <a:rPr lang="en-US" b="1">
                <a:solidFill>
                  <a:srgbClr val="00A3E0"/>
                </a:solidFill>
                <a:latin typeface="+mn-lt"/>
                <a:cs typeface="Calibri Light"/>
              </a:rPr>
              <a:t>Icons</a:t>
            </a:r>
          </a:p>
        </p:txBody>
      </p:sp>
      <p:sp>
        <p:nvSpPr>
          <p:cNvPr id="2" name="Text Placeholder 1">
            <a:extLst>
              <a:ext uri="{FF2B5EF4-FFF2-40B4-BE49-F238E27FC236}">
                <a16:creationId xmlns:a16="http://schemas.microsoft.com/office/drawing/2014/main" id="{D80D3E20-E0BB-48D0-33E3-B2D87793C18A}"/>
              </a:ext>
            </a:extLst>
          </p:cNvPr>
          <p:cNvSpPr>
            <a:spLocks noGrp="1"/>
          </p:cNvSpPr>
          <p:nvPr>
            <p:ph type="body" sz="quarter" idx="13"/>
          </p:nvPr>
        </p:nvSpPr>
        <p:spPr>
          <a:xfrm>
            <a:off x="342900" y="684000"/>
            <a:ext cx="11506200" cy="383905"/>
          </a:xfrm>
        </p:spPr>
        <p:txBody>
          <a:bodyPr/>
          <a:lstStyle/>
          <a:p>
            <a:r>
              <a:rPr lang="en-US"/>
              <a:t>Our shared services</a:t>
            </a:r>
          </a:p>
        </p:txBody>
      </p:sp>
    </p:spTree>
    <p:extLst>
      <p:ext uri="{BB962C8B-B14F-4D97-AF65-F5344CB8AC3E}">
        <p14:creationId xmlns:p14="http://schemas.microsoft.com/office/powerpoint/2010/main" val="2144504528"/>
      </p:ext>
    </p:extLst>
  </p:cSld>
  <p:clrMapOvr>
    <a:overrideClrMapping bg1="lt1" tx1="dk1" bg2="lt2" tx2="dk2" accent1="accent1" accent2="accent2" accent3="accent3" accent4="accent4" accent5="accent5" accent6="accent6" hlink="hlink" folHlink="folHlink"/>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8E0A7-734C-A036-3E3D-8EBD54190B9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61F225E-8605-92E6-EF82-1F0CF97E2AAC}"/>
              </a:ext>
            </a:extLst>
          </p:cNvPr>
          <p:cNvPicPr>
            <a:picLocks noGrp="1" noRot="1" noChangeAspect="1" noMove="1" noResize="1" noEditPoints="1" noAdjustHandles="1" noChangeArrowheads="1" noChangeShapeType="1" noCrop="1"/>
          </p:cNvPicPr>
          <p:nvPr/>
        </p:nvPicPr>
        <p:blipFill>
          <a:blip r:embed="rId2"/>
          <a:srcRect l="41970" t="13065" r="10123" b="18400"/>
          <a:stretch>
            <a:fillRect/>
          </a:stretch>
        </p:blipFill>
        <p:spPr>
          <a:xfrm>
            <a:off x="0" y="-1"/>
            <a:ext cx="4447671" cy="6362701"/>
          </a:xfrm>
          <a:prstGeom prst="rect">
            <a:avLst/>
          </a:prstGeom>
        </p:spPr>
      </p:pic>
      <p:sp>
        <p:nvSpPr>
          <p:cNvPr id="10" name="Title 3">
            <a:extLst>
              <a:ext uri="{FF2B5EF4-FFF2-40B4-BE49-F238E27FC236}">
                <a16:creationId xmlns:a16="http://schemas.microsoft.com/office/drawing/2014/main" id="{9F853CB7-C77A-FEDC-D488-77A20B487D71}"/>
              </a:ext>
            </a:extLst>
          </p:cNvPr>
          <p:cNvSpPr txBox="1">
            <a:spLocks/>
          </p:cNvSpPr>
          <p:nvPr/>
        </p:nvSpPr>
        <p:spPr bwMode="gray">
          <a:xfrm>
            <a:off x="9690231" y="2804403"/>
            <a:ext cx="4491924" cy="628904"/>
          </a:xfrm>
          <a:prstGeom prst="rect">
            <a:avLst/>
          </a:prstGeom>
        </p:spPr>
        <p:txBody>
          <a:bodyPr vert="horz" lIns="0" tIns="0" rIns="0" bIns="0" rtlCol="0" anchor="b" anchorCtr="0">
            <a:no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endParaRPr lang="en-US" sz="4500" i="1">
              <a:solidFill>
                <a:srgbClr val="0076A8"/>
              </a:solidFill>
            </a:endParaRPr>
          </a:p>
        </p:txBody>
      </p:sp>
      <p:pic>
        <p:nvPicPr>
          <p:cNvPr id="16" name="Graphic 15">
            <a:extLst>
              <a:ext uri="{FF2B5EF4-FFF2-40B4-BE49-F238E27FC236}">
                <a16:creationId xmlns:a16="http://schemas.microsoft.com/office/drawing/2014/main" id="{56259304-8AD6-04CD-3C96-0D4E1DC4C818}"/>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3650143" y="1866900"/>
            <a:ext cx="409575" cy="476250"/>
          </a:xfrm>
          <a:prstGeom prst="rect">
            <a:avLst/>
          </a:prstGeom>
        </p:spPr>
      </p:pic>
      <p:sp>
        <p:nvSpPr>
          <p:cNvPr id="22" name="Freeform: Shape 21">
            <a:extLst>
              <a:ext uri="{FF2B5EF4-FFF2-40B4-BE49-F238E27FC236}">
                <a16:creationId xmlns:a16="http://schemas.microsoft.com/office/drawing/2014/main" id="{6EA3E842-DF78-2F97-48FB-11AD8017FCDA}"/>
              </a:ext>
            </a:extLst>
          </p:cNvPr>
          <p:cNvSpPr>
            <a:spLocks noGrp="1" noRot="1" noMove="1" noResize="1" noEditPoints="1" noAdjustHandles="1" noChangeArrowheads="1" noChangeShapeType="1"/>
          </p:cNvSpPr>
          <p:nvPr/>
        </p:nvSpPr>
        <p:spPr>
          <a:xfrm>
            <a:off x="4117821" y="2434123"/>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81BC019-92FA-F4C1-2308-4379D1DAEB91}"/>
              </a:ext>
            </a:extLst>
          </p:cNvPr>
          <p:cNvSpPr>
            <a:spLocks noGrp="1" noRot="1" noMove="1" noResize="1" noEditPoints="1" noAdjustHandles="1" noChangeArrowheads="1" noChangeShapeType="1"/>
          </p:cNvSpPr>
          <p:nvPr/>
        </p:nvSpPr>
        <p:spPr>
          <a:xfrm>
            <a:off x="4363089" y="2373024"/>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DCE6D80-6E50-74B9-5F9A-EBF6C8AB7C21}"/>
              </a:ext>
            </a:extLst>
          </p:cNvPr>
          <p:cNvSpPr>
            <a:spLocks noGrp="1" noRot="1" noMove="1" noResize="1" noEditPoints="1" noAdjustHandles="1" noChangeArrowheads="1" noChangeShapeType="1"/>
          </p:cNvSpPr>
          <p:nvPr/>
        </p:nvSpPr>
        <p:spPr>
          <a:xfrm>
            <a:off x="4202735" y="2171534"/>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9D91BDF-E373-F369-22DD-DC6A15DCD32F}"/>
              </a:ext>
            </a:extLst>
          </p:cNvPr>
          <p:cNvSpPr>
            <a:spLocks noGrp="1" noRot="1" noMove="1" noResize="1" noEditPoints="1" noAdjustHandles="1" noChangeArrowheads="1" noChangeShapeType="1"/>
          </p:cNvSpPr>
          <p:nvPr/>
        </p:nvSpPr>
        <p:spPr>
          <a:xfrm>
            <a:off x="3091683" y="5537247"/>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164D8BD-5AD9-AA1B-E5ED-DCAF5AF3995E}"/>
              </a:ext>
            </a:extLst>
          </p:cNvPr>
          <p:cNvSpPr>
            <a:spLocks noGrp="1" noRot="1" noMove="1" noResize="1" noEditPoints="1" noAdjustHandles="1" noChangeArrowheads="1" noChangeShapeType="1"/>
          </p:cNvSpPr>
          <p:nvPr/>
        </p:nvSpPr>
        <p:spPr>
          <a:xfrm>
            <a:off x="3064577" y="5836071"/>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BBD47DF-6ACE-C99F-6F21-46B5545B187D}"/>
              </a:ext>
            </a:extLst>
          </p:cNvPr>
          <p:cNvSpPr>
            <a:spLocks noGrp="1" noRot="1" noMove="1" noResize="1" noEditPoints="1" noAdjustHandles="1" noChangeArrowheads="1" noChangeShapeType="1"/>
          </p:cNvSpPr>
          <p:nvPr/>
        </p:nvSpPr>
        <p:spPr>
          <a:xfrm>
            <a:off x="3351695" y="5702675"/>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pic>
        <p:nvPicPr>
          <p:cNvPr id="28" name="Graphic 27">
            <a:extLst>
              <a:ext uri="{FF2B5EF4-FFF2-40B4-BE49-F238E27FC236}">
                <a16:creationId xmlns:a16="http://schemas.microsoft.com/office/drawing/2014/main" id="{E3784422-E754-4F92-ECD3-DB521DB14872}"/>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2616176" y="5524500"/>
            <a:ext cx="304320" cy="353860"/>
          </a:xfrm>
          <a:prstGeom prst="rect">
            <a:avLst/>
          </a:prstGeom>
        </p:spPr>
      </p:pic>
      <p:sp>
        <p:nvSpPr>
          <p:cNvPr id="2" name="Title 3">
            <a:extLst>
              <a:ext uri="{FF2B5EF4-FFF2-40B4-BE49-F238E27FC236}">
                <a16:creationId xmlns:a16="http://schemas.microsoft.com/office/drawing/2014/main" id="{9C259D32-8334-6302-DAEA-EAD3043005FB}"/>
              </a:ext>
            </a:extLst>
          </p:cNvPr>
          <p:cNvSpPr txBox="1">
            <a:spLocks noGrp="1" noRot="1" noMove="1" noResize="1" noEditPoints="1" noAdjustHandles="1" noChangeArrowheads="1" noChangeShapeType="1"/>
          </p:cNvSpPr>
          <p:nvPr/>
        </p:nvSpPr>
        <p:spPr bwMode="gray">
          <a:xfrm>
            <a:off x="4447671" y="2804403"/>
            <a:ext cx="4491924" cy="628904"/>
          </a:xfrm>
          <a:prstGeom prst="rect">
            <a:avLst/>
          </a:prstGeom>
        </p:spPr>
        <p:txBody>
          <a:bodyPr vert="horz" lIns="0" tIns="0" rIns="0" bIns="0" rtlCol="0" anchor="b" anchorCtr="0">
            <a:no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4500">
                <a:solidFill>
                  <a:srgbClr val="00A3E0"/>
                </a:solidFill>
                <a:latin typeface="Aptos"/>
                <a:ea typeface="Open Sans"/>
                <a:cs typeface="Open Sans"/>
              </a:rPr>
              <a:t>Color palette</a:t>
            </a:r>
            <a:endParaRPr lang="en-US" sz="4500">
              <a:solidFill>
                <a:srgbClr val="00A3E0"/>
              </a:solidFill>
            </a:endParaRPr>
          </a:p>
        </p:txBody>
      </p:sp>
      <p:cxnSp>
        <p:nvCxnSpPr>
          <p:cNvPr id="3" name="Straight Connector 2">
            <a:extLst>
              <a:ext uri="{FF2B5EF4-FFF2-40B4-BE49-F238E27FC236}">
                <a16:creationId xmlns:a16="http://schemas.microsoft.com/office/drawing/2014/main" id="{6CE9430E-FB42-D22A-28AC-A6FAA2A56CC1}"/>
              </a:ext>
            </a:extLst>
          </p:cNvPr>
          <p:cNvCxnSpPr>
            <a:cxnSpLocks noGrp="1" noRot="1" noMove="1" noResize="1" noEditPoints="1" noAdjustHandles="1" noChangeArrowheads="1" noChangeShapeType="1"/>
          </p:cNvCxnSpPr>
          <p:nvPr/>
        </p:nvCxnSpPr>
        <p:spPr>
          <a:xfrm>
            <a:off x="4447671" y="3693390"/>
            <a:ext cx="3395849" cy="0"/>
          </a:xfrm>
          <a:prstGeom prst="line">
            <a:avLst/>
          </a:prstGeom>
          <a:ln w="19050">
            <a:solidFill>
              <a:srgbClr val="00A3E0"/>
            </a:solidFill>
            <a:tailEnd type="oval"/>
          </a:ln>
        </p:spPr>
        <p:style>
          <a:lnRef idx="1">
            <a:schemeClr val="accent1"/>
          </a:lnRef>
          <a:fillRef idx="0">
            <a:schemeClr val="accent1"/>
          </a:fillRef>
          <a:effectRef idx="0">
            <a:schemeClr val="accent1"/>
          </a:effectRef>
          <a:fontRef idx="minor">
            <a:schemeClr val="tx1"/>
          </a:fontRef>
        </p:style>
      </p:cxnSp>
      <p:pic>
        <p:nvPicPr>
          <p:cNvPr id="6" name="Graphic 5">
            <a:hlinkClick r:id="rId5" action="ppaction://hlinksldjump"/>
            <a:extLst>
              <a:ext uri="{FF2B5EF4-FFF2-40B4-BE49-F238E27FC236}">
                <a16:creationId xmlns:a16="http://schemas.microsoft.com/office/drawing/2014/main" id="{08AE5A46-AFFA-3082-CAF4-3550272ABA35}"/>
              </a:ext>
            </a:extLst>
          </p:cNvPr>
          <p:cNvPicPr>
            <a:picLocks noGrp="1" noRot="1" noChangeAspect="1" noMove="1" noResize="1" noEditPoints="1" noAdjustHandles="1" noChangeArrowheads="1" noChangeShapeType="1" noCrop="1"/>
          </p:cNvPicPr>
          <p:nvPr/>
        </p:nvPicPr>
        <p:blipFill>
          <a:blip r:embed="rId6">
            <a:extLst>
              <a:ext uri="{96DAC541-7B7A-43D3-8B79-37D633B846F1}">
                <asvg:svgBlip xmlns:asvg="http://schemas.microsoft.com/office/drawing/2016/SVG/main" r:embed="rId7"/>
              </a:ext>
            </a:extLst>
          </a:blip>
          <a:stretch>
            <a:fillRect/>
          </a:stretch>
        </p:blipFill>
        <p:spPr>
          <a:xfrm>
            <a:off x="11379200" y="309880"/>
            <a:ext cx="469900" cy="469900"/>
          </a:xfrm>
          <a:prstGeom prst="rect">
            <a:avLst/>
          </a:prstGeom>
        </p:spPr>
      </p:pic>
    </p:spTree>
    <p:extLst>
      <p:ext uri="{BB962C8B-B14F-4D97-AF65-F5344CB8AC3E}">
        <p14:creationId xmlns:p14="http://schemas.microsoft.com/office/powerpoint/2010/main" val="1423434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C876-A72B-2E87-4146-CF401AA98CE5}"/>
              </a:ext>
            </a:extLst>
          </p:cNvPr>
          <p:cNvSpPr>
            <a:spLocks noGrp="1"/>
          </p:cNvSpPr>
          <p:nvPr>
            <p:ph type="title"/>
          </p:nvPr>
        </p:nvSpPr>
        <p:spPr/>
        <p:txBody>
          <a:bodyPr/>
          <a:lstStyle/>
          <a:p>
            <a:r>
              <a:rPr lang="en-US">
                <a:solidFill>
                  <a:schemeClr val="tx1"/>
                </a:solidFill>
                <a:cs typeface="Calibri"/>
              </a:rPr>
              <a:t>GFS Style Guide | </a:t>
            </a:r>
            <a:r>
              <a:rPr lang="en-US" b="1"/>
              <a:t>Color palette</a:t>
            </a:r>
            <a:endParaRPr lang="en-US">
              <a:solidFill>
                <a:schemeClr val="tx1"/>
              </a:solidFill>
              <a:latin typeface="+mj-lt"/>
            </a:endParaRPr>
          </a:p>
        </p:txBody>
      </p:sp>
      <p:graphicFrame>
        <p:nvGraphicFramePr>
          <p:cNvPr id="58" name="Table 57">
            <a:extLst>
              <a:ext uri="{FF2B5EF4-FFF2-40B4-BE49-F238E27FC236}">
                <a16:creationId xmlns:a16="http://schemas.microsoft.com/office/drawing/2014/main" id="{E30C63F6-527B-B924-7023-D3BDF77CC815}"/>
              </a:ext>
            </a:extLst>
          </p:cNvPr>
          <p:cNvGraphicFramePr>
            <a:graphicFrameLocks noGrp="1" noDrilldown="1" noMove="1" noResize="1"/>
          </p:cNvGraphicFramePr>
          <p:nvPr>
            <p:extLst>
              <p:ext uri="{D42A27DB-BD31-4B8C-83A1-F6EECF244321}">
                <p14:modId xmlns:p14="http://schemas.microsoft.com/office/powerpoint/2010/main" val="2456846697"/>
              </p:ext>
            </p:extLst>
          </p:nvPr>
        </p:nvGraphicFramePr>
        <p:xfrm>
          <a:off x="342897" y="1545413"/>
          <a:ext cx="6158261" cy="1443360"/>
        </p:xfrm>
        <a:graphic>
          <a:graphicData uri="http://schemas.openxmlformats.org/drawingml/2006/table">
            <a:tbl>
              <a:tblPr firstRow="1" firstCol="1" bandRow="1"/>
              <a:tblGrid>
                <a:gridCol w="1296330">
                  <a:extLst>
                    <a:ext uri="{9D8B030D-6E8A-4147-A177-3AD203B41FA5}">
                      <a16:colId xmlns:a16="http://schemas.microsoft.com/office/drawing/2014/main" val="20001"/>
                    </a:ext>
                  </a:extLst>
                </a:gridCol>
                <a:gridCol w="1248937">
                  <a:extLst>
                    <a:ext uri="{9D8B030D-6E8A-4147-A177-3AD203B41FA5}">
                      <a16:colId xmlns:a16="http://schemas.microsoft.com/office/drawing/2014/main" val="20002"/>
                    </a:ext>
                  </a:extLst>
                </a:gridCol>
                <a:gridCol w="1159726">
                  <a:extLst>
                    <a:ext uri="{9D8B030D-6E8A-4147-A177-3AD203B41FA5}">
                      <a16:colId xmlns:a16="http://schemas.microsoft.com/office/drawing/2014/main" val="2664904378"/>
                    </a:ext>
                  </a:extLst>
                </a:gridCol>
                <a:gridCol w="1172696">
                  <a:extLst>
                    <a:ext uri="{9D8B030D-6E8A-4147-A177-3AD203B41FA5}">
                      <a16:colId xmlns:a16="http://schemas.microsoft.com/office/drawing/2014/main" val="1302975321"/>
                    </a:ext>
                  </a:extLst>
                </a:gridCol>
                <a:gridCol w="1280572">
                  <a:extLst>
                    <a:ext uri="{9D8B030D-6E8A-4147-A177-3AD203B41FA5}">
                      <a16:colId xmlns:a16="http://schemas.microsoft.com/office/drawing/2014/main" val="3411334612"/>
                    </a:ext>
                  </a:extLst>
                </a:gridCol>
              </a:tblGrid>
              <a:tr h="360000">
                <a:tc>
                  <a:txBody>
                    <a:bodyPr/>
                    <a:lstStyle/>
                    <a:p>
                      <a:pPr>
                        <a:lnSpc>
                          <a:spcPct val="100000"/>
                        </a:lnSpc>
                        <a:spcBef>
                          <a:spcPts val="0"/>
                        </a:spcBef>
                        <a:spcAft>
                          <a:spcPts val="0"/>
                        </a:spcAft>
                      </a:pPr>
                      <a:r>
                        <a:rPr lang="en-US" sz="80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1"/>
                    </a:solidFill>
                  </a:tcPr>
                </a:tc>
                <a:tc>
                  <a:txBody>
                    <a:bodyPr/>
                    <a:lstStyle/>
                    <a:p>
                      <a:pPr>
                        <a:lnSpc>
                          <a:spcPct val="100000"/>
                        </a:lnSpc>
                        <a:spcBef>
                          <a:spcPts val="0"/>
                        </a:spcBef>
                        <a:spcAft>
                          <a:spcPts val="0"/>
                        </a:spcAft>
                      </a:pPr>
                      <a:r>
                        <a:rPr lang="en-US" sz="80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6890D"/>
                    </a:solidFill>
                  </a:tcPr>
                </a:tc>
                <a:tc>
                  <a:txBody>
                    <a:bodyPr/>
                    <a:lstStyle/>
                    <a:p>
                      <a:pPr>
                        <a:lnSpc>
                          <a:spcPct val="100000"/>
                        </a:lnSpc>
                        <a:spcBef>
                          <a:spcPts val="0"/>
                        </a:spcBef>
                        <a:spcAft>
                          <a:spcPts val="0"/>
                        </a:spcAft>
                      </a:pPr>
                      <a:endParaRPr lang="en-US" sz="800">
                        <a:effectLst/>
                        <a:latin typeface="Aptos" panose="020B0004020202020204" pitchFamily="34" charset="0"/>
                        <a:ea typeface="Verdana" panose="020B0604030504040204" pitchFamily="34" charset="0"/>
                        <a:cs typeface="Calibri Light" panose="020F0302020204030204" pitchFamily="34" charset="0"/>
                      </a:endParaRP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62B5E5"/>
                    </a:solidFill>
                  </a:tcPr>
                </a:tc>
                <a:tc>
                  <a:txBody>
                    <a:bodyPr/>
                    <a:lstStyle/>
                    <a:p>
                      <a:pPr>
                        <a:lnSpc>
                          <a:spcPct val="100000"/>
                        </a:lnSpc>
                        <a:spcBef>
                          <a:spcPts val="0"/>
                        </a:spcBef>
                        <a:spcAft>
                          <a:spcPts val="0"/>
                        </a:spcAft>
                      </a:pPr>
                      <a:endParaRPr lang="en-US" sz="800">
                        <a:effectLst/>
                        <a:latin typeface="Aptos" panose="020B0004020202020204" pitchFamily="34" charset="0"/>
                        <a:ea typeface="Verdana" panose="020B0604030504040204" pitchFamily="34" charset="0"/>
                        <a:cs typeface="Calibri Light" panose="020F0302020204030204" pitchFamily="34" charset="0"/>
                      </a:endParaRP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A3E0"/>
                    </a:solidFill>
                  </a:tcPr>
                </a:tc>
                <a:tc>
                  <a:txBody>
                    <a:bodyPr/>
                    <a:lstStyle/>
                    <a:p>
                      <a:pPr>
                        <a:lnSpc>
                          <a:spcPct val="100000"/>
                        </a:lnSpc>
                        <a:spcBef>
                          <a:spcPts val="0"/>
                        </a:spcBef>
                        <a:spcAft>
                          <a:spcPts val="0"/>
                        </a:spcAft>
                      </a:pPr>
                      <a:endParaRPr lang="en-US" sz="800">
                        <a:solidFill>
                          <a:srgbClr val="00A3E0"/>
                        </a:solidFill>
                        <a:effectLst/>
                        <a:latin typeface="Aptos" panose="020B0004020202020204" pitchFamily="34" charset="0"/>
                        <a:ea typeface="Verdana" panose="020B0604030504040204" pitchFamily="34" charset="0"/>
                        <a:cs typeface="Calibri Light" panose="020F0302020204030204" pitchFamily="34" charset="0"/>
                      </a:endParaRP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5587"/>
                    </a:solidFill>
                  </a:tcPr>
                </a:tc>
                <a:extLst>
                  <a:ext uri="{0D108BD9-81ED-4DB2-BD59-A6C34878D82A}">
                    <a16:rowId xmlns:a16="http://schemas.microsoft.com/office/drawing/2014/main" val="10000"/>
                  </a:ext>
                </a:extLst>
              </a:tr>
              <a:tr h="216000">
                <a:tc>
                  <a:txBody>
                    <a:bodyPr/>
                    <a:lstStyle/>
                    <a:p>
                      <a:pPr>
                        <a:lnSpc>
                          <a:spcPct val="100000"/>
                        </a:lnSpc>
                        <a:spcBef>
                          <a:spcPts val="0"/>
                        </a:spcBef>
                        <a:spcAft>
                          <a:spcPts val="0"/>
                        </a:spcAft>
                      </a:pPr>
                      <a:r>
                        <a:rPr lang="en-US" sz="1200" b="1">
                          <a:effectLst/>
                          <a:latin typeface="Aptos" panose="020B0004020202020204" pitchFamily="34" charset="0"/>
                          <a:ea typeface="Verdana" panose="020B0604030504040204" pitchFamily="34" charset="0"/>
                          <a:cs typeface="Calibri" panose="020F0502020204030204" pitchFamily="34" charset="0"/>
                        </a:rPr>
                        <a:t>Deloitte Green</a:t>
                      </a:r>
                      <a:endParaRPr lang="en-US" sz="1200">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200" b="1">
                          <a:effectLst/>
                          <a:latin typeface="Aptos" panose="020B0004020202020204" pitchFamily="34" charset="0"/>
                          <a:ea typeface="Verdana" panose="020B0604030504040204" pitchFamily="34" charset="0"/>
                          <a:cs typeface="Calibri" panose="020F0502020204030204" pitchFamily="34" charset="0"/>
                        </a:rPr>
                        <a:t>Deloitte Mid Green</a:t>
                      </a: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200" b="1">
                          <a:effectLst/>
                          <a:latin typeface="Aptos" panose="020B0004020202020204" pitchFamily="34" charset="0"/>
                          <a:ea typeface="Verdana" panose="020B0604030504040204" pitchFamily="34" charset="0"/>
                          <a:cs typeface="Calibri" panose="020F0502020204030204" pitchFamily="34" charset="0"/>
                        </a:rPr>
                        <a:t>Blue 2</a:t>
                      </a: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200" b="1">
                          <a:effectLst/>
                          <a:latin typeface="Aptos" panose="020B0004020202020204" pitchFamily="34" charset="0"/>
                          <a:ea typeface="Verdana" panose="020B0604030504040204" pitchFamily="34" charset="0"/>
                          <a:cs typeface="Calibri" panose="020F0502020204030204" pitchFamily="34" charset="0"/>
                        </a:rPr>
                        <a:t>Blue 3</a:t>
                      </a: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3600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350" b="1" i="0" kern="1200">
                          <a:solidFill>
                            <a:schemeClr val="tx1"/>
                          </a:solidFill>
                          <a:effectLst/>
                          <a:latin typeface="+mn-lt"/>
                          <a:ea typeface="+mn-ea"/>
                          <a:cs typeface="+mn-cs"/>
                        </a:rPr>
                        <a:t>Blue 4</a:t>
                      </a:r>
                      <a:endParaRPr lang="en-US" sz="1200">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#86BC25</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R134 G188 B37</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C55 M0 Y100 K0</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Pantone 368</a:t>
                      </a:r>
                      <a:endParaRPr lang="en-US" sz="1000">
                        <a:effectLst/>
                        <a:latin typeface="Aptos Light"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#26890D</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R38 G137 B13</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C76 M0 Y100 K19</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Pantone 368</a:t>
                      </a:r>
                      <a:endParaRPr lang="en-US" sz="1000">
                        <a:effectLst/>
                        <a:latin typeface="Aptos Light"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#62B5E5</a:t>
                      </a:r>
                    </a:p>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R98 G181 B229</a:t>
                      </a:r>
                    </a:p>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C60 M9 Y0 K0</a:t>
                      </a:r>
                    </a:p>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Pantone 2915</a:t>
                      </a:r>
                      <a:endParaRPr lang="en-US" sz="1000">
                        <a:effectLst/>
                        <a:latin typeface="Aptos"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#00A3E0</a:t>
                      </a:r>
                    </a:p>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R0 G163 B224</a:t>
                      </a:r>
                    </a:p>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C86 M8 Y0 K0</a:t>
                      </a:r>
                    </a:p>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Pantone 299</a:t>
                      </a:r>
                      <a:endParaRPr lang="en-US" sz="1000">
                        <a:effectLst/>
                        <a:latin typeface="Aptos Light" panose="020B0004020202020204" pitchFamily="34" charset="0"/>
                        <a:ea typeface="Verdana" panose="020B0604030504040204" pitchFamily="34" charset="0"/>
                        <a:cs typeface="Calibri Light" panose="020F0302020204030204" pitchFamily="34" charset="0"/>
                      </a:endParaRPr>
                    </a:p>
                  </a:txBody>
                  <a:tcPr marL="0" marR="0" marT="36000" marB="3600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#0076A8</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R0 G118 B168</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C95 M41 Y10 K0</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Pantone 7690</a:t>
                      </a:r>
                      <a:endParaRPr lang="en-US" sz="1000">
                        <a:effectLst/>
                        <a:latin typeface="Aptos Light"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541059326"/>
                  </a:ext>
                </a:extLst>
              </a:tr>
            </a:tbl>
          </a:graphicData>
        </a:graphic>
      </p:graphicFrame>
      <p:sp>
        <p:nvSpPr>
          <p:cNvPr id="59" name="TextBox 58">
            <a:extLst>
              <a:ext uri="{FF2B5EF4-FFF2-40B4-BE49-F238E27FC236}">
                <a16:creationId xmlns:a16="http://schemas.microsoft.com/office/drawing/2014/main" id="{1557C045-D89F-5EE6-0D81-4986FA5B5CAD}"/>
              </a:ext>
            </a:extLst>
          </p:cNvPr>
          <p:cNvSpPr txBox="1"/>
          <p:nvPr/>
        </p:nvSpPr>
        <p:spPr>
          <a:xfrm>
            <a:off x="342903" y="1191283"/>
            <a:ext cx="1838325" cy="334002"/>
          </a:xfrm>
          <a:prstGeom prst="rect">
            <a:avLst/>
          </a:prstGeom>
        </p:spPr>
        <p:txBody>
          <a:bodyPr wrap="square" lIns="0" tIns="0" rIns="0" bIns="0" anchor="ctr">
            <a:spAutoFit/>
          </a:bodyPr>
          <a:lstStyle>
            <a:defPPr>
              <a:defRPr lang="en-US"/>
            </a:defPPr>
            <a:lvl1pPr marR="0" indent="0" fontAlgn="auto">
              <a:lnSpc>
                <a:spcPct val="130000"/>
              </a:lnSpc>
              <a:spcBef>
                <a:spcPts val="0"/>
              </a:spcBef>
              <a:spcAft>
                <a:spcPts val="400"/>
              </a:spcAft>
              <a:buClrTx/>
              <a:buSzTx/>
              <a:buFontTx/>
              <a:buNone/>
              <a:tabLst/>
              <a:defRPr sz="1600" b="1" i="1">
                <a:solidFill>
                  <a:schemeClr val="accent3"/>
                </a:solidFill>
                <a:ea typeface="Open Sans" panose="020B0606030504020204" pitchFamily="34" charset="0"/>
                <a:cs typeface="Open Sans" panose="020B0606030504020204" pitchFamily="34" charset="0"/>
              </a:defRPr>
            </a:lvl1pPr>
            <a:lvl2pPr marL="104775" indent="-104775" defTabSz="685800">
              <a:spcBef>
                <a:spcPts val="0"/>
              </a:spcBef>
              <a:spcAft>
                <a:spcPts val="750"/>
              </a:spcAft>
              <a:buClrTx/>
              <a:buSzPct val="100000"/>
              <a:buFont typeface="Arial" panose="020B0604020202020204" pitchFamily="34" charset="0"/>
              <a:buChar char="•"/>
              <a:defRPr sz="1200" b="1">
                <a:latin typeface="+mj-lt"/>
                <a:cs typeface="Calibri Light" panose="020F0302020204030204" pitchFamily="34" charset="0"/>
              </a:defRPr>
            </a:lvl2pPr>
            <a:lvl3pPr marL="228600" indent="-104775" defTabSz="685800">
              <a:spcBef>
                <a:spcPts val="0"/>
              </a:spcBef>
              <a:spcAft>
                <a:spcPts val="750"/>
              </a:spcAft>
              <a:buClrTx/>
              <a:buSzPct val="100000"/>
              <a:buFont typeface="Arial" panose="020B0604020202020204" pitchFamily="34" charset="0"/>
              <a:buChar char="−"/>
              <a:defRPr sz="1200">
                <a:cs typeface="Calibri Light" panose="020F0302020204030204" pitchFamily="34" charset="0"/>
              </a:defRPr>
            </a:lvl3pPr>
            <a:lvl4pPr marL="352425" indent="-104775" defTabSz="685800">
              <a:spcBef>
                <a:spcPts val="0"/>
              </a:spcBef>
              <a:spcAft>
                <a:spcPts val="750"/>
              </a:spcAft>
              <a:buClrTx/>
              <a:buSzPct val="100000"/>
              <a:buFont typeface="Arial" panose="020B0604020202020204" pitchFamily="34" charset="0"/>
              <a:buChar char="◦"/>
              <a:defRPr sz="1200" baseline="0">
                <a:cs typeface="Calibri Light" panose="020F0302020204030204" pitchFamily="34" charset="0"/>
              </a:defRPr>
            </a:lvl4pPr>
            <a:lvl5pPr marL="476250" indent="-104775" defTabSz="598885">
              <a:spcBef>
                <a:spcPts val="0"/>
              </a:spcBef>
              <a:spcAft>
                <a:spcPts val="750"/>
              </a:spcAft>
              <a:buClrTx/>
              <a:buSzPct val="100000"/>
              <a:buFont typeface="Arial" panose="020B0604020202020204" pitchFamily="34" charset="0"/>
              <a:buChar char="−"/>
              <a:tabLst/>
              <a:defRPr sz="1200" baseline="0">
                <a:cs typeface="Calibri Light" panose="020F0302020204030204" pitchFamily="34" charset="0"/>
              </a:defRPr>
            </a:lvl5pPr>
            <a:lvl6pPr marL="399600" indent="-132300" defTabSz="685800">
              <a:spcBef>
                <a:spcPts val="0"/>
              </a:spcBef>
              <a:spcAft>
                <a:spcPts val="750"/>
              </a:spcAft>
              <a:buFont typeface="Verdana" panose="020B0604030504040204" pitchFamily="34" charset="0"/>
              <a:buChar char="−"/>
              <a:defRPr sz="900" baseline="0"/>
            </a:lvl6pPr>
            <a:lvl7pPr marL="399600" indent="-132300" defTabSz="685800">
              <a:spcBef>
                <a:spcPts val="0"/>
              </a:spcBef>
              <a:spcAft>
                <a:spcPts val="750"/>
              </a:spcAft>
              <a:buFont typeface="Verdana" panose="020B0604030504040204" pitchFamily="34" charset="0"/>
              <a:buChar char="−"/>
              <a:defRPr sz="900"/>
            </a:lvl7pPr>
            <a:lvl8pPr marL="399600" indent="-132300" defTabSz="685800">
              <a:spcBef>
                <a:spcPts val="0"/>
              </a:spcBef>
              <a:spcAft>
                <a:spcPts val="750"/>
              </a:spcAft>
              <a:buFont typeface="Verdana" panose="020B0604030504040204" pitchFamily="34" charset="0"/>
              <a:buChar char="−"/>
              <a:defRPr sz="900" baseline="0"/>
            </a:lvl8pPr>
            <a:lvl9pPr marL="399600" indent="-132300" defTabSz="685800">
              <a:spcBef>
                <a:spcPts val="0"/>
              </a:spcBef>
              <a:spcAft>
                <a:spcPts val="750"/>
              </a:spcAft>
              <a:buFont typeface="Verdana" panose="020B0604030504040204" pitchFamily="34" charset="0"/>
              <a:buChar char="−"/>
              <a:defRPr sz="900" baseline="0"/>
            </a:lvl9pPr>
          </a:lstStyle>
          <a:p>
            <a:pPr marL="12700" marR="0" lvl="0" indent="0" fontAlgn="auto">
              <a:lnSpc>
                <a:spcPct val="130000"/>
              </a:lnSpc>
              <a:spcBef>
                <a:spcPts val="100"/>
              </a:spcBef>
              <a:spcAft>
                <a:spcPts val="400"/>
              </a:spcAft>
              <a:buClrTx/>
              <a:buSzTx/>
              <a:buFontTx/>
              <a:buNone/>
              <a:tabLst/>
              <a:defRPr/>
            </a:pPr>
            <a:r>
              <a:rPr lang="en-US" sz="1800" b="0" i="0" kern="0">
                <a:solidFill>
                  <a:schemeClr val="tx1"/>
                </a:solidFill>
                <a:ea typeface="Verdana" panose="020B0604030504040204" pitchFamily="34" charset="0"/>
                <a:cs typeface="Calibri" panose="020F0502020204030204" pitchFamily="34" charset="0"/>
              </a:rPr>
              <a:t>Primary</a:t>
            </a:r>
          </a:p>
        </p:txBody>
      </p:sp>
      <p:graphicFrame>
        <p:nvGraphicFramePr>
          <p:cNvPr id="61" name="Table 60">
            <a:extLst>
              <a:ext uri="{FF2B5EF4-FFF2-40B4-BE49-F238E27FC236}">
                <a16:creationId xmlns:a16="http://schemas.microsoft.com/office/drawing/2014/main" id="{47C4FAC7-62DC-64E9-5E96-A9BA30325481}"/>
              </a:ext>
            </a:extLst>
          </p:cNvPr>
          <p:cNvGraphicFramePr>
            <a:graphicFrameLocks noGrp="1" noDrilldown="1" noMove="1" noResize="1"/>
          </p:cNvGraphicFramePr>
          <p:nvPr>
            <p:extLst>
              <p:ext uri="{D42A27DB-BD31-4B8C-83A1-F6EECF244321}">
                <p14:modId xmlns:p14="http://schemas.microsoft.com/office/powerpoint/2010/main" val="361602665"/>
              </p:ext>
            </p:extLst>
          </p:nvPr>
        </p:nvGraphicFramePr>
        <p:xfrm>
          <a:off x="342897" y="3358385"/>
          <a:ext cx="11199636" cy="1407360"/>
        </p:xfrm>
        <a:graphic>
          <a:graphicData uri="http://schemas.openxmlformats.org/drawingml/2006/table">
            <a:tbl>
              <a:tblPr firstRow="1" firstCol="1" bandRow="1"/>
              <a:tblGrid>
                <a:gridCol w="1285179">
                  <a:extLst>
                    <a:ext uri="{9D8B030D-6E8A-4147-A177-3AD203B41FA5}">
                      <a16:colId xmlns:a16="http://schemas.microsoft.com/office/drawing/2014/main" val="4082997472"/>
                    </a:ext>
                  </a:extLst>
                </a:gridCol>
                <a:gridCol w="1267522">
                  <a:extLst>
                    <a:ext uri="{9D8B030D-6E8A-4147-A177-3AD203B41FA5}">
                      <a16:colId xmlns:a16="http://schemas.microsoft.com/office/drawing/2014/main" val="2173014097"/>
                    </a:ext>
                  </a:extLst>
                </a:gridCol>
                <a:gridCol w="1155410">
                  <a:extLst>
                    <a:ext uri="{9D8B030D-6E8A-4147-A177-3AD203B41FA5}">
                      <a16:colId xmlns:a16="http://schemas.microsoft.com/office/drawing/2014/main" val="3410652753"/>
                    </a:ext>
                  </a:extLst>
                </a:gridCol>
                <a:gridCol w="1180214">
                  <a:extLst>
                    <a:ext uri="{9D8B030D-6E8A-4147-A177-3AD203B41FA5}">
                      <a16:colId xmlns:a16="http://schemas.microsoft.com/office/drawing/2014/main" val="449789730"/>
                    </a:ext>
                  </a:extLst>
                </a:gridCol>
                <a:gridCol w="1275907">
                  <a:extLst>
                    <a:ext uri="{9D8B030D-6E8A-4147-A177-3AD203B41FA5}">
                      <a16:colId xmlns:a16="http://schemas.microsoft.com/office/drawing/2014/main" val="20002"/>
                    </a:ext>
                  </a:extLst>
                </a:gridCol>
                <a:gridCol w="1275907">
                  <a:extLst>
                    <a:ext uri="{9D8B030D-6E8A-4147-A177-3AD203B41FA5}">
                      <a16:colId xmlns:a16="http://schemas.microsoft.com/office/drawing/2014/main" val="441375122"/>
                    </a:ext>
                  </a:extLst>
                </a:gridCol>
                <a:gridCol w="1297172">
                  <a:extLst>
                    <a:ext uri="{9D8B030D-6E8A-4147-A177-3AD203B41FA5}">
                      <a16:colId xmlns:a16="http://schemas.microsoft.com/office/drawing/2014/main" val="3870051284"/>
                    </a:ext>
                  </a:extLst>
                </a:gridCol>
                <a:gridCol w="1222744">
                  <a:extLst>
                    <a:ext uri="{9D8B030D-6E8A-4147-A177-3AD203B41FA5}">
                      <a16:colId xmlns:a16="http://schemas.microsoft.com/office/drawing/2014/main" val="3041273716"/>
                    </a:ext>
                  </a:extLst>
                </a:gridCol>
                <a:gridCol w="1239581">
                  <a:extLst>
                    <a:ext uri="{9D8B030D-6E8A-4147-A177-3AD203B41FA5}">
                      <a16:colId xmlns:a16="http://schemas.microsoft.com/office/drawing/2014/main" val="2664904378"/>
                    </a:ext>
                  </a:extLst>
                </a:gridCol>
              </a:tblGrid>
              <a:tr h="360000">
                <a:tc>
                  <a:txBody>
                    <a:bodyPr/>
                    <a:lstStyle/>
                    <a:p>
                      <a:pPr>
                        <a:lnSpc>
                          <a:spcPct val="100000"/>
                        </a:lnSpc>
                        <a:spcBef>
                          <a:spcPts val="0"/>
                        </a:spcBef>
                        <a:spcAft>
                          <a:spcPts val="0"/>
                        </a:spcAft>
                      </a:pPr>
                      <a:endParaRPr lang="en-US" sz="800">
                        <a:effectLst/>
                        <a:latin typeface="Aptos" panose="020B0004020202020204" pitchFamily="34" charset="0"/>
                        <a:ea typeface="Verdana" panose="020B0604030504040204" pitchFamily="34" charset="0"/>
                        <a:cs typeface="Calibri Light" panose="020F0302020204030204" pitchFamily="34" charset="0"/>
                      </a:endParaRP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4D600"/>
                    </a:solidFill>
                  </a:tcPr>
                </a:tc>
                <a:tc>
                  <a:txBody>
                    <a:bodyPr/>
                    <a:lstStyle/>
                    <a:p>
                      <a:pPr>
                        <a:lnSpc>
                          <a:spcPct val="100000"/>
                        </a:lnSpc>
                        <a:spcBef>
                          <a:spcPts val="0"/>
                        </a:spcBef>
                        <a:spcAft>
                          <a:spcPts val="0"/>
                        </a:spcAft>
                      </a:pPr>
                      <a:endParaRPr lang="en-US" sz="800">
                        <a:effectLst/>
                        <a:latin typeface="Aptos" panose="020B0004020202020204" pitchFamily="34" charset="0"/>
                        <a:ea typeface="Verdana" panose="020B0604030504040204" pitchFamily="34" charset="0"/>
                        <a:cs typeface="Calibri Light" panose="020F0302020204030204" pitchFamily="34" charset="0"/>
                      </a:endParaRP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46A38"/>
                    </a:solidFill>
                  </a:tcPr>
                </a:tc>
                <a:tc>
                  <a:txBody>
                    <a:bodyPr/>
                    <a:lstStyle/>
                    <a:p>
                      <a:pPr>
                        <a:lnSpc>
                          <a:spcPct val="100000"/>
                        </a:lnSpc>
                        <a:spcBef>
                          <a:spcPts val="0"/>
                        </a:spcBef>
                        <a:spcAft>
                          <a:spcPts val="0"/>
                        </a:spcAft>
                      </a:pPr>
                      <a:endParaRPr lang="en-US" sz="800">
                        <a:effectLst/>
                        <a:latin typeface="Aptos" panose="020B0004020202020204" pitchFamily="34" charset="0"/>
                        <a:ea typeface="Verdana" panose="020B0604030504040204" pitchFamily="34" charset="0"/>
                        <a:cs typeface="Calibri Light" panose="020F0302020204030204" pitchFamily="34" charset="0"/>
                      </a:endParaRP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C5234"/>
                    </a:solidFill>
                  </a:tcPr>
                </a:tc>
                <a:tc>
                  <a:txBody>
                    <a:bodyPr/>
                    <a:lstStyle/>
                    <a:p>
                      <a:pPr>
                        <a:lnSpc>
                          <a:spcPct val="100000"/>
                        </a:lnSpc>
                        <a:spcBef>
                          <a:spcPts val="0"/>
                        </a:spcBef>
                        <a:spcAft>
                          <a:spcPts val="0"/>
                        </a:spcAft>
                      </a:pPr>
                      <a:endParaRPr lang="en-US" sz="800">
                        <a:effectLst/>
                        <a:latin typeface="Aptos" panose="020B0004020202020204" pitchFamily="34" charset="0"/>
                        <a:ea typeface="Verdana" panose="020B0604030504040204" pitchFamily="34" charset="0"/>
                        <a:cs typeface="Calibri Light" panose="020F0302020204030204" pitchFamily="34" charset="0"/>
                      </a:endParaRP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0DCFF"/>
                    </a:solidFill>
                  </a:tcPr>
                </a:tc>
                <a:tc>
                  <a:txBody>
                    <a:bodyPr/>
                    <a:lstStyle/>
                    <a:p>
                      <a:pPr>
                        <a:lnSpc>
                          <a:spcPct val="100000"/>
                        </a:lnSpc>
                        <a:spcBef>
                          <a:spcPts val="0"/>
                        </a:spcBef>
                        <a:spcAft>
                          <a:spcPts val="0"/>
                        </a:spcAft>
                      </a:pPr>
                      <a:r>
                        <a:rPr lang="en-US" sz="80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5587"/>
                    </a:solidFill>
                  </a:tcPr>
                </a:tc>
                <a:tc>
                  <a:txBody>
                    <a:bodyPr/>
                    <a:lstStyle/>
                    <a:p>
                      <a:pPr>
                        <a:lnSpc>
                          <a:spcPct val="100000"/>
                        </a:lnSpc>
                        <a:spcBef>
                          <a:spcPts val="0"/>
                        </a:spcBef>
                        <a:spcAft>
                          <a:spcPts val="0"/>
                        </a:spcAft>
                      </a:pPr>
                      <a:r>
                        <a:rPr lang="en-US" sz="80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0D0CE"/>
                    </a:solidFill>
                  </a:tcPr>
                </a:tc>
                <a:tc>
                  <a:txBody>
                    <a:bodyPr/>
                    <a:lstStyle/>
                    <a:p>
                      <a:pPr>
                        <a:lnSpc>
                          <a:spcPct val="100000"/>
                        </a:lnSpc>
                        <a:spcBef>
                          <a:spcPts val="0"/>
                        </a:spcBef>
                        <a:spcAft>
                          <a:spcPts val="0"/>
                        </a:spcAft>
                      </a:pPr>
                      <a:endParaRPr lang="en-US" sz="800">
                        <a:effectLst/>
                        <a:latin typeface="Aptos" panose="020B0004020202020204" pitchFamily="34" charset="0"/>
                        <a:ea typeface="Verdana" panose="020B0604030504040204" pitchFamily="34" charset="0"/>
                        <a:cs typeface="Calibri Light" panose="020F0302020204030204" pitchFamily="34" charset="0"/>
                      </a:endParaRP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7A8AA"/>
                    </a:solidFill>
                  </a:tcPr>
                </a:tc>
                <a:tc>
                  <a:txBody>
                    <a:bodyPr/>
                    <a:lstStyle/>
                    <a:p>
                      <a:pPr>
                        <a:lnSpc>
                          <a:spcPct val="100000"/>
                        </a:lnSpc>
                        <a:spcBef>
                          <a:spcPts val="0"/>
                        </a:spcBef>
                        <a:spcAft>
                          <a:spcPts val="0"/>
                        </a:spcAft>
                      </a:pPr>
                      <a:endParaRPr lang="en-US" sz="800">
                        <a:effectLst/>
                        <a:latin typeface="Aptos" panose="020B0004020202020204" pitchFamily="34" charset="0"/>
                        <a:ea typeface="Verdana" panose="020B0604030504040204" pitchFamily="34" charset="0"/>
                        <a:cs typeface="Calibri Light" panose="020F0302020204030204" pitchFamily="34" charset="0"/>
                      </a:endParaRP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63666A"/>
                    </a:solidFill>
                  </a:tcPr>
                </a:tc>
                <a:tc>
                  <a:txBody>
                    <a:bodyPr/>
                    <a:lstStyle/>
                    <a:p>
                      <a:pPr>
                        <a:lnSpc>
                          <a:spcPct val="100000"/>
                        </a:lnSpc>
                        <a:spcBef>
                          <a:spcPts val="0"/>
                        </a:spcBef>
                        <a:spcAft>
                          <a:spcPts val="0"/>
                        </a:spcAft>
                      </a:pPr>
                      <a:endParaRPr lang="en-US" sz="800">
                        <a:effectLst/>
                        <a:latin typeface="Aptos" panose="020B0004020202020204" pitchFamily="34" charset="0"/>
                        <a:ea typeface="Verdana" panose="020B0604030504040204" pitchFamily="34" charset="0"/>
                        <a:cs typeface="Calibri Light" panose="020F0302020204030204" pitchFamily="34" charset="0"/>
                      </a:endParaRP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B4D4E"/>
                    </a:solidFill>
                  </a:tcPr>
                </a:tc>
                <a:extLst>
                  <a:ext uri="{0D108BD9-81ED-4DB2-BD59-A6C34878D82A}">
                    <a16:rowId xmlns:a16="http://schemas.microsoft.com/office/drawing/2014/main" val="10000"/>
                  </a:ext>
                </a:extLst>
              </a:tr>
              <a:tr h="216000">
                <a:tc>
                  <a:txBody>
                    <a:bodyPr/>
                    <a:lstStyle/>
                    <a:p>
                      <a:pPr>
                        <a:lnSpc>
                          <a:spcPct val="100000"/>
                        </a:lnSpc>
                        <a:spcBef>
                          <a:spcPts val="0"/>
                        </a:spcBef>
                        <a:spcAft>
                          <a:spcPts val="0"/>
                        </a:spcAft>
                      </a:pPr>
                      <a:r>
                        <a:rPr lang="pl-PL" sz="1200" b="1">
                          <a:effectLst/>
                          <a:latin typeface="Aptos" panose="020B0004020202020204" pitchFamily="34" charset="0"/>
                          <a:ea typeface="Verdana" panose="020B0604030504040204" pitchFamily="34" charset="0"/>
                          <a:cs typeface="Calibri" panose="020F0502020204030204" pitchFamily="34" charset="0"/>
                        </a:rPr>
                        <a:t>Green 2</a:t>
                      </a: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200" b="1">
                          <a:effectLst/>
                          <a:latin typeface="Aptos" panose="020B0004020202020204" pitchFamily="34" charset="0"/>
                          <a:ea typeface="Verdana" panose="020B0604030504040204" pitchFamily="34" charset="0"/>
                          <a:cs typeface="Calibri" panose="020F0502020204030204" pitchFamily="34" charset="0"/>
                        </a:rPr>
                        <a:t>Deloitte Deep Green</a:t>
                      </a: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200" b="1">
                          <a:effectLst/>
                          <a:latin typeface="Aptos" panose="020B0004020202020204" pitchFamily="34" charset="0"/>
                          <a:ea typeface="Verdana" panose="020B0604030504040204" pitchFamily="34" charset="0"/>
                          <a:cs typeface="Calibri" panose="020F0502020204030204" pitchFamily="34" charset="0"/>
                        </a:rPr>
                        <a:t>Deloitte Dark Green</a:t>
                      </a: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a:effectLst/>
                          <a:latin typeface="Aptos" panose="020B0004020202020204" pitchFamily="34" charset="0"/>
                          <a:ea typeface="Verdana" panose="020B0604030504040204" pitchFamily="34" charset="0"/>
                          <a:cs typeface="Calibri" panose="020F0502020204030204" pitchFamily="34" charset="0"/>
                        </a:rPr>
                        <a:t>Blue 1</a:t>
                      </a: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350" b="1" i="0" kern="1200">
                          <a:solidFill>
                            <a:schemeClr val="tx1"/>
                          </a:solidFill>
                          <a:effectLst/>
                          <a:latin typeface="+mn-lt"/>
                          <a:ea typeface="+mn-ea"/>
                          <a:cs typeface="+mn-cs"/>
                        </a:rPr>
                        <a:t>Blue 5</a:t>
                      </a: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200" b="1">
                          <a:effectLst/>
                          <a:latin typeface="Aptos" panose="020B0004020202020204" pitchFamily="34" charset="0"/>
                          <a:ea typeface="Verdana" panose="020B0604030504040204" pitchFamily="34" charset="0"/>
                          <a:cs typeface="Calibri" panose="020F0502020204030204" pitchFamily="34" charset="0"/>
                        </a:rPr>
                        <a:t>Cool gray 2</a:t>
                      </a: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200" b="1">
                          <a:effectLst/>
                          <a:latin typeface="Aptos" panose="020B0004020202020204" pitchFamily="34" charset="0"/>
                          <a:ea typeface="Verdana" panose="020B0604030504040204" pitchFamily="34" charset="0"/>
                          <a:cs typeface="Calibri" panose="020F0502020204030204" pitchFamily="34" charset="0"/>
                        </a:rPr>
                        <a:t>Cool gray 6</a:t>
                      </a: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200" b="1">
                          <a:effectLst/>
                          <a:latin typeface="Aptos" panose="020B0004020202020204" pitchFamily="34" charset="0"/>
                          <a:ea typeface="Verdana" panose="020B0604030504040204" pitchFamily="34" charset="0"/>
                          <a:cs typeface="Calibri" panose="020F0502020204030204" pitchFamily="34" charset="0"/>
                        </a:rPr>
                        <a:t>Cool gray 10</a:t>
                      </a: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200" b="1">
                          <a:effectLst/>
                          <a:latin typeface="Aptos" panose="020B0004020202020204" pitchFamily="34" charset="0"/>
                          <a:ea typeface="Verdana" panose="020B0604030504040204" pitchFamily="34" charset="0"/>
                          <a:cs typeface="Calibri" panose="020F0502020204030204" pitchFamily="34" charset="0"/>
                        </a:rPr>
                        <a:t>Deloitte Dark Gray</a:t>
                      </a: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#C4D600</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R196 G214 B0</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C28 M0 Y100 K0</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Pantone 382</a:t>
                      </a:r>
                      <a:endParaRPr lang="en-US" sz="1000">
                        <a:effectLst/>
                        <a:latin typeface="Aptos Light"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#046A38</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R5 G107 B56</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C86 M0 Y84 K47</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Pantone 349</a:t>
                      </a:r>
                      <a:endParaRPr lang="en-US" sz="1000">
                        <a:effectLst/>
                        <a:latin typeface="Aptos Light"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#1C3D26</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R28 G61 B38</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C63 M0 Y65 K77</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Pantone 2411</a:t>
                      </a:r>
                      <a:endParaRPr lang="en-US" sz="1000">
                        <a:effectLst/>
                        <a:latin typeface="Aptos"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#A0DCFF</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R160 G220 B255</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C39 M0 Y0 K0</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Pantone 291</a:t>
                      </a:r>
                      <a:endParaRPr lang="en-US" sz="1000">
                        <a:effectLst/>
                        <a:latin typeface="Aptos"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#005587</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R0 G85 B135</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C100 M45 Y0 K45</a:t>
                      </a:r>
                    </a:p>
                    <a:p>
                      <a:pPr>
                        <a:lnSpc>
                          <a:spcPct val="100000"/>
                        </a:lnSpc>
                        <a:spcBef>
                          <a:spcPts val="0"/>
                        </a:spcBef>
                        <a:spcAft>
                          <a:spcPts val="0"/>
                        </a:spcAft>
                      </a:pPr>
                      <a:r>
                        <a:rPr lang="es-ES" sz="1000">
                          <a:effectLst/>
                          <a:latin typeface="Aptos Light" panose="020B0004020202020204" pitchFamily="34" charset="0"/>
                          <a:ea typeface="Verdana" panose="020B0604030504040204" pitchFamily="34" charset="0"/>
                          <a:cs typeface="Calibri Light" panose="020F0302020204030204" pitchFamily="34" charset="0"/>
                        </a:rPr>
                        <a:t>Pantone 7692</a:t>
                      </a:r>
                      <a:endParaRPr lang="en-US" sz="1000">
                        <a:effectLst/>
                        <a:latin typeface="Aptos Light"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fr-FR" sz="1000">
                          <a:effectLst/>
                          <a:latin typeface="Aptos Light" panose="020B0004020202020204" pitchFamily="34" charset="0"/>
                          <a:ea typeface="Verdana" panose="020B0604030504040204" pitchFamily="34" charset="0"/>
                          <a:cs typeface="Calibri Light" panose="020F0302020204030204" pitchFamily="34" charset="0"/>
                        </a:rPr>
                        <a:t>#D0D0CE</a:t>
                      </a:r>
                    </a:p>
                    <a:p>
                      <a:pPr>
                        <a:lnSpc>
                          <a:spcPct val="100000"/>
                        </a:lnSpc>
                        <a:spcBef>
                          <a:spcPts val="0"/>
                        </a:spcBef>
                        <a:spcAft>
                          <a:spcPts val="0"/>
                        </a:spcAft>
                      </a:pPr>
                      <a:r>
                        <a:rPr lang="fr-FR" sz="1000">
                          <a:effectLst/>
                          <a:latin typeface="Aptos Light" panose="020B0004020202020204" pitchFamily="34" charset="0"/>
                          <a:ea typeface="Verdana" panose="020B0604030504040204" pitchFamily="34" charset="0"/>
                          <a:cs typeface="Calibri Light" panose="020F0302020204030204" pitchFamily="34" charset="0"/>
                        </a:rPr>
                        <a:t>R208 G208 B206</a:t>
                      </a:r>
                    </a:p>
                    <a:p>
                      <a:pPr>
                        <a:lnSpc>
                          <a:spcPct val="100000"/>
                        </a:lnSpc>
                        <a:spcBef>
                          <a:spcPts val="0"/>
                        </a:spcBef>
                        <a:spcAft>
                          <a:spcPts val="0"/>
                        </a:spcAft>
                      </a:pPr>
                      <a:r>
                        <a:rPr lang="fr-FR" sz="1000">
                          <a:effectLst/>
                          <a:latin typeface="Aptos Light" panose="020B0004020202020204" pitchFamily="34" charset="0"/>
                          <a:ea typeface="Verdana" panose="020B0604030504040204" pitchFamily="34" charset="0"/>
                          <a:cs typeface="Calibri Light" panose="020F0302020204030204" pitchFamily="34" charset="0"/>
                        </a:rPr>
                        <a:t>C5 M3 Y5 K11</a:t>
                      </a:r>
                      <a:endParaRPr lang="en-US" sz="1000">
                        <a:effectLst/>
                        <a:latin typeface="Aptos Light"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#A7A8AA</a:t>
                      </a:r>
                    </a:p>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R167 G168 B170</a:t>
                      </a:r>
                    </a:p>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C16 M11 Y11 K27</a:t>
                      </a:r>
                      <a:endParaRPr lang="en-US" sz="1000">
                        <a:effectLst/>
                        <a:latin typeface="Aptos"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#63666A</a:t>
                      </a:r>
                    </a:p>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R99 G102 B106</a:t>
                      </a:r>
                    </a:p>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C40 M30 Y20 K66</a:t>
                      </a:r>
                      <a:endParaRPr lang="en-US" sz="1000">
                        <a:effectLst/>
                        <a:latin typeface="Aptos"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#222222</a:t>
                      </a:r>
                    </a:p>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R33 G33 B33</a:t>
                      </a:r>
                    </a:p>
                    <a:p>
                      <a:pPr>
                        <a:lnSpc>
                          <a:spcPct val="100000"/>
                        </a:lnSpc>
                        <a:spcBef>
                          <a:spcPts val="0"/>
                        </a:spcBef>
                        <a:spcAft>
                          <a:spcPts val="0"/>
                        </a:spcAft>
                      </a:pPr>
                      <a:r>
                        <a:rPr lang="pt-BR" sz="1000">
                          <a:effectLst/>
                          <a:latin typeface="Aptos Light" panose="020B0004020202020204" pitchFamily="34" charset="0"/>
                          <a:ea typeface="Verdana" panose="020B0604030504040204" pitchFamily="34" charset="0"/>
                          <a:cs typeface="Calibri Light" panose="020F0302020204030204" pitchFamily="34" charset="0"/>
                        </a:rPr>
                        <a:t>C0 M0 Y0 K100</a:t>
                      </a:r>
                      <a:endParaRPr lang="en-US" sz="1000">
                        <a:effectLst/>
                        <a:latin typeface="Aptos" panose="020B0004020202020204" pitchFamily="34" charset="0"/>
                        <a:ea typeface="Verdana" panose="020B0604030504040204" pitchFamily="34" charset="0"/>
                        <a:cs typeface="Calibri Light" panose="020F03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541059326"/>
                  </a:ext>
                </a:extLst>
              </a:tr>
            </a:tbl>
          </a:graphicData>
        </a:graphic>
      </p:graphicFrame>
      <p:sp>
        <p:nvSpPr>
          <p:cNvPr id="62" name="TextBox 61">
            <a:extLst>
              <a:ext uri="{FF2B5EF4-FFF2-40B4-BE49-F238E27FC236}">
                <a16:creationId xmlns:a16="http://schemas.microsoft.com/office/drawing/2014/main" id="{B9F3574F-16A4-597B-AFAA-7E9A92BB3F45}"/>
              </a:ext>
            </a:extLst>
          </p:cNvPr>
          <p:cNvSpPr txBox="1"/>
          <p:nvPr/>
        </p:nvSpPr>
        <p:spPr>
          <a:xfrm>
            <a:off x="342903" y="2991055"/>
            <a:ext cx="1838325" cy="334002"/>
          </a:xfrm>
          <a:prstGeom prst="rect">
            <a:avLst/>
          </a:prstGeom>
        </p:spPr>
        <p:txBody>
          <a:bodyPr wrap="square" lIns="0" tIns="0" rIns="0" bIns="0" anchor="ctr">
            <a:spAutoFit/>
          </a:bodyPr>
          <a:lstStyle>
            <a:defPPr>
              <a:defRPr lang="en-US"/>
            </a:defPPr>
            <a:lvl1pPr marR="0" indent="0" fontAlgn="auto">
              <a:lnSpc>
                <a:spcPct val="130000"/>
              </a:lnSpc>
              <a:spcBef>
                <a:spcPts val="0"/>
              </a:spcBef>
              <a:spcAft>
                <a:spcPts val="400"/>
              </a:spcAft>
              <a:buClrTx/>
              <a:buSzTx/>
              <a:buFontTx/>
              <a:buNone/>
              <a:tabLst/>
              <a:defRPr sz="1600" b="1" i="1">
                <a:solidFill>
                  <a:schemeClr val="accent3"/>
                </a:solidFill>
                <a:ea typeface="Open Sans" panose="020B0606030504020204" pitchFamily="34" charset="0"/>
                <a:cs typeface="Open Sans" panose="020B0606030504020204" pitchFamily="34" charset="0"/>
              </a:defRPr>
            </a:lvl1pPr>
            <a:lvl2pPr marL="104775" indent="-104775" defTabSz="685800">
              <a:spcBef>
                <a:spcPts val="0"/>
              </a:spcBef>
              <a:spcAft>
                <a:spcPts val="750"/>
              </a:spcAft>
              <a:buClrTx/>
              <a:buSzPct val="100000"/>
              <a:buFont typeface="Arial" panose="020B0604020202020204" pitchFamily="34" charset="0"/>
              <a:buChar char="•"/>
              <a:defRPr sz="1200" b="1">
                <a:latin typeface="+mj-lt"/>
                <a:cs typeface="Calibri Light" panose="020F0302020204030204" pitchFamily="34" charset="0"/>
              </a:defRPr>
            </a:lvl2pPr>
            <a:lvl3pPr marL="228600" indent="-104775" defTabSz="685800">
              <a:spcBef>
                <a:spcPts val="0"/>
              </a:spcBef>
              <a:spcAft>
                <a:spcPts val="750"/>
              </a:spcAft>
              <a:buClrTx/>
              <a:buSzPct val="100000"/>
              <a:buFont typeface="Arial" panose="020B0604020202020204" pitchFamily="34" charset="0"/>
              <a:buChar char="−"/>
              <a:defRPr sz="1200">
                <a:cs typeface="Calibri Light" panose="020F0302020204030204" pitchFamily="34" charset="0"/>
              </a:defRPr>
            </a:lvl3pPr>
            <a:lvl4pPr marL="352425" indent="-104775" defTabSz="685800">
              <a:spcBef>
                <a:spcPts val="0"/>
              </a:spcBef>
              <a:spcAft>
                <a:spcPts val="750"/>
              </a:spcAft>
              <a:buClrTx/>
              <a:buSzPct val="100000"/>
              <a:buFont typeface="Arial" panose="020B0604020202020204" pitchFamily="34" charset="0"/>
              <a:buChar char="◦"/>
              <a:defRPr sz="1200" baseline="0">
                <a:cs typeface="Calibri Light" panose="020F0302020204030204" pitchFamily="34" charset="0"/>
              </a:defRPr>
            </a:lvl4pPr>
            <a:lvl5pPr marL="476250" indent="-104775" defTabSz="598885">
              <a:spcBef>
                <a:spcPts val="0"/>
              </a:spcBef>
              <a:spcAft>
                <a:spcPts val="750"/>
              </a:spcAft>
              <a:buClrTx/>
              <a:buSzPct val="100000"/>
              <a:buFont typeface="Arial" panose="020B0604020202020204" pitchFamily="34" charset="0"/>
              <a:buChar char="−"/>
              <a:tabLst/>
              <a:defRPr sz="1200" baseline="0">
                <a:cs typeface="Calibri Light" panose="020F0302020204030204" pitchFamily="34" charset="0"/>
              </a:defRPr>
            </a:lvl5pPr>
            <a:lvl6pPr marL="399600" indent="-132300" defTabSz="685800">
              <a:spcBef>
                <a:spcPts val="0"/>
              </a:spcBef>
              <a:spcAft>
                <a:spcPts val="750"/>
              </a:spcAft>
              <a:buFont typeface="Verdana" panose="020B0604030504040204" pitchFamily="34" charset="0"/>
              <a:buChar char="−"/>
              <a:defRPr sz="900" baseline="0"/>
            </a:lvl6pPr>
            <a:lvl7pPr marL="399600" indent="-132300" defTabSz="685800">
              <a:spcBef>
                <a:spcPts val="0"/>
              </a:spcBef>
              <a:spcAft>
                <a:spcPts val="750"/>
              </a:spcAft>
              <a:buFont typeface="Verdana" panose="020B0604030504040204" pitchFamily="34" charset="0"/>
              <a:buChar char="−"/>
              <a:defRPr sz="900"/>
            </a:lvl7pPr>
            <a:lvl8pPr marL="399600" indent="-132300" defTabSz="685800">
              <a:spcBef>
                <a:spcPts val="0"/>
              </a:spcBef>
              <a:spcAft>
                <a:spcPts val="750"/>
              </a:spcAft>
              <a:buFont typeface="Verdana" panose="020B0604030504040204" pitchFamily="34" charset="0"/>
              <a:buChar char="−"/>
              <a:defRPr sz="900" baseline="0"/>
            </a:lvl8pPr>
            <a:lvl9pPr marL="399600" indent="-132300" defTabSz="685800">
              <a:spcBef>
                <a:spcPts val="0"/>
              </a:spcBef>
              <a:spcAft>
                <a:spcPts val="750"/>
              </a:spcAft>
              <a:buFont typeface="Verdana" panose="020B0604030504040204" pitchFamily="34" charset="0"/>
              <a:buChar char="−"/>
              <a:defRPr sz="900" baseline="0"/>
            </a:lvl9pPr>
          </a:lstStyle>
          <a:p>
            <a:pPr marL="12700">
              <a:spcBef>
                <a:spcPts val="100"/>
              </a:spcBef>
              <a:defRPr/>
            </a:pPr>
            <a:r>
              <a:rPr lang="en-US" sz="1800" b="0" i="0" kern="0">
                <a:solidFill>
                  <a:schemeClr val="tx1"/>
                </a:solidFill>
                <a:ea typeface="Verdana" panose="020B0604030504040204" pitchFamily="34" charset="0"/>
                <a:cs typeface="Calibri" panose="020F0502020204030204" pitchFamily="34" charset="0"/>
              </a:rPr>
              <a:t>Secondary</a:t>
            </a:r>
          </a:p>
        </p:txBody>
      </p:sp>
      <p:graphicFrame>
        <p:nvGraphicFramePr>
          <p:cNvPr id="63" name="Table 62">
            <a:extLst>
              <a:ext uri="{FF2B5EF4-FFF2-40B4-BE49-F238E27FC236}">
                <a16:creationId xmlns:a16="http://schemas.microsoft.com/office/drawing/2014/main" id="{F7DF8F21-B35E-BC08-F7B0-27F5C37BCE24}"/>
              </a:ext>
            </a:extLst>
          </p:cNvPr>
          <p:cNvGraphicFramePr>
            <a:graphicFrameLocks noGrp="1" noDrilldown="1" noMove="1" noResize="1"/>
          </p:cNvGraphicFramePr>
          <p:nvPr>
            <p:extLst>
              <p:ext uri="{D42A27DB-BD31-4B8C-83A1-F6EECF244321}">
                <p14:modId xmlns:p14="http://schemas.microsoft.com/office/powerpoint/2010/main" val="828067091"/>
              </p:ext>
            </p:extLst>
          </p:nvPr>
        </p:nvGraphicFramePr>
        <p:xfrm>
          <a:off x="342897" y="5135357"/>
          <a:ext cx="4877689" cy="980640"/>
        </p:xfrm>
        <a:graphic>
          <a:graphicData uri="http://schemas.openxmlformats.org/drawingml/2006/table">
            <a:tbl>
              <a:tblPr firstRow="1" firstCol="1" bandRow="1"/>
              <a:tblGrid>
                <a:gridCol w="1296332">
                  <a:extLst>
                    <a:ext uri="{9D8B030D-6E8A-4147-A177-3AD203B41FA5}">
                      <a16:colId xmlns:a16="http://schemas.microsoft.com/office/drawing/2014/main" val="20000"/>
                    </a:ext>
                  </a:extLst>
                </a:gridCol>
                <a:gridCol w="1260088">
                  <a:extLst>
                    <a:ext uri="{9D8B030D-6E8A-4147-A177-3AD203B41FA5}">
                      <a16:colId xmlns:a16="http://schemas.microsoft.com/office/drawing/2014/main" val="20001"/>
                    </a:ext>
                  </a:extLst>
                </a:gridCol>
                <a:gridCol w="1130420">
                  <a:extLst>
                    <a:ext uri="{9D8B030D-6E8A-4147-A177-3AD203B41FA5}">
                      <a16:colId xmlns:a16="http://schemas.microsoft.com/office/drawing/2014/main" val="20002"/>
                    </a:ext>
                  </a:extLst>
                </a:gridCol>
                <a:gridCol w="1190849">
                  <a:extLst>
                    <a:ext uri="{9D8B030D-6E8A-4147-A177-3AD203B41FA5}">
                      <a16:colId xmlns:a16="http://schemas.microsoft.com/office/drawing/2014/main" val="441375122"/>
                    </a:ext>
                  </a:extLst>
                </a:gridCol>
              </a:tblGrid>
              <a:tr h="360000">
                <a:tc>
                  <a:txBody>
                    <a:bodyPr/>
                    <a:lstStyle/>
                    <a:p>
                      <a:pPr>
                        <a:lnSpc>
                          <a:spcPct val="100000"/>
                        </a:lnSpc>
                        <a:spcBef>
                          <a:spcPts val="0"/>
                        </a:spcBef>
                        <a:spcAft>
                          <a:spcPts val="0"/>
                        </a:spcAft>
                      </a:pPr>
                      <a:r>
                        <a:rPr lang="en-US" sz="80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a:gsLst>
                        <a:gs pos="0">
                          <a:srgbClr val="C2D52F"/>
                        </a:gs>
                        <a:gs pos="56000">
                          <a:schemeClr val="accent1"/>
                        </a:gs>
                        <a:gs pos="100000">
                          <a:srgbClr val="00C1FF"/>
                        </a:gs>
                      </a:gsLst>
                      <a:lin ang="0" scaled="1"/>
                    </a:gradFill>
                  </a:tcPr>
                </a:tc>
                <a:tc>
                  <a:txBody>
                    <a:bodyPr/>
                    <a:lstStyle/>
                    <a:p>
                      <a:pPr>
                        <a:lnSpc>
                          <a:spcPct val="100000"/>
                        </a:lnSpc>
                        <a:spcBef>
                          <a:spcPts val="0"/>
                        </a:spcBef>
                        <a:spcAft>
                          <a:spcPts val="0"/>
                        </a:spcAft>
                      </a:pPr>
                      <a:r>
                        <a:rPr lang="en-US" sz="80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flip="none" rotWithShape="1">
                      <a:gsLst>
                        <a:gs pos="0">
                          <a:srgbClr val="046A38"/>
                        </a:gs>
                        <a:gs pos="100000">
                          <a:srgbClr val="1C3D26"/>
                        </a:gs>
                      </a:gsLst>
                      <a:lin ang="0" scaled="1"/>
                      <a:tileRect/>
                    </a:gradFill>
                  </a:tcPr>
                </a:tc>
                <a:tc>
                  <a:txBody>
                    <a:bodyPr/>
                    <a:lstStyle/>
                    <a:p>
                      <a:pPr>
                        <a:lnSpc>
                          <a:spcPct val="100000"/>
                        </a:lnSpc>
                        <a:spcBef>
                          <a:spcPts val="0"/>
                        </a:spcBef>
                        <a:spcAft>
                          <a:spcPts val="0"/>
                        </a:spcAft>
                      </a:pPr>
                      <a:r>
                        <a:rPr lang="en-US" sz="80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a:gsLst>
                        <a:gs pos="0">
                          <a:srgbClr val="C4D600"/>
                        </a:gs>
                        <a:gs pos="100000">
                          <a:schemeClr val="accent2"/>
                        </a:gs>
                      </a:gsLst>
                      <a:lin ang="0" scaled="1"/>
                    </a:gradFill>
                  </a:tcPr>
                </a:tc>
                <a:tc>
                  <a:txBody>
                    <a:bodyPr/>
                    <a:lstStyle/>
                    <a:p>
                      <a:pPr>
                        <a:lnSpc>
                          <a:spcPct val="100000"/>
                        </a:lnSpc>
                        <a:spcBef>
                          <a:spcPts val="0"/>
                        </a:spcBef>
                        <a:spcAft>
                          <a:spcPts val="0"/>
                        </a:spcAft>
                      </a:pPr>
                      <a:r>
                        <a:rPr lang="en-US" sz="80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a:gsLst>
                        <a:gs pos="0">
                          <a:schemeClr val="accent1"/>
                        </a:gs>
                        <a:gs pos="100000">
                          <a:srgbClr val="046A38"/>
                        </a:gs>
                      </a:gsLst>
                      <a:lin ang="0" scaled="1"/>
                    </a:gradFill>
                  </a:tcPr>
                </a:tc>
                <a:extLst>
                  <a:ext uri="{0D108BD9-81ED-4DB2-BD59-A6C34878D82A}">
                    <a16:rowId xmlns:a16="http://schemas.microsoft.com/office/drawing/2014/main" val="10000"/>
                  </a:ext>
                </a:extLst>
              </a:tr>
              <a:tr h="216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a:effectLst/>
                          <a:latin typeface="Aptos" panose="020B0004020202020204" pitchFamily="34" charset="0"/>
                          <a:ea typeface="Verdana" panose="020B0604030504040204" pitchFamily="34" charset="0"/>
                          <a:cs typeface="Calibri" panose="020F0502020204030204" pitchFamily="34" charset="0"/>
                        </a:rPr>
                        <a:t>Green 2</a:t>
                      </a:r>
                      <a:r>
                        <a:rPr lang="pl-PL" sz="1200" b="1">
                          <a:effectLst/>
                          <a:latin typeface="Aptos" panose="020B0004020202020204" pitchFamily="34" charset="0"/>
                          <a:ea typeface="Verdana" panose="020B0604030504040204" pitchFamily="34" charset="0"/>
                          <a:cs typeface="Calibri" panose="020F0502020204030204" pitchFamily="34" charset="0"/>
                        </a:rPr>
                        <a:t> - </a:t>
                      </a:r>
                      <a:r>
                        <a:rPr lang="en-US" sz="1200" b="1">
                          <a:effectLst/>
                          <a:latin typeface="Aptos" panose="020B0004020202020204" pitchFamily="34" charset="0"/>
                          <a:ea typeface="Verdana" panose="020B0604030504040204" pitchFamily="34" charset="0"/>
                          <a:cs typeface="Calibri" panose="020F0502020204030204" pitchFamily="34" charset="0"/>
                        </a:rPr>
                        <a:t>Deloitte Green</a:t>
                      </a:r>
                      <a:r>
                        <a:rPr lang="pl-PL" sz="1200" b="1">
                          <a:effectLst/>
                          <a:latin typeface="Aptos" panose="020B0004020202020204" pitchFamily="34" charset="0"/>
                          <a:ea typeface="Verdana" panose="020B0604030504040204" pitchFamily="34" charset="0"/>
                          <a:cs typeface="Calibri" panose="020F0502020204030204" pitchFamily="34" charset="0"/>
                        </a:rPr>
                        <a:t> - </a:t>
                      </a:r>
                      <a:r>
                        <a:rPr lang="en-US" sz="1200" b="1">
                          <a:effectLst/>
                          <a:latin typeface="Aptos" panose="020B0004020202020204" pitchFamily="34" charset="0"/>
                          <a:ea typeface="Verdana" panose="020B0604030504040204" pitchFamily="34" charset="0"/>
                          <a:cs typeface="Calibri" panose="020F0502020204030204" pitchFamily="34" charset="0"/>
                        </a:rPr>
                        <a:t>Blue 3</a:t>
                      </a:r>
                      <a:endParaRPr lang="en-US" sz="1200">
                        <a:effectLst/>
                        <a:latin typeface="Aptos" panose="020B0004020202020204" pitchFamily="34" charset="0"/>
                        <a:ea typeface="Verdana" panose="020B0604030504040204" pitchFamily="34" charset="0"/>
                        <a:cs typeface="Calibri" panose="020F0502020204030204" pitchFamily="34" charset="0"/>
                      </a:endParaRPr>
                    </a:p>
                    <a:p>
                      <a:pPr>
                        <a:lnSpc>
                          <a:spcPct val="100000"/>
                        </a:lnSpc>
                        <a:spcBef>
                          <a:spcPts val="0"/>
                        </a:spcBef>
                        <a:spcAft>
                          <a:spcPts val="0"/>
                        </a:spcAft>
                      </a:pP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36000">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200" b="1">
                          <a:effectLst/>
                          <a:latin typeface="Aptos" panose="020B0004020202020204" pitchFamily="34" charset="0"/>
                          <a:ea typeface="Verdana" panose="020B0604030504040204" pitchFamily="34" charset="0"/>
                          <a:cs typeface="Calibri" panose="020F0502020204030204" pitchFamily="34" charset="0"/>
                        </a:rPr>
                        <a:t>Mid Green</a:t>
                      </a:r>
                      <a:r>
                        <a:rPr lang="pl-PL" sz="1200" b="1">
                          <a:effectLst/>
                          <a:latin typeface="Aptos" panose="020B0004020202020204" pitchFamily="34" charset="0"/>
                          <a:ea typeface="Verdana" panose="020B0604030504040204" pitchFamily="34" charset="0"/>
                          <a:cs typeface="Calibri" panose="020F0502020204030204" pitchFamily="34" charset="0"/>
                        </a:rPr>
                        <a:t>- </a:t>
                      </a:r>
                      <a:r>
                        <a:rPr lang="en-US" sz="1200" b="1">
                          <a:effectLst/>
                          <a:latin typeface="Aptos" panose="020B0004020202020204" pitchFamily="34" charset="0"/>
                          <a:ea typeface="Verdana" panose="020B0604030504040204" pitchFamily="34" charset="0"/>
                          <a:cs typeface="Calibri" panose="020F0502020204030204" pitchFamily="34" charset="0"/>
                        </a:rPr>
                        <a:t> Dark Green</a:t>
                      </a: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1200" b="1">
                          <a:effectLst/>
                          <a:latin typeface="Aptos" panose="020B0004020202020204" pitchFamily="34" charset="0"/>
                          <a:ea typeface="Verdana" panose="020B0604030504040204" pitchFamily="34" charset="0"/>
                          <a:cs typeface="Calibri" panose="020F0502020204030204" pitchFamily="34" charset="0"/>
                        </a:rPr>
                        <a:t>Green 2</a:t>
                      </a:r>
                      <a:r>
                        <a:rPr lang="pl-PL" sz="1200" b="1">
                          <a:effectLst/>
                          <a:latin typeface="Aptos" panose="020B0004020202020204" pitchFamily="34" charset="0"/>
                          <a:ea typeface="Verdana" panose="020B0604030504040204" pitchFamily="34" charset="0"/>
                          <a:cs typeface="Calibri" panose="020F0502020204030204" pitchFamily="34" charset="0"/>
                        </a:rPr>
                        <a:t>  - </a:t>
                      </a:r>
                      <a:r>
                        <a:rPr lang="en-US" sz="1200" b="1">
                          <a:effectLst/>
                          <a:latin typeface="Aptos" panose="020B0004020202020204" pitchFamily="34" charset="0"/>
                          <a:ea typeface="Verdana" panose="020B0604030504040204" pitchFamily="34" charset="0"/>
                          <a:cs typeface="Calibri" panose="020F0502020204030204" pitchFamily="34" charset="0"/>
                        </a:rPr>
                        <a:t>Deep Green</a:t>
                      </a: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a:effectLst/>
                          <a:latin typeface="Aptos" panose="020B0004020202020204" pitchFamily="34" charset="0"/>
                          <a:ea typeface="Verdana" panose="020B0604030504040204" pitchFamily="34" charset="0"/>
                          <a:cs typeface="Calibri" panose="020F0502020204030204" pitchFamily="34" charset="0"/>
                        </a:rPr>
                        <a:t>Deloitte Green</a:t>
                      </a:r>
                      <a:r>
                        <a:rPr lang="pl-PL" sz="1200" b="1">
                          <a:effectLst/>
                          <a:latin typeface="Aptos" panose="020B0004020202020204" pitchFamily="34" charset="0"/>
                          <a:ea typeface="Verdana" panose="020B0604030504040204" pitchFamily="34" charset="0"/>
                          <a:cs typeface="Calibri" panose="020F0502020204030204" pitchFamily="34" charset="0"/>
                        </a:rPr>
                        <a:t> - </a:t>
                      </a:r>
                      <a:r>
                        <a:rPr lang="en-US" sz="1200" b="1">
                          <a:effectLst/>
                          <a:latin typeface="Aptos" panose="020B0004020202020204" pitchFamily="34" charset="0"/>
                          <a:ea typeface="Verdana" panose="020B0604030504040204" pitchFamily="34" charset="0"/>
                          <a:cs typeface="Calibri" panose="020F0502020204030204" pitchFamily="34" charset="0"/>
                        </a:rPr>
                        <a:t>Deep Green</a:t>
                      </a:r>
                      <a:endParaRPr lang="pl-PL" sz="1200" b="1">
                        <a:effectLst/>
                        <a:latin typeface="Aptos" panose="020B0004020202020204" pitchFamily="34" charset="0"/>
                        <a:ea typeface="Verdana" panose="020B0604030504040204" pitchFamily="34" charset="0"/>
                        <a:cs typeface="Calibri" panose="020F0502020204030204" pitchFamily="34" charset="0"/>
                      </a:endParaRPr>
                    </a:p>
                  </a:txBody>
                  <a:tcPr marL="0" marR="0" marT="3600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4" name="TextBox 63">
            <a:extLst>
              <a:ext uri="{FF2B5EF4-FFF2-40B4-BE49-F238E27FC236}">
                <a16:creationId xmlns:a16="http://schemas.microsoft.com/office/drawing/2014/main" id="{7AEB0004-1DFA-08C4-9BAB-51D48D7D9F4A}"/>
              </a:ext>
            </a:extLst>
          </p:cNvPr>
          <p:cNvSpPr txBox="1"/>
          <p:nvPr/>
        </p:nvSpPr>
        <p:spPr>
          <a:xfrm>
            <a:off x="342903" y="4788033"/>
            <a:ext cx="1838325" cy="334002"/>
          </a:xfrm>
          <a:prstGeom prst="rect">
            <a:avLst/>
          </a:prstGeom>
        </p:spPr>
        <p:txBody>
          <a:bodyPr wrap="square" lIns="0" tIns="0" rIns="0" bIns="0" anchor="ctr">
            <a:spAutoFit/>
          </a:bodyPr>
          <a:lstStyle>
            <a:defPPr>
              <a:defRPr lang="en-US"/>
            </a:defPPr>
            <a:lvl1pPr marR="0" indent="0" fontAlgn="auto">
              <a:lnSpc>
                <a:spcPct val="130000"/>
              </a:lnSpc>
              <a:spcBef>
                <a:spcPts val="0"/>
              </a:spcBef>
              <a:spcAft>
                <a:spcPts val="400"/>
              </a:spcAft>
              <a:buClrTx/>
              <a:buSzTx/>
              <a:buFontTx/>
              <a:buNone/>
              <a:tabLst/>
              <a:defRPr sz="1600" b="1" i="1">
                <a:solidFill>
                  <a:schemeClr val="accent3"/>
                </a:solidFill>
                <a:ea typeface="Open Sans" panose="020B0606030504020204" pitchFamily="34" charset="0"/>
                <a:cs typeface="Open Sans" panose="020B0606030504020204" pitchFamily="34" charset="0"/>
              </a:defRPr>
            </a:lvl1pPr>
            <a:lvl2pPr marL="104775" indent="-104775" defTabSz="685800">
              <a:spcBef>
                <a:spcPts val="0"/>
              </a:spcBef>
              <a:spcAft>
                <a:spcPts val="750"/>
              </a:spcAft>
              <a:buClrTx/>
              <a:buSzPct val="100000"/>
              <a:buFont typeface="Arial" panose="020B0604020202020204" pitchFamily="34" charset="0"/>
              <a:buChar char="•"/>
              <a:defRPr sz="1200" b="1">
                <a:latin typeface="+mj-lt"/>
                <a:cs typeface="Calibri Light" panose="020F0302020204030204" pitchFamily="34" charset="0"/>
              </a:defRPr>
            </a:lvl2pPr>
            <a:lvl3pPr marL="228600" indent="-104775" defTabSz="685800">
              <a:spcBef>
                <a:spcPts val="0"/>
              </a:spcBef>
              <a:spcAft>
                <a:spcPts val="750"/>
              </a:spcAft>
              <a:buClrTx/>
              <a:buSzPct val="100000"/>
              <a:buFont typeface="Arial" panose="020B0604020202020204" pitchFamily="34" charset="0"/>
              <a:buChar char="−"/>
              <a:defRPr sz="1200">
                <a:cs typeface="Calibri Light" panose="020F0302020204030204" pitchFamily="34" charset="0"/>
              </a:defRPr>
            </a:lvl3pPr>
            <a:lvl4pPr marL="352425" indent="-104775" defTabSz="685800">
              <a:spcBef>
                <a:spcPts val="0"/>
              </a:spcBef>
              <a:spcAft>
                <a:spcPts val="750"/>
              </a:spcAft>
              <a:buClrTx/>
              <a:buSzPct val="100000"/>
              <a:buFont typeface="Arial" panose="020B0604020202020204" pitchFamily="34" charset="0"/>
              <a:buChar char="◦"/>
              <a:defRPr sz="1200" baseline="0">
                <a:cs typeface="Calibri Light" panose="020F0302020204030204" pitchFamily="34" charset="0"/>
              </a:defRPr>
            </a:lvl4pPr>
            <a:lvl5pPr marL="476250" indent="-104775" defTabSz="598885">
              <a:spcBef>
                <a:spcPts val="0"/>
              </a:spcBef>
              <a:spcAft>
                <a:spcPts val="750"/>
              </a:spcAft>
              <a:buClrTx/>
              <a:buSzPct val="100000"/>
              <a:buFont typeface="Arial" panose="020B0604020202020204" pitchFamily="34" charset="0"/>
              <a:buChar char="−"/>
              <a:tabLst/>
              <a:defRPr sz="1200" baseline="0">
                <a:cs typeface="Calibri Light" panose="020F0302020204030204" pitchFamily="34" charset="0"/>
              </a:defRPr>
            </a:lvl5pPr>
            <a:lvl6pPr marL="399600" indent="-132300" defTabSz="685800">
              <a:spcBef>
                <a:spcPts val="0"/>
              </a:spcBef>
              <a:spcAft>
                <a:spcPts val="750"/>
              </a:spcAft>
              <a:buFont typeface="Verdana" panose="020B0604030504040204" pitchFamily="34" charset="0"/>
              <a:buChar char="−"/>
              <a:defRPr sz="900" baseline="0"/>
            </a:lvl6pPr>
            <a:lvl7pPr marL="399600" indent="-132300" defTabSz="685800">
              <a:spcBef>
                <a:spcPts val="0"/>
              </a:spcBef>
              <a:spcAft>
                <a:spcPts val="750"/>
              </a:spcAft>
              <a:buFont typeface="Verdana" panose="020B0604030504040204" pitchFamily="34" charset="0"/>
              <a:buChar char="−"/>
              <a:defRPr sz="900"/>
            </a:lvl7pPr>
            <a:lvl8pPr marL="399600" indent="-132300" defTabSz="685800">
              <a:spcBef>
                <a:spcPts val="0"/>
              </a:spcBef>
              <a:spcAft>
                <a:spcPts val="750"/>
              </a:spcAft>
              <a:buFont typeface="Verdana" panose="020B0604030504040204" pitchFamily="34" charset="0"/>
              <a:buChar char="−"/>
              <a:defRPr sz="900" baseline="0"/>
            </a:lvl8pPr>
            <a:lvl9pPr marL="399600" indent="-132300" defTabSz="685800">
              <a:spcBef>
                <a:spcPts val="0"/>
              </a:spcBef>
              <a:spcAft>
                <a:spcPts val="750"/>
              </a:spcAft>
              <a:buFont typeface="Verdana" panose="020B0604030504040204" pitchFamily="34" charset="0"/>
              <a:buChar char="−"/>
              <a:defRPr sz="900" baseline="0"/>
            </a:lvl9pPr>
          </a:lstStyle>
          <a:p>
            <a:pPr marL="12700" lvl="0">
              <a:spcBef>
                <a:spcPts val="100"/>
              </a:spcBef>
              <a:defRPr/>
            </a:pPr>
            <a:r>
              <a:rPr lang="en-US" sz="1800" b="0" i="0" kern="0">
                <a:solidFill>
                  <a:schemeClr val="tx1"/>
                </a:solidFill>
                <a:ea typeface="Verdana" panose="020B0604030504040204" pitchFamily="34" charset="0"/>
                <a:cs typeface="Calibri" panose="020F0502020204030204" pitchFamily="34" charset="0"/>
              </a:rPr>
              <a:t>Gradients</a:t>
            </a:r>
          </a:p>
        </p:txBody>
      </p:sp>
      <p:sp>
        <p:nvSpPr>
          <p:cNvPr id="5" name="Text Placeholder 10">
            <a:extLst>
              <a:ext uri="{FF2B5EF4-FFF2-40B4-BE49-F238E27FC236}">
                <a16:creationId xmlns:a16="http://schemas.microsoft.com/office/drawing/2014/main" id="{3A0B47ED-C19F-A2E4-7057-21249C5CEFFC}"/>
              </a:ext>
            </a:extLst>
          </p:cNvPr>
          <p:cNvSpPr txBox="1">
            <a:spLocks/>
          </p:cNvSpPr>
          <p:nvPr/>
        </p:nvSpPr>
        <p:spPr>
          <a:xfrm>
            <a:off x="342900" y="854999"/>
            <a:ext cx="11506200" cy="169277"/>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lIns="0" tIns="0" rIns="0" bIns="0">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effectLst/>
                <a:uLnTx/>
                <a:uFillTx/>
                <a:latin typeface="Aptos"/>
                <a:ea typeface="Open Sans" panose="020B0606030504020204" pitchFamily="34" charset="0"/>
                <a:cs typeface="Open Sans" panose="020B0606030504020204" pitchFamily="34" charset="0"/>
              </a:rPr>
              <a:t>The colors below are approved for use in GFS. </a:t>
            </a:r>
            <a:r>
              <a:rPr lang="en-US" sz="1100">
                <a:latin typeface="Aptos"/>
                <a:ea typeface="Open Sans" panose="020B0606030504020204" pitchFamily="34" charset="0"/>
                <a:cs typeface="Open Sans" panose="020B0606030504020204" pitchFamily="34" charset="0"/>
              </a:rPr>
              <a:t>Additional information on </a:t>
            </a:r>
            <a:r>
              <a:rPr kumimoji="0" lang="en-US" sz="1100" b="0" i="0" u="none" strike="noStrike" kern="1200" cap="none" spc="0" normalizeH="0" baseline="0" noProof="0">
                <a:ln>
                  <a:noFill/>
                </a:ln>
                <a:effectLst/>
                <a:uLnTx/>
                <a:uFillTx/>
                <a:latin typeface="Aptos"/>
                <a:ea typeface="Open Sans" panose="020B0606030504020204" pitchFamily="34" charset="0"/>
                <a:cs typeface="Open Sans" panose="020B0606030504020204" pitchFamily="34" charset="0"/>
              </a:rPr>
              <a:t>Deloitte color palettes can be found </a:t>
            </a:r>
            <a:r>
              <a:rPr lang="en-US" sz="1100">
                <a:latin typeface="Aptos"/>
                <a:ea typeface="Open Sans" panose="020B0606030504020204" pitchFamily="34" charset="0"/>
                <a:cs typeface="Open Sans" panose="020B0606030504020204" pitchFamily="34" charset="0"/>
              </a:rPr>
              <a:t>on </a:t>
            </a:r>
            <a:r>
              <a:rPr kumimoji="0" lang="en-US" sz="1100" b="0" i="0" u="none" strike="noStrike" kern="1200" cap="none" spc="0" normalizeH="0" baseline="0" noProof="0">
                <a:ln>
                  <a:noFill/>
                </a:ln>
                <a:effectLst/>
                <a:uLnTx/>
                <a:uFillTx/>
                <a:latin typeface="Aptos"/>
                <a:ea typeface="+mn-ea"/>
                <a:cs typeface="Calibri Light" panose="020F0302020204030204" pitchFamily="34" charset="0"/>
                <a:hlinkClick r:id="rId2">
                  <a:extLst>
                    <a:ext uri="{A12FA001-AC4F-418D-AE19-62706E023703}">
                      <ahyp:hlinkClr xmlns:ahyp="http://schemas.microsoft.com/office/drawing/2018/hyperlinkcolor" val="tx"/>
                    </a:ext>
                  </a:extLst>
                </a:hlinkClick>
              </a:rPr>
              <a:t>Deloitte Brand Space</a:t>
            </a:r>
            <a:r>
              <a:rPr kumimoji="0" lang="en-US" sz="1100" b="0" i="0" u="none" strike="noStrike" kern="1200" cap="none" spc="0" normalizeH="0" baseline="0" noProof="0">
                <a:ln>
                  <a:noFill/>
                </a:ln>
                <a:effectLst/>
                <a:uLnTx/>
                <a:uFillTx/>
                <a:latin typeface="Aptos"/>
                <a:ea typeface="+mn-ea"/>
                <a:cs typeface="Calibri Light" panose="020F0302020204030204" pitchFamily="34" charset="0"/>
              </a:rPr>
              <a:t>.</a:t>
            </a:r>
            <a:endParaRPr kumimoji="0" lang="en-US" sz="1100" b="0" i="0" u="none" strike="noStrike" kern="1200" cap="none" spc="0" normalizeH="0" baseline="0" noProof="0">
              <a:ln>
                <a:noFill/>
              </a:ln>
              <a:effectLst/>
              <a:uLnTx/>
              <a:uFillTx/>
              <a:latin typeface="Aptos"/>
              <a:ea typeface="Open Sans" panose="020B0606030504020204" pitchFamily="34" charset="0"/>
              <a:cs typeface="Open Sans" panose="020B0606030504020204" pitchFamily="34" charset="0"/>
            </a:endParaRPr>
          </a:p>
        </p:txBody>
      </p:sp>
      <p:sp>
        <p:nvSpPr>
          <p:cNvPr id="4" name="Text Placeholder 10">
            <a:extLst>
              <a:ext uri="{FF2B5EF4-FFF2-40B4-BE49-F238E27FC236}">
                <a16:creationId xmlns:a16="http://schemas.microsoft.com/office/drawing/2014/main" id="{A4196A64-96FE-1722-12DA-7D2CF751A922}"/>
              </a:ext>
            </a:extLst>
          </p:cNvPr>
          <p:cNvSpPr txBox="1">
            <a:spLocks/>
          </p:cNvSpPr>
          <p:nvPr/>
        </p:nvSpPr>
        <p:spPr>
          <a:xfrm>
            <a:off x="342897" y="6129319"/>
            <a:ext cx="6429155" cy="169277"/>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lIns="0" tIns="0" rIns="0" bIns="0" anchor="t">
            <a:spAutoFit/>
          </a:bodyPr>
          <a:lstStyle>
            <a:lvl1pPr marL="0" marR="0" indent="0" algn="l" defTabSz="914400" rtl="0" eaLnBrk="1" fontAlgn="auto" latinLnBrk="0" hangingPunct="1">
              <a:lnSpc>
                <a:spcPct val="150000"/>
              </a:lnSpc>
              <a:spcBef>
                <a:spcPts val="0"/>
              </a:spcBef>
              <a:spcAft>
                <a:spcPts val="400"/>
              </a:spcAft>
              <a:buClrTx/>
              <a:buSzTx/>
              <a:buFontTx/>
              <a:buNone/>
              <a:tabLst/>
              <a:defRPr sz="10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nSpc>
                <a:spcPct val="100000"/>
              </a:lnSpc>
              <a:defRPr/>
            </a:pPr>
            <a:r>
              <a:rPr lang="en-US" sz="1100" b="1">
                <a:solidFill>
                  <a:srgbClr val="00A3E0"/>
                </a:solidFill>
                <a:cs typeface="Calibri"/>
              </a:rPr>
              <a:t>Quick Tip:  </a:t>
            </a:r>
            <a:r>
              <a:rPr lang="en-US" sz="1100">
                <a:latin typeface="Aptos"/>
                <a:ea typeface="+mn-lt"/>
                <a:cs typeface="+mn-lt"/>
              </a:rPr>
              <a:t>To quickly identify correct color, use the eyedropper the Hex Code using the #number above.</a:t>
            </a:r>
            <a:endParaRPr lang="en-US">
              <a:latin typeface="Aptos"/>
              <a:ea typeface="+mn-lt"/>
              <a:cs typeface="+mn-lt"/>
            </a:endParaRPr>
          </a:p>
        </p:txBody>
      </p:sp>
    </p:spTree>
    <p:extLst>
      <p:ext uri="{BB962C8B-B14F-4D97-AF65-F5344CB8AC3E}">
        <p14:creationId xmlns:p14="http://schemas.microsoft.com/office/powerpoint/2010/main" val="215757918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45302-6D6A-C533-1DBB-E5EDB5DB725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D389E04-119C-CC71-0500-A04CBC34B9EF}"/>
              </a:ext>
            </a:extLst>
          </p:cNvPr>
          <p:cNvPicPr>
            <a:picLocks noGrp="1" noRot="1" noChangeAspect="1" noMove="1" noResize="1" noEditPoints="1" noAdjustHandles="1" noChangeArrowheads="1" noChangeShapeType="1" noCrop="1"/>
          </p:cNvPicPr>
          <p:nvPr/>
        </p:nvPicPr>
        <p:blipFill>
          <a:blip r:embed="rId2"/>
          <a:srcRect l="41970" t="13065" r="10123" b="18400"/>
          <a:stretch>
            <a:fillRect/>
          </a:stretch>
        </p:blipFill>
        <p:spPr>
          <a:xfrm>
            <a:off x="0" y="-1"/>
            <a:ext cx="4447671" cy="6362701"/>
          </a:xfrm>
          <a:prstGeom prst="rect">
            <a:avLst/>
          </a:prstGeom>
        </p:spPr>
      </p:pic>
      <p:sp>
        <p:nvSpPr>
          <p:cNvPr id="10" name="Title 3">
            <a:extLst>
              <a:ext uri="{FF2B5EF4-FFF2-40B4-BE49-F238E27FC236}">
                <a16:creationId xmlns:a16="http://schemas.microsoft.com/office/drawing/2014/main" id="{F4C9E7A9-0705-5CF8-52A8-0C157E8E48BD}"/>
              </a:ext>
            </a:extLst>
          </p:cNvPr>
          <p:cNvSpPr txBox="1">
            <a:spLocks/>
          </p:cNvSpPr>
          <p:nvPr/>
        </p:nvSpPr>
        <p:spPr bwMode="gray">
          <a:xfrm>
            <a:off x="9852791" y="2804403"/>
            <a:ext cx="4491924" cy="628904"/>
          </a:xfrm>
          <a:prstGeom prst="rect">
            <a:avLst/>
          </a:prstGeom>
        </p:spPr>
        <p:txBody>
          <a:bodyPr vert="horz" lIns="0" tIns="0" rIns="0" bIns="0" rtlCol="0" anchor="b" anchorCtr="0">
            <a:no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endParaRPr lang="en-US" sz="4500" i="1">
              <a:solidFill>
                <a:srgbClr val="0076A8"/>
              </a:solidFill>
            </a:endParaRPr>
          </a:p>
        </p:txBody>
      </p:sp>
      <p:pic>
        <p:nvPicPr>
          <p:cNvPr id="16" name="Graphic 15">
            <a:extLst>
              <a:ext uri="{FF2B5EF4-FFF2-40B4-BE49-F238E27FC236}">
                <a16:creationId xmlns:a16="http://schemas.microsoft.com/office/drawing/2014/main" id="{0E8D064A-A6A4-8009-A9DA-B3E26DDA96C1}"/>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3650143" y="1866900"/>
            <a:ext cx="409575" cy="476250"/>
          </a:xfrm>
          <a:prstGeom prst="rect">
            <a:avLst/>
          </a:prstGeom>
        </p:spPr>
      </p:pic>
      <p:sp>
        <p:nvSpPr>
          <p:cNvPr id="22" name="Freeform: Shape 21">
            <a:extLst>
              <a:ext uri="{FF2B5EF4-FFF2-40B4-BE49-F238E27FC236}">
                <a16:creationId xmlns:a16="http://schemas.microsoft.com/office/drawing/2014/main" id="{B1FDF12D-21B6-5B93-AC62-0416CB3C6C16}"/>
              </a:ext>
            </a:extLst>
          </p:cNvPr>
          <p:cNvSpPr>
            <a:spLocks noGrp="1" noRot="1" noMove="1" noResize="1" noEditPoints="1" noAdjustHandles="1" noChangeArrowheads="1" noChangeShapeType="1"/>
          </p:cNvSpPr>
          <p:nvPr/>
        </p:nvSpPr>
        <p:spPr>
          <a:xfrm>
            <a:off x="4117821" y="2434123"/>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9537D78-E096-D3A4-CA74-59E14AE2718F}"/>
              </a:ext>
            </a:extLst>
          </p:cNvPr>
          <p:cNvSpPr>
            <a:spLocks noGrp="1" noRot="1" noMove="1" noResize="1" noEditPoints="1" noAdjustHandles="1" noChangeArrowheads="1" noChangeShapeType="1"/>
          </p:cNvSpPr>
          <p:nvPr/>
        </p:nvSpPr>
        <p:spPr>
          <a:xfrm>
            <a:off x="4363089" y="2373024"/>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25C9B64-61CA-ACA7-7A77-AED857217768}"/>
              </a:ext>
            </a:extLst>
          </p:cNvPr>
          <p:cNvSpPr>
            <a:spLocks noGrp="1" noRot="1" noMove="1" noResize="1" noEditPoints="1" noAdjustHandles="1" noChangeArrowheads="1" noChangeShapeType="1"/>
          </p:cNvSpPr>
          <p:nvPr/>
        </p:nvSpPr>
        <p:spPr>
          <a:xfrm>
            <a:off x="4202735" y="2171534"/>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2A2A3F5-71E5-10F5-A875-0C0F432E1B3A}"/>
              </a:ext>
            </a:extLst>
          </p:cNvPr>
          <p:cNvSpPr>
            <a:spLocks noGrp="1" noRot="1" noMove="1" noResize="1" noEditPoints="1" noAdjustHandles="1" noChangeArrowheads="1" noChangeShapeType="1"/>
          </p:cNvSpPr>
          <p:nvPr/>
        </p:nvSpPr>
        <p:spPr>
          <a:xfrm>
            <a:off x="3091683" y="5537247"/>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6D6C4D5-5520-E3D6-7A14-EBF32979E31C}"/>
              </a:ext>
            </a:extLst>
          </p:cNvPr>
          <p:cNvSpPr>
            <a:spLocks noGrp="1" noRot="1" noMove="1" noResize="1" noEditPoints="1" noAdjustHandles="1" noChangeArrowheads="1" noChangeShapeType="1"/>
          </p:cNvSpPr>
          <p:nvPr/>
        </p:nvSpPr>
        <p:spPr>
          <a:xfrm>
            <a:off x="3064577" y="5836071"/>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72331C3-712A-E14A-74F4-1017EF1602DF}"/>
              </a:ext>
            </a:extLst>
          </p:cNvPr>
          <p:cNvSpPr>
            <a:spLocks noGrp="1" noRot="1" noMove="1" noResize="1" noEditPoints="1" noAdjustHandles="1" noChangeArrowheads="1" noChangeShapeType="1"/>
          </p:cNvSpPr>
          <p:nvPr/>
        </p:nvSpPr>
        <p:spPr>
          <a:xfrm>
            <a:off x="3351695" y="5702675"/>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pic>
        <p:nvPicPr>
          <p:cNvPr id="28" name="Graphic 27">
            <a:extLst>
              <a:ext uri="{FF2B5EF4-FFF2-40B4-BE49-F238E27FC236}">
                <a16:creationId xmlns:a16="http://schemas.microsoft.com/office/drawing/2014/main" id="{1324574C-5D8F-4F67-D1D4-5A856C8E51B1}"/>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2616176" y="5524500"/>
            <a:ext cx="304320" cy="353860"/>
          </a:xfrm>
          <a:prstGeom prst="rect">
            <a:avLst/>
          </a:prstGeom>
        </p:spPr>
      </p:pic>
      <p:sp>
        <p:nvSpPr>
          <p:cNvPr id="2" name="Title 3">
            <a:extLst>
              <a:ext uri="{FF2B5EF4-FFF2-40B4-BE49-F238E27FC236}">
                <a16:creationId xmlns:a16="http://schemas.microsoft.com/office/drawing/2014/main" id="{B9B117F3-D65B-9FD0-ECBC-5B1AFE62100C}"/>
              </a:ext>
            </a:extLst>
          </p:cNvPr>
          <p:cNvSpPr txBox="1">
            <a:spLocks noGrp="1" noRot="1" noMove="1" noResize="1" noEditPoints="1" noAdjustHandles="1" noChangeArrowheads="1" noChangeShapeType="1"/>
          </p:cNvSpPr>
          <p:nvPr/>
        </p:nvSpPr>
        <p:spPr bwMode="gray">
          <a:xfrm>
            <a:off x="4447671" y="3492513"/>
            <a:ext cx="4491924" cy="628904"/>
          </a:xfrm>
          <a:prstGeom prst="rect">
            <a:avLst/>
          </a:prstGeom>
        </p:spPr>
        <p:txBody>
          <a:bodyPr vert="horz" lIns="0" tIns="0" rIns="0" bIns="0" rtlCol="0" anchor="b" anchorCtr="0">
            <a:no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4500">
                <a:solidFill>
                  <a:srgbClr val="00A3E0"/>
                </a:solidFill>
              </a:rPr>
              <a:t>Global brand guidance</a:t>
            </a:r>
          </a:p>
        </p:txBody>
      </p:sp>
      <p:cxnSp>
        <p:nvCxnSpPr>
          <p:cNvPr id="3" name="Straight Connector 2">
            <a:extLst>
              <a:ext uri="{FF2B5EF4-FFF2-40B4-BE49-F238E27FC236}">
                <a16:creationId xmlns:a16="http://schemas.microsoft.com/office/drawing/2014/main" id="{668FF5D7-9ED0-3260-1EA0-AC1AAE3E60D9}"/>
              </a:ext>
            </a:extLst>
          </p:cNvPr>
          <p:cNvCxnSpPr>
            <a:cxnSpLocks noGrp="1" noRot="1" noMove="1" noResize="1" noEditPoints="1" noAdjustHandles="1" noChangeArrowheads="1" noChangeShapeType="1"/>
          </p:cNvCxnSpPr>
          <p:nvPr/>
        </p:nvCxnSpPr>
        <p:spPr>
          <a:xfrm>
            <a:off x="4447671" y="4381500"/>
            <a:ext cx="3395849" cy="0"/>
          </a:xfrm>
          <a:prstGeom prst="line">
            <a:avLst/>
          </a:prstGeom>
          <a:ln w="19050">
            <a:solidFill>
              <a:srgbClr val="00A3E0"/>
            </a:solidFill>
            <a:tailEnd type="oval"/>
          </a:ln>
        </p:spPr>
        <p:style>
          <a:lnRef idx="1">
            <a:schemeClr val="accent1"/>
          </a:lnRef>
          <a:fillRef idx="0">
            <a:schemeClr val="accent1"/>
          </a:fillRef>
          <a:effectRef idx="0">
            <a:schemeClr val="accent1"/>
          </a:effectRef>
          <a:fontRef idx="minor">
            <a:schemeClr val="tx1"/>
          </a:fontRef>
        </p:style>
      </p:cxnSp>
      <p:pic>
        <p:nvPicPr>
          <p:cNvPr id="5" name="Graphic 4">
            <a:hlinkClick r:id="rId5" action="ppaction://hlinksldjump"/>
            <a:extLst>
              <a:ext uri="{FF2B5EF4-FFF2-40B4-BE49-F238E27FC236}">
                <a16:creationId xmlns:a16="http://schemas.microsoft.com/office/drawing/2014/main" id="{F276A043-C1EF-ACF9-CDD5-2051BD244A7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379200" y="309880"/>
            <a:ext cx="469900" cy="469900"/>
          </a:xfrm>
          <a:prstGeom prst="rect">
            <a:avLst/>
          </a:prstGeom>
        </p:spPr>
      </p:pic>
    </p:spTree>
    <p:extLst>
      <p:ext uri="{BB962C8B-B14F-4D97-AF65-F5344CB8AC3E}">
        <p14:creationId xmlns:p14="http://schemas.microsoft.com/office/powerpoint/2010/main" val="16653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C6933-2AFA-CBE7-DD22-2FE212BFFB6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94412F5E-0494-1BFD-4DB7-CDACF4B5AD6A}"/>
              </a:ext>
            </a:extLst>
          </p:cNvPr>
          <p:cNvSpPr>
            <a:spLocks noGrp="1"/>
          </p:cNvSpPr>
          <p:nvPr>
            <p:ph type="body" sz="quarter" idx="13"/>
          </p:nvPr>
        </p:nvSpPr>
        <p:spPr>
          <a:xfrm>
            <a:off x="275029" y="582344"/>
            <a:ext cx="11252200" cy="334102"/>
          </a:xfrm>
        </p:spPr>
        <p:txBody>
          <a:bodyPr/>
          <a:lstStyle/>
          <a:p>
            <a:r>
              <a:rPr lang="en-US"/>
              <a:t>Standard font and usage</a:t>
            </a:r>
          </a:p>
        </p:txBody>
      </p:sp>
      <p:sp>
        <p:nvSpPr>
          <p:cNvPr id="6" name="Title 1">
            <a:extLst>
              <a:ext uri="{FF2B5EF4-FFF2-40B4-BE49-F238E27FC236}">
                <a16:creationId xmlns:a16="http://schemas.microsoft.com/office/drawing/2014/main" id="{D58F3775-C13E-6AC1-7973-0C668CC67921}"/>
              </a:ext>
            </a:extLst>
          </p:cNvPr>
          <p:cNvSpPr>
            <a:spLocks noGrp="1"/>
          </p:cNvSpPr>
          <p:nvPr>
            <p:ph type="title"/>
          </p:nvPr>
        </p:nvSpPr>
        <p:spPr>
          <a:xfrm>
            <a:off x="275029" y="244984"/>
            <a:ext cx="11506200" cy="334102"/>
          </a:xfrm>
        </p:spPr>
        <p:txBody>
          <a:bodyPr/>
          <a:lstStyle/>
          <a:p>
            <a:r>
              <a:rPr lang="en-US">
                <a:solidFill>
                  <a:schemeClr val="tx1"/>
                </a:solidFill>
                <a:cs typeface="Calibri"/>
              </a:rPr>
              <a:t>GFS Style Guide | </a:t>
            </a:r>
            <a:r>
              <a:rPr lang="en-US" b="1"/>
              <a:t>Typography</a:t>
            </a:r>
            <a:endParaRPr lang="en-US">
              <a:solidFill>
                <a:schemeClr val="tx1"/>
              </a:solidFill>
              <a:latin typeface="+mj-lt"/>
            </a:endParaRPr>
          </a:p>
        </p:txBody>
      </p:sp>
      <p:sp>
        <p:nvSpPr>
          <p:cNvPr id="19" name="Content Placeholder 2">
            <a:extLst>
              <a:ext uri="{FF2B5EF4-FFF2-40B4-BE49-F238E27FC236}">
                <a16:creationId xmlns:a16="http://schemas.microsoft.com/office/drawing/2014/main" id="{5F6099B1-B852-F2E1-7A58-CE13AED5D14F}"/>
              </a:ext>
            </a:extLst>
          </p:cNvPr>
          <p:cNvSpPr txBox="1">
            <a:spLocks/>
          </p:cNvSpPr>
          <p:nvPr/>
        </p:nvSpPr>
        <p:spPr>
          <a:xfrm>
            <a:off x="275029" y="1109948"/>
            <a:ext cx="11447281" cy="771248"/>
          </a:xfrm>
          <a:prstGeom prst="rect">
            <a:avLst/>
          </a:prstGeom>
        </p:spPr>
        <p:txBody>
          <a:bodyPr lIns="0" tIns="0" rIns="0" bIns="45720" anchor="t"/>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100" dirty="0"/>
              <a:t>Aptos is the Global default font, following Microsoft's decision to adopt Aptos as the default Microsoft Office font in early 2026. To ensure the GFS brand remains aligned and consistent with this direction, our GFS Style Guide, and Word and PowerPoint templates reflect this font. For more details, visit </a:t>
            </a:r>
            <a:r>
              <a:rPr lang="en-US" sz="1100" dirty="0">
                <a:solidFill>
                  <a:srgbClr val="0070C0"/>
                </a:solidFill>
                <a:hlinkClick r:id="rId2"/>
              </a:rPr>
              <a:t>Global </a:t>
            </a:r>
            <a:r>
              <a:rPr lang="en-US" sz="1100">
                <a:solidFill>
                  <a:srgbClr val="0070C0"/>
                </a:solidFill>
                <a:hlinkClick r:id="rId2"/>
              </a:rPr>
              <a:t>Brand Typography</a:t>
            </a:r>
            <a:r>
              <a:rPr lang="en-US" sz="1100">
                <a:solidFill>
                  <a:srgbClr val="0070C0"/>
                </a:solidFill>
              </a:rPr>
              <a:t> </a:t>
            </a:r>
            <a:r>
              <a:rPr lang="en-US" sz="1100"/>
              <a:t>on </a:t>
            </a:r>
            <a:r>
              <a:rPr lang="en-US" sz="1100" dirty="0"/>
              <a:t>Brand space.</a:t>
            </a:r>
          </a:p>
        </p:txBody>
      </p:sp>
      <p:sp>
        <p:nvSpPr>
          <p:cNvPr id="4" name="Text Placeholder 2">
            <a:extLst>
              <a:ext uri="{FF2B5EF4-FFF2-40B4-BE49-F238E27FC236}">
                <a16:creationId xmlns:a16="http://schemas.microsoft.com/office/drawing/2014/main" id="{C6F195A5-A820-23AD-08C9-BF6432A347E9}"/>
              </a:ext>
            </a:extLst>
          </p:cNvPr>
          <p:cNvSpPr txBox="1">
            <a:spLocks/>
          </p:cNvSpPr>
          <p:nvPr/>
        </p:nvSpPr>
        <p:spPr>
          <a:xfrm>
            <a:off x="1398297" y="2218556"/>
            <a:ext cx="3181827" cy="1815882"/>
          </a:xfrm>
          <a:prstGeom prst="rect">
            <a:avLst/>
          </a:prstGeom>
        </p:spPr>
        <p:txBody>
          <a:bodyPr wrap="square" lIns="0" tIns="0" rIns="0" bIns="0" anchor="t">
            <a:sp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1">
              <a:spcAft>
                <a:spcPts val="600"/>
              </a:spcAft>
            </a:pPr>
            <a:r>
              <a:rPr lang="en-GB" sz="1400">
                <a:solidFill>
                  <a:srgbClr val="00A3E0"/>
                </a:solidFill>
                <a:cs typeface="Calibri"/>
              </a:rPr>
              <a:t>Font standards</a:t>
            </a:r>
          </a:p>
          <a:p>
            <a:pPr marL="171450" indent="-171450">
              <a:spcAft>
                <a:spcPts val="600"/>
              </a:spcAft>
              <a:buFont typeface="Arial" panose="020B0604020202020204" pitchFamily="34" charset="0"/>
              <a:buChar char="•"/>
            </a:pPr>
            <a:r>
              <a:rPr lang="en-US" sz="1400">
                <a:solidFill>
                  <a:prstClr val="black"/>
                </a:solidFill>
                <a:cs typeface="Calibri"/>
              </a:rPr>
              <a:t>Use Aptos as standard font</a:t>
            </a:r>
          </a:p>
          <a:p>
            <a:pPr marL="171450" indent="-171450">
              <a:spcAft>
                <a:spcPts val="600"/>
              </a:spcAft>
              <a:buFont typeface="Arial" panose="020B0604020202020204" pitchFamily="34" charset="0"/>
              <a:buChar char="•"/>
            </a:pPr>
            <a:r>
              <a:rPr lang="en-US" sz="1400">
                <a:solidFill>
                  <a:prstClr val="black"/>
                </a:solidFill>
                <a:cs typeface="Calibri"/>
              </a:rPr>
              <a:t>Should be installed as the default font on the majority of Deloitte systems</a:t>
            </a:r>
          </a:p>
          <a:p>
            <a:pPr marL="171450" indent="-171450">
              <a:spcAft>
                <a:spcPts val="600"/>
              </a:spcAft>
              <a:buFont typeface="Arial" panose="020B0604020202020204" pitchFamily="34" charset="0"/>
              <a:buChar char="•"/>
            </a:pPr>
            <a:r>
              <a:rPr lang="en-US" sz="1400">
                <a:solidFill>
                  <a:prstClr val="black"/>
                </a:solidFill>
                <a:cs typeface="Calibri"/>
              </a:rPr>
              <a:t>Font size is 11 for email</a:t>
            </a:r>
          </a:p>
          <a:p>
            <a:pPr marL="171450" indent="-171450">
              <a:spcAft>
                <a:spcPts val="600"/>
              </a:spcAft>
              <a:buFont typeface="Arial" panose="020B0604020202020204" pitchFamily="34" charset="0"/>
              <a:buChar char="•"/>
            </a:pPr>
            <a:r>
              <a:rPr lang="en-US" sz="1400">
                <a:solidFill>
                  <a:prstClr val="black"/>
                </a:solidFill>
                <a:cs typeface="Calibri"/>
              </a:rPr>
              <a:t>Font size is 14 for Word documents and PowerPoint decks</a:t>
            </a:r>
          </a:p>
        </p:txBody>
      </p:sp>
      <p:sp>
        <p:nvSpPr>
          <p:cNvPr id="13" name="Text Placeholder 2">
            <a:extLst>
              <a:ext uri="{FF2B5EF4-FFF2-40B4-BE49-F238E27FC236}">
                <a16:creationId xmlns:a16="http://schemas.microsoft.com/office/drawing/2014/main" id="{72BA635F-36B3-0782-D74C-558CC79D14AA}"/>
              </a:ext>
            </a:extLst>
          </p:cNvPr>
          <p:cNvSpPr txBox="1">
            <a:spLocks/>
          </p:cNvSpPr>
          <p:nvPr/>
        </p:nvSpPr>
        <p:spPr>
          <a:xfrm>
            <a:off x="4946371" y="2218556"/>
            <a:ext cx="4457861" cy="1677382"/>
          </a:xfrm>
          <a:prstGeom prst="rect">
            <a:avLst/>
          </a:prstGeom>
        </p:spPr>
        <p:txBody>
          <a:bodyPr wrap="square" lIns="0" tIns="0" rIns="0" bIns="0" anchor="t">
            <a:sp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1">
              <a:spcAft>
                <a:spcPts val="600"/>
              </a:spcAft>
            </a:pPr>
            <a:r>
              <a:rPr lang="en-GB" sz="1400">
                <a:solidFill>
                  <a:srgbClr val="00A3E0"/>
                </a:solidFill>
                <a:cs typeface="Calibri"/>
              </a:rPr>
              <a:t>Usage</a:t>
            </a:r>
          </a:p>
          <a:p>
            <a:pPr marL="171450" indent="-171450">
              <a:spcAft>
                <a:spcPts val="600"/>
              </a:spcAft>
              <a:buFont typeface="Arial" panose="020B0604020202020204" pitchFamily="34" charset="0"/>
              <a:buChar char="•"/>
            </a:pPr>
            <a:r>
              <a:rPr lang="en-US" sz="1400">
                <a:solidFill>
                  <a:prstClr val="black"/>
                </a:solidFill>
                <a:cs typeface="Calibri"/>
              </a:rPr>
              <a:t>Emails</a:t>
            </a:r>
          </a:p>
          <a:p>
            <a:pPr marL="171450" indent="-171450">
              <a:spcAft>
                <a:spcPts val="600"/>
              </a:spcAft>
              <a:buFont typeface="Arial" panose="020B0604020202020204" pitchFamily="34" charset="0"/>
              <a:buChar char="•"/>
            </a:pPr>
            <a:r>
              <a:rPr lang="en-US" sz="1400">
                <a:solidFill>
                  <a:prstClr val="black"/>
                </a:solidFill>
                <a:cs typeface="Calibri"/>
              </a:rPr>
              <a:t>PowerPoint presentations</a:t>
            </a:r>
          </a:p>
          <a:p>
            <a:pPr marL="171450" indent="-171450">
              <a:spcAft>
                <a:spcPts val="600"/>
              </a:spcAft>
              <a:buFont typeface="Arial" panose="020B0604020202020204" pitchFamily="34" charset="0"/>
              <a:buChar char="•"/>
            </a:pPr>
            <a:r>
              <a:rPr lang="en-US" sz="1400">
                <a:cs typeface="Calibri"/>
              </a:rPr>
              <a:t>Word documents</a:t>
            </a:r>
          </a:p>
          <a:p>
            <a:pPr marL="171450" indent="-171450">
              <a:spcAft>
                <a:spcPts val="600"/>
              </a:spcAft>
              <a:buFont typeface="Arial" panose="020B0604020202020204" pitchFamily="34" charset="0"/>
              <a:buChar char="•"/>
            </a:pPr>
            <a:r>
              <a:rPr lang="en-US" sz="1400">
                <a:cs typeface="Calibri"/>
              </a:rPr>
              <a:t>Website</a:t>
            </a:r>
          </a:p>
          <a:p>
            <a:pPr marL="171450" indent="-171450">
              <a:spcAft>
                <a:spcPts val="600"/>
              </a:spcAft>
              <a:buFont typeface="Arial" panose="020B0604020202020204" pitchFamily="34" charset="0"/>
              <a:buChar char="•"/>
            </a:pPr>
            <a:r>
              <a:rPr lang="en-US" sz="1400">
                <a:solidFill>
                  <a:prstClr val="black"/>
                </a:solidFill>
                <a:cs typeface="Calibri"/>
              </a:rPr>
              <a:t>Marketing collateral</a:t>
            </a:r>
          </a:p>
        </p:txBody>
      </p:sp>
      <p:pic>
        <p:nvPicPr>
          <p:cNvPr id="1026" name="Picture 2" descr="Typography, font, type, text, tool icon - Download on Iconfinder">
            <a:extLst>
              <a:ext uri="{FF2B5EF4-FFF2-40B4-BE49-F238E27FC236}">
                <a16:creationId xmlns:a16="http://schemas.microsoft.com/office/drawing/2014/main" id="{2A239F39-9678-E46D-6765-0D0ACAF25502}"/>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75029" y="2218556"/>
            <a:ext cx="973908" cy="973908"/>
          </a:xfrm>
          <a:prstGeom prst="rect">
            <a:avLst/>
          </a:prstGeom>
          <a:solidFill>
            <a:srgbClr val="00A3E0"/>
          </a:solidFill>
        </p:spPr>
      </p:pic>
    </p:spTree>
    <p:extLst>
      <p:ext uri="{BB962C8B-B14F-4D97-AF65-F5344CB8AC3E}">
        <p14:creationId xmlns:p14="http://schemas.microsoft.com/office/powerpoint/2010/main" val="79400694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F1F4BB-587E-794B-8060-2ED06C9ABC6E}"/>
              </a:ext>
            </a:extLst>
          </p:cNvPr>
          <p:cNvSpPr>
            <a:spLocks noGrp="1"/>
          </p:cNvSpPr>
          <p:nvPr>
            <p:ph type="body" sz="quarter" idx="13"/>
          </p:nvPr>
        </p:nvSpPr>
        <p:spPr/>
        <p:txBody>
          <a:bodyPr/>
          <a:lstStyle/>
          <a:p>
            <a:r>
              <a:rPr lang="en-US"/>
              <a:t>Language in a legal context</a:t>
            </a:r>
          </a:p>
        </p:txBody>
      </p:sp>
      <p:sp>
        <p:nvSpPr>
          <p:cNvPr id="6" name="Title 1">
            <a:extLst>
              <a:ext uri="{FF2B5EF4-FFF2-40B4-BE49-F238E27FC236}">
                <a16:creationId xmlns:a16="http://schemas.microsoft.com/office/drawing/2014/main" id="{338E4595-E651-F74E-B744-88EF1D39FFC3}"/>
              </a:ext>
            </a:extLst>
          </p:cNvPr>
          <p:cNvSpPr>
            <a:spLocks noGrp="1"/>
          </p:cNvSpPr>
          <p:nvPr>
            <p:ph type="title"/>
          </p:nvPr>
        </p:nvSpPr>
        <p:spPr/>
        <p:txBody>
          <a:bodyPr/>
          <a:lstStyle/>
          <a:p>
            <a:pPr>
              <a:spcBef>
                <a:spcPct val="0"/>
              </a:spcBef>
            </a:pPr>
            <a:r>
              <a:rPr lang="en-US">
                <a:solidFill>
                  <a:schemeClr val="tx1"/>
                </a:solidFill>
                <a:cs typeface="Calibri"/>
              </a:rPr>
              <a:t>GFS Style Guide | </a:t>
            </a:r>
            <a:r>
              <a:rPr lang="en-US" b="1"/>
              <a:t>Language and style</a:t>
            </a:r>
            <a:endParaRPr lang="en-US">
              <a:solidFill>
                <a:schemeClr val="tx1"/>
              </a:solidFill>
              <a:latin typeface="+mj-lt"/>
            </a:endParaRPr>
          </a:p>
        </p:txBody>
      </p:sp>
      <p:sp>
        <p:nvSpPr>
          <p:cNvPr id="19" name="Content Placeholder 2">
            <a:extLst>
              <a:ext uri="{FF2B5EF4-FFF2-40B4-BE49-F238E27FC236}">
                <a16:creationId xmlns:a16="http://schemas.microsoft.com/office/drawing/2014/main" id="{6B197FDA-02D5-C642-A6CA-90ADBEC0D425}"/>
              </a:ext>
            </a:extLst>
          </p:cNvPr>
          <p:cNvSpPr txBox="1">
            <a:spLocks/>
          </p:cNvSpPr>
          <p:nvPr/>
        </p:nvSpPr>
        <p:spPr>
          <a:xfrm>
            <a:off x="342900" y="1109948"/>
            <a:ext cx="11256264" cy="404051"/>
          </a:xfrm>
          <a:prstGeom prst="rect">
            <a:avLst/>
          </a:prstGeom>
        </p:spPr>
        <p:txBody>
          <a:bodyPr lIns="0" tIns="0" rIns="0"/>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ea typeface="Verdana" panose="020B0604030504040204" pitchFamily="34" charset="0"/>
                <a:cs typeface="Calibri" panose="020F0502020204030204" pitchFamily="34" charset="0"/>
              </a:rPr>
              <a:t>Deloitte Brand maintains a comprehensive </a:t>
            </a:r>
            <a:r>
              <a:rPr lang="en-US">
                <a:ea typeface="Verdana" panose="020B0604030504040204" pitchFamily="34" charset="0"/>
                <a:cs typeface="Calibri" panose="020F0502020204030204" pitchFamily="34" charset="0"/>
                <a:hlinkClick r:id="rId2"/>
              </a:rPr>
              <a:t>DTTL Language &amp; Style Guide</a:t>
            </a:r>
            <a:r>
              <a:rPr lang="en-US">
                <a:ea typeface="Verdana" panose="020B0604030504040204" pitchFamily="34" charset="0"/>
                <a:cs typeface="Calibri" panose="020F0502020204030204" pitchFamily="34" charset="0"/>
              </a:rPr>
              <a:t> on Brand space. We’re including the following excerpts to cover common instances you may encounter, but we encourage you to defer to the Language &amp; Style Guide and check for updates on a regular basis.  </a:t>
            </a:r>
          </a:p>
        </p:txBody>
      </p:sp>
      <p:sp>
        <p:nvSpPr>
          <p:cNvPr id="2" name="TextBox 1">
            <a:extLst>
              <a:ext uri="{FF2B5EF4-FFF2-40B4-BE49-F238E27FC236}">
                <a16:creationId xmlns:a16="http://schemas.microsoft.com/office/drawing/2014/main" id="{0279EFBD-6ACB-474D-8D36-203025B19D38}"/>
              </a:ext>
            </a:extLst>
          </p:cNvPr>
          <p:cNvSpPr txBox="1"/>
          <p:nvPr/>
        </p:nvSpPr>
        <p:spPr>
          <a:xfrm>
            <a:off x="342900" y="1648301"/>
            <a:ext cx="3759200" cy="4632183"/>
          </a:xfrm>
          <a:prstGeom prst="rect">
            <a:avLst/>
          </a:prstGeom>
          <a:noFill/>
        </p:spPr>
        <p:txBody>
          <a:bodyPr wrap="square" lIns="0" tIns="0" rIns="0" bIns="0" numCol="1" spcCol="457200" rtlCol="0" anchor="t">
            <a:noAutofit/>
          </a:bodyPr>
          <a:lstStyle/>
          <a:p>
            <a:r>
              <a:rPr lang="en-US" sz="1000">
                <a:cs typeface="Calibri"/>
              </a:rPr>
              <a:t>Deloitte is a global organization composed of independent firms throughout the world that provide audit and assurance, consulting, financial advisory, risk advisory, tax and related services to select clients. These firms are members of Deloitte Touche Tohmatsu Limited, a UK private company limited by guarantee (“DTTL”). Each Deloitte firm provides services in particular geographic areas and is subject to the laws and professional regulations of the particular jurisdiction or jurisdiction in which it operates. DTTL(also referred to as “Deloitte Global”) does not provide services to clients.</a:t>
            </a:r>
            <a:endParaRPr lang="en-US">
              <a:cs typeface="Calibri"/>
            </a:endParaRPr>
          </a:p>
          <a:p>
            <a:pPr>
              <a:spcAft>
                <a:spcPts val="600"/>
              </a:spcAft>
            </a:pPr>
            <a:endParaRPr lang="en-US" sz="1000">
              <a:solidFill>
                <a:srgbClr val="00A3E0"/>
              </a:solidFill>
              <a:cs typeface="Calibri" panose="020F0502020204030204" pitchFamily="34" charset="0"/>
            </a:endParaRPr>
          </a:p>
          <a:p>
            <a:pPr>
              <a:spcAft>
                <a:spcPts val="600"/>
              </a:spcAft>
            </a:pPr>
            <a:r>
              <a:rPr lang="en-US" sz="1000" b="1">
                <a:solidFill>
                  <a:srgbClr val="00A3E0"/>
                </a:solidFill>
                <a:cs typeface="Calibri"/>
              </a:rPr>
              <a:t>Some of the biggest RED FLAGS for any type of communication:</a:t>
            </a:r>
          </a:p>
          <a:p>
            <a:pPr marL="171450" indent="-171450">
              <a:spcAft>
                <a:spcPts val="600"/>
              </a:spcAft>
              <a:buFont typeface="Arial" panose="020B0604020202020204" pitchFamily="34" charset="0"/>
              <a:buChar char="•"/>
            </a:pPr>
            <a:r>
              <a:rPr lang="en-US" sz="1000">
                <a:cs typeface="Calibri"/>
              </a:rPr>
              <a:t>Misrepresenting DTTL and Deloitte firms as one unified commercial enterprise. </a:t>
            </a:r>
            <a:r>
              <a:rPr lang="en-US" sz="1000">
                <a:ea typeface="+mn-lt"/>
                <a:cs typeface="+mn-lt"/>
              </a:rPr>
              <a:t>Never refer to Deloitte as a </a:t>
            </a:r>
            <a:r>
              <a:rPr lang="en-US" sz="1000" i="1">
                <a:ea typeface="+mn-lt"/>
                <a:cs typeface="+mn-lt"/>
              </a:rPr>
              <a:t>company </a:t>
            </a:r>
            <a:r>
              <a:rPr lang="en-US" sz="1000">
                <a:ea typeface="+mn-lt"/>
                <a:cs typeface="+mn-lt"/>
              </a:rPr>
              <a:t>or </a:t>
            </a:r>
            <a:r>
              <a:rPr lang="en-US" sz="1000" i="1">
                <a:ea typeface="+mn-lt"/>
                <a:cs typeface="+mn-lt"/>
              </a:rPr>
              <a:t>firm</a:t>
            </a:r>
            <a:r>
              <a:rPr lang="en-US" sz="1000">
                <a:ea typeface="+mn-lt"/>
                <a:cs typeface="+mn-lt"/>
              </a:rPr>
              <a:t>. Instead, use </a:t>
            </a:r>
            <a:r>
              <a:rPr lang="en-US" sz="1000" i="1">
                <a:ea typeface="+mn-lt"/>
                <a:cs typeface="+mn-lt"/>
              </a:rPr>
              <a:t>network, Deloitte network, organization, Deloitte organization </a:t>
            </a:r>
            <a:r>
              <a:rPr lang="en-US" sz="1000">
                <a:ea typeface="+mn-lt"/>
                <a:cs typeface="+mn-lt"/>
              </a:rPr>
              <a:t>or </a:t>
            </a:r>
            <a:r>
              <a:rPr lang="en-US" sz="1000" i="1">
                <a:ea typeface="+mn-lt"/>
                <a:cs typeface="+mn-lt"/>
              </a:rPr>
              <a:t>Deloitte </a:t>
            </a:r>
            <a:r>
              <a:rPr lang="en-US" sz="1000">
                <a:ea typeface="+mn-lt"/>
                <a:cs typeface="+mn-lt"/>
              </a:rPr>
              <a:t>alone </a:t>
            </a:r>
            <a:endParaRPr lang="en-US"/>
          </a:p>
          <a:p>
            <a:pPr marL="171450" indent="-171450">
              <a:spcAft>
                <a:spcPts val="600"/>
              </a:spcAft>
              <a:buFont typeface="Arial" panose="020B0604020202020204" pitchFamily="34" charset="0"/>
              <a:buChar char="•"/>
            </a:pPr>
            <a:r>
              <a:rPr lang="en-US" sz="1000">
                <a:cs typeface="Calibri"/>
              </a:rPr>
              <a:t>Also acceptable is </a:t>
            </a:r>
            <a:r>
              <a:rPr lang="en-US" sz="1000" i="1">
                <a:cs typeface="Calibri"/>
              </a:rPr>
              <a:t>professional services network </a:t>
            </a:r>
            <a:r>
              <a:rPr lang="en-US" sz="1000">
                <a:cs typeface="Calibri"/>
              </a:rPr>
              <a:t>or </a:t>
            </a:r>
            <a:r>
              <a:rPr lang="en-US" sz="1000" i="1">
                <a:cs typeface="Calibri"/>
              </a:rPr>
              <a:t>professional services organization</a:t>
            </a:r>
            <a:r>
              <a:rPr lang="en-US" sz="1000">
                <a:cs typeface="Calibri"/>
              </a:rPr>
              <a:t>. If speaking about a Deloitte firm in a specific geography, you can also use </a:t>
            </a:r>
            <a:r>
              <a:rPr lang="en-US" sz="1000" i="1">
                <a:cs typeface="Calibri"/>
              </a:rPr>
              <a:t>firm </a:t>
            </a:r>
            <a:r>
              <a:rPr lang="en-US" sz="1000">
                <a:cs typeface="Calibri"/>
              </a:rPr>
              <a:t>(e.g., the French firm),but never use that term in the singular version if referring to the global network.</a:t>
            </a:r>
            <a:endParaRPr lang="en-US" b="1">
              <a:cs typeface="Calibri"/>
            </a:endParaRPr>
          </a:p>
          <a:p>
            <a:pPr>
              <a:spcAft>
                <a:spcPts val="600"/>
              </a:spcAft>
            </a:pPr>
            <a:r>
              <a:rPr lang="en-US" sz="1000" b="1">
                <a:solidFill>
                  <a:srgbClr val="00A3E0"/>
                </a:solidFill>
                <a:cs typeface="Calibri"/>
              </a:rPr>
              <a:t>The following terms can be used to refer to Deloitte firms generally, with or without Deloitte Global: </a:t>
            </a:r>
          </a:p>
          <a:p>
            <a:pPr marL="171450" indent="-171450">
              <a:spcAft>
                <a:spcPts val="100"/>
              </a:spcAft>
              <a:buFont typeface="Arial" panose="020B0604020202020204" pitchFamily="34" charset="0"/>
              <a:buChar char="•"/>
            </a:pPr>
            <a:r>
              <a:rPr lang="en-US" sz="1000">
                <a:cs typeface="Calibri"/>
              </a:rPr>
              <a:t>Deloitte</a:t>
            </a:r>
          </a:p>
          <a:p>
            <a:pPr marL="171450" indent="-171450">
              <a:spcAft>
                <a:spcPts val="100"/>
              </a:spcAft>
              <a:buFont typeface="Arial" panose="020B0604020202020204" pitchFamily="34" charset="0"/>
              <a:buChar char="•"/>
            </a:pPr>
            <a:r>
              <a:rPr lang="en-US" sz="1000">
                <a:cs typeface="Calibri"/>
              </a:rPr>
              <a:t>Deloitte network</a:t>
            </a:r>
          </a:p>
          <a:p>
            <a:pPr marL="171450" indent="-171450">
              <a:spcAft>
                <a:spcPts val="100"/>
              </a:spcAft>
              <a:buFont typeface="Arial" panose="020B0604020202020204" pitchFamily="34" charset="0"/>
              <a:buChar char="•"/>
            </a:pPr>
            <a:r>
              <a:rPr lang="en-US" sz="1000">
                <a:cs typeface="Calibri"/>
              </a:rPr>
              <a:t>Network</a:t>
            </a:r>
          </a:p>
          <a:p>
            <a:pPr marL="171450" indent="-171450">
              <a:spcAft>
                <a:spcPts val="100"/>
              </a:spcAft>
              <a:buFont typeface="Arial" panose="020B0604020202020204" pitchFamily="34" charset="0"/>
              <a:buChar char="•"/>
            </a:pPr>
            <a:r>
              <a:rPr lang="en-US" sz="1000">
                <a:cs typeface="Calibri"/>
              </a:rPr>
              <a:t>Deloitte organization</a:t>
            </a:r>
          </a:p>
          <a:p>
            <a:pPr marL="171450" indent="-171450">
              <a:spcAft>
                <a:spcPts val="600"/>
              </a:spcAft>
              <a:buFont typeface="Arial" panose="020B0604020202020204" pitchFamily="34" charset="0"/>
              <a:buChar char="•"/>
            </a:pPr>
            <a:r>
              <a:rPr lang="en-US" sz="1000">
                <a:cs typeface="Calibri"/>
              </a:rPr>
              <a:t>Organization</a:t>
            </a:r>
          </a:p>
        </p:txBody>
      </p:sp>
      <p:sp>
        <p:nvSpPr>
          <p:cNvPr id="3" name="TextBox 2">
            <a:extLst>
              <a:ext uri="{FF2B5EF4-FFF2-40B4-BE49-F238E27FC236}">
                <a16:creationId xmlns:a16="http://schemas.microsoft.com/office/drawing/2014/main" id="{D2A623BD-84A2-AA40-886F-35F3476F349D}"/>
              </a:ext>
            </a:extLst>
          </p:cNvPr>
          <p:cNvSpPr txBox="1"/>
          <p:nvPr/>
        </p:nvSpPr>
        <p:spPr>
          <a:xfrm>
            <a:off x="4216400" y="1648301"/>
            <a:ext cx="3759200" cy="4962758"/>
          </a:xfrm>
          <a:prstGeom prst="rect">
            <a:avLst/>
          </a:prstGeom>
          <a:noFill/>
        </p:spPr>
        <p:txBody>
          <a:bodyPr wrap="square" lIns="0" tIns="0" rIns="0" bIns="0" numCol="1" spcCol="457200" rtlCol="0" anchor="t">
            <a:noAutofit/>
          </a:bodyPr>
          <a:lstStyle/>
          <a:p>
            <a:pPr marL="171450" indent="-171450">
              <a:spcAft>
                <a:spcPts val="600"/>
              </a:spcAft>
              <a:buFont typeface="Arial" panose="020B0604020202020204" pitchFamily="34" charset="0"/>
              <a:buChar char="•"/>
            </a:pPr>
            <a:r>
              <a:rPr lang="en-US" sz="1000" b="1">
                <a:solidFill>
                  <a:srgbClr val="000000"/>
                </a:solidFill>
                <a:cs typeface="Calibri"/>
              </a:rPr>
              <a:t>Misusing the words </a:t>
            </a:r>
            <a:r>
              <a:rPr lang="en-US" sz="1000" b="1" i="1">
                <a:solidFill>
                  <a:srgbClr val="000000"/>
                </a:solidFill>
                <a:cs typeface="Calibri"/>
              </a:rPr>
              <a:t>partner</a:t>
            </a:r>
            <a:r>
              <a:rPr lang="en-US" sz="1000" b="1">
                <a:solidFill>
                  <a:srgbClr val="000000"/>
                </a:solidFill>
                <a:cs typeface="Calibri"/>
              </a:rPr>
              <a:t> or </a:t>
            </a:r>
            <a:r>
              <a:rPr lang="en-US" sz="1000" b="1" i="1">
                <a:solidFill>
                  <a:srgbClr val="000000"/>
                </a:solidFill>
                <a:cs typeface="Calibri"/>
              </a:rPr>
              <a:t>partnering</a:t>
            </a:r>
            <a:r>
              <a:rPr lang="en-US" sz="1000" b="1">
                <a:solidFill>
                  <a:srgbClr val="000000"/>
                </a:solidFill>
                <a:cs typeface="Calibri"/>
              </a:rPr>
              <a:t>.</a:t>
            </a:r>
          </a:p>
          <a:p>
            <a:pPr marL="347345" indent="-171450">
              <a:buFont typeface="Aptos" panose="020B0004020202020204" pitchFamily="34" charset="0"/>
              <a:buChar char="−"/>
            </a:pPr>
            <a:r>
              <a:rPr lang="en-US" sz="1000">
                <a:cs typeface="Calibri"/>
              </a:rPr>
              <a:t>The word partner has specific legal meaning and could imply a legal partnership between two or more entities or persons. Do not use partner, partnering or partnership to describe relationships between Deloitte firms or between people associated with different Deloitte firms.</a:t>
            </a:r>
          </a:p>
          <a:p>
            <a:pPr marL="347345" lvl="1" indent="-171450">
              <a:spcAft>
                <a:spcPts val="600"/>
              </a:spcAft>
              <a:buFont typeface="Aptos" panose="020B0004020202020204" pitchFamily="34" charset="0"/>
              <a:buChar char="−"/>
            </a:pPr>
            <a:r>
              <a:rPr lang="en-US" sz="1000">
                <a:cs typeface="Calibri"/>
              </a:rPr>
              <a:t>Exception: The terms lead client service partner and global lead client service partner are acceptable.</a:t>
            </a:r>
            <a:endParaRPr lang="en-US">
              <a:cs typeface="Calibri"/>
            </a:endParaRPr>
          </a:p>
          <a:p>
            <a:pPr marL="347345" lvl="1" indent="-171450">
              <a:spcAft>
                <a:spcPts val="600"/>
              </a:spcAft>
              <a:buFont typeface="Aptos" panose="020B0004020202020204" pitchFamily="34" charset="0"/>
              <a:buChar char="−"/>
            </a:pPr>
            <a:r>
              <a:rPr lang="en-US" sz="1000">
                <a:cs typeface="Calibri"/>
              </a:rPr>
              <a:t>Do not say the US and Canadian Deloitte firms are partners in a new initiative.</a:t>
            </a:r>
            <a:endParaRPr lang="en-US">
              <a:cs typeface="Calibri"/>
            </a:endParaRPr>
          </a:p>
          <a:p>
            <a:pPr marL="347345" lvl="1" indent="-171450">
              <a:spcAft>
                <a:spcPts val="600"/>
              </a:spcAft>
              <a:buFont typeface="Aptos" panose="020B0004020202020204" pitchFamily="34" charset="0"/>
              <a:buChar char="−"/>
            </a:pPr>
            <a:r>
              <a:rPr lang="en-US" sz="1000">
                <a:cs typeface="Calibri"/>
              </a:rPr>
              <a:t>Always lower-case partner unless it’s beginning a sentence.</a:t>
            </a:r>
            <a:endParaRPr lang="en-US">
              <a:cs typeface="Calibri"/>
            </a:endParaRPr>
          </a:p>
          <a:p>
            <a:pPr marL="347345" lvl="1" indent="-171450">
              <a:spcAft>
                <a:spcPts val="600"/>
              </a:spcAft>
              <a:buFont typeface="Aptos" panose="020B0004020202020204" pitchFamily="34" charset="0"/>
              <a:buChar char="−"/>
            </a:pPr>
            <a:r>
              <a:rPr lang="en-US" sz="1000">
                <a:cs typeface="Calibri"/>
              </a:rPr>
              <a:t>Use Deloitte [country] partners, Deloitte leaders, or Deloitte member firm partners. The latter is an exception where it’s recommended to use member firm instead of Deloitte or Deloitte firm.</a:t>
            </a:r>
            <a:endParaRPr lang="en-US">
              <a:cs typeface="Calibri"/>
            </a:endParaRPr>
          </a:p>
          <a:p>
            <a:pPr marL="347345" lvl="1" indent="-171450">
              <a:spcAft>
                <a:spcPts val="600"/>
              </a:spcAft>
              <a:buFont typeface="Aptos" panose="020B0004020202020204" pitchFamily="34" charset="0"/>
              <a:buChar char="−"/>
            </a:pPr>
            <a:r>
              <a:rPr lang="en-US" sz="1000">
                <a:cs typeface="Calibri"/>
              </a:rPr>
              <a:t>Do not say Deloitte partners, Deloitte firm partners or Deloitte Global partners. These terms may incorrectly imply that Deloitte Global or the Deloitte network are partnerships.</a:t>
            </a:r>
            <a:endParaRPr lang="en-US">
              <a:cs typeface="Calibri"/>
            </a:endParaRPr>
          </a:p>
          <a:p>
            <a:pPr marL="347345" lvl="1" indent="-171450">
              <a:spcAft>
                <a:spcPts val="600"/>
              </a:spcAft>
              <a:buFont typeface="Aptos" panose="020B0004020202020204" pitchFamily="34" charset="0"/>
              <a:buChar char="−"/>
            </a:pPr>
            <a:r>
              <a:rPr lang="en-US" sz="1000">
                <a:cs typeface="Calibri"/>
              </a:rPr>
              <a:t>Do not use the phrase global partnership in reference to Deloitte or any entity within the Deloitte network.</a:t>
            </a:r>
            <a:endParaRPr lang="en-US">
              <a:cs typeface="Calibri"/>
            </a:endParaRPr>
          </a:p>
          <a:p>
            <a:pPr marL="347345" lvl="1" indent="-171450">
              <a:spcAft>
                <a:spcPts val="600"/>
              </a:spcAft>
              <a:buFont typeface="Aptos" panose="020B0004020202020204" pitchFamily="34" charset="0"/>
              <a:buChar char="−"/>
            </a:pPr>
            <a:r>
              <a:rPr lang="en-US" sz="1000">
                <a:cs typeface="Calibri"/>
              </a:rPr>
              <a:t>Avoid using partner, partnering, or partnership when referring to clients and alliances.</a:t>
            </a:r>
            <a:endParaRPr lang="en-US">
              <a:cs typeface="Calibri"/>
            </a:endParaRPr>
          </a:p>
          <a:p>
            <a:pPr marL="347345" lvl="1" indent="-171450">
              <a:spcAft>
                <a:spcPts val="600"/>
              </a:spcAft>
              <a:buFont typeface="Aptos" panose="020B0004020202020204" pitchFamily="34" charset="0"/>
              <a:buChar char="−"/>
            </a:pPr>
            <a:r>
              <a:rPr lang="en-US" sz="1000">
                <a:cs typeface="Calibri"/>
              </a:rPr>
              <a:t>Do not say Deloitte Japan is partnering with the company.</a:t>
            </a:r>
          </a:p>
        </p:txBody>
      </p:sp>
      <p:sp>
        <p:nvSpPr>
          <p:cNvPr id="7" name="TextBox 6">
            <a:extLst>
              <a:ext uri="{FF2B5EF4-FFF2-40B4-BE49-F238E27FC236}">
                <a16:creationId xmlns:a16="http://schemas.microsoft.com/office/drawing/2014/main" id="{82245B43-A735-534E-8944-3569B2D825EA}"/>
              </a:ext>
            </a:extLst>
          </p:cNvPr>
          <p:cNvSpPr txBox="1"/>
          <p:nvPr/>
        </p:nvSpPr>
        <p:spPr>
          <a:xfrm>
            <a:off x="8089900" y="1648301"/>
            <a:ext cx="3759200" cy="4366012"/>
          </a:xfrm>
          <a:prstGeom prst="rect">
            <a:avLst/>
          </a:prstGeom>
          <a:noFill/>
        </p:spPr>
        <p:txBody>
          <a:bodyPr wrap="square" lIns="0" tIns="0" rIns="0" bIns="0" numCol="1" spcCol="457200" rtlCol="0" anchor="t">
            <a:noAutofit/>
          </a:bodyPr>
          <a:lstStyle/>
          <a:p>
            <a:pPr marL="285750" indent="-285750">
              <a:spcAft>
                <a:spcPts val="600"/>
              </a:spcAft>
              <a:buFont typeface="Calibri" panose="020B0604020202020204" pitchFamily="34" charset="0"/>
              <a:buChar char="-"/>
            </a:pPr>
            <a:r>
              <a:rPr lang="en-US" sz="1000" b="1">
                <a:ea typeface="+mn-lt"/>
                <a:cs typeface="Calibri"/>
              </a:rPr>
              <a:t>Misrepresenting DTTL as providing services or having clients (never say </a:t>
            </a:r>
            <a:r>
              <a:rPr lang="en-US" sz="1000" b="1" i="1">
                <a:ea typeface="+mn-lt"/>
                <a:cs typeface="Calibri"/>
              </a:rPr>
              <a:t>DTTL clients </a:t>
            </a:r>
            <a:r>
              <a:rPr lang="en-US" sz="1000" b="1">
                <a:ea typeface="+mn-lt"/>
                <a:cs typeface="Calibri"/>
              </a:rPr>
              <a:t>or </a:t>
            </a:r>
            <a:r>
              <a:rPr lang="en-US" sz="1000" b="1" i="1">
                <a:ea typeface="+mn-lt"/>
                <a:cs typeface="Calibri"/>
              </a:rPr>
              <a:t>DTTL practitioners</a:t>
            </a:r>
            <a:r>
              <a:rPr lang="en-US" sz="1000" b="1">
                <a:ea typeface="+mn-lt"/>
                <a:cs typeface="Calibri"/>
              </a:rPr>
              <a:t>)</a:t>
            </a:r>
            <a:r>
              <a:rPr lang="en-US" sz="1000">
                <a:ea typeface="+mn-lt"/>
                <a:cs typeface="Calibri"/>
              </a:rPr>
              <a:t>. Never say or imply that DTTL or DTTL people provide client services.</a:t>
            </a:r>
            <a:endParaRPr lang="en-US">
              <a:ea typeface="+mn-lt"/>
              <a:cs typeface="Calibri"/>
            </a:endParaRPr>
          </a:p>
          <a:p>
            <a:pPr marL="285750" indent="-285750">
              <a:spcAft>
                <a:spcPts val="600"/>
              </a:spcAft>
              <a:buFont typeface="Calibri" panose="020B0604020202020204" pitchFamily="34" charset="0"/>
              <a:buChar char="-"/>
            </a:pPr>
            <a:r>
              <a:rPr lang="en-US" sz="1000" b="1">
                <a:cs typeface="Calibri"/>
              </a:rPr>
              <a:t>Creating an interpretation of giving an “assurance.” </a:t>
            </a:r>
            <a:r>
              <a:rPr lang="en-US" sz="1000">
                <a:cs typeface="Calibri"/>
              </a:rPr>
              <a:t>Do</a:t>
            </a:r>
            <a:r>
              <a:rPr lang="en-US" sz="1000" b="1">
                <a:cs typeface="Calibri"/>
              </a:rPr>
              <a:t> not </a:t>
            </a:r>
            <a:r>
              <a:rPr lang="en-US" sz="1000">
                <a:cs typeface="Calibri"/>
              </a:rPr>
              <a:t>say, for example</a:t>
            </a:r>
            <a:r>
              <a:rPr lang="en-US" sz="1000">
                <a:ea typeface="+mn-lt"/>
                <a:cs typeface="Calibri"/>
              </a:rPr>
              <a:t>, “The company will avoid risk by using this approach.” The approach cannot guarantee against risk—it can help reduce the chances of risk, or mitigate risk, etc. Replace words like will and must with may and should, or are designed to help</a:t>
            </a:r>
            <a:endParaRPr lang="en-US">
              <a:ea typeface="+mn-lt"/>
              <a:cs typeface="Calibri"/>
            </a:endParaRPr>
          </a:p>
          <a:p>
            <a:pPr marL="285750" indent="-285750">
              <a:spcAft>
                <a:spcPts val="600"/>
              </a:spcAft>
              <a:buFont typeface="Calibri" panose="020B0604020202020204" pitchFamily="34" charset="0"/>
              <a:buChar char="-"/>
            </a:pPr>
            <a:r>
              <a:rPr lang="en-US" sz="1000" b="1">
                <a:ea typeface="+mn-lt"/>
                <a:cs typeface="Calibri"/>
              </a:rPr>
              <a:t>Only</a:t>
            </a:r>
            <a:r>
              <a:rPr lang="en-US" sz="1000" b="1">
                <a:ea typeface="+mn-lt"/>
                <a:cs typeface="+mn-lt"/>
              </a:rPr>
              <a:t> use absolute statements that can be substantiated. </a:t>
            </a:r>
            <a:r>
              <a:rPr lang="en-US" sz="1000">
                <a:ea typeface="+mn-lt"/>
                <a:cs typeface="+mn-lt"/>
              </a:rPr>
              <a:t>For example, writing, Deloitte is the largest professional services network by global aggregate revenue is a statement we can substantiate.</a:t>
            </a:r>
            <a:endParaRPr lang="en-US"/>
          </a:p>
          <a:p>
            <a:endParaRPr lang="en-US" sz="1000" b="1">
              <a:solidFill>
                <a:srgbClr val="0076A8"/>
              </a:solidFill>
              <a:cs typeface="Calibri"/>
            </a:endParaRPr>
          </a:p>
          <a:p>
            <a:r>
              <a:rPr lang="en-US" sz="1000" b="1">
                <a:solidFill>
                  <a:srgbClr val="000000"/>
                </a:solidFill>
                <a:cs typeface="Calibri"/>
              </a:rPr>
              <a:t>Member firms</a:t>
            </a:r>
            <a:endParaRPr lang="en-US">
              <a:solidFill>
                <a:srgbClr val="000000"/>
              </a:solidFill>
              <a:cs typeface="Calibri"/>
            </a:endParaRPr>
          </a:p>
          <a:p>
            <a:pPr marL="171450" indent="-171450">
              <a:spcAft>
                <a:spcPts val="600"/>
              </a:spcAft>
              <a:buFont typeface="Calibri"/>
              <a:buChar char="-"/>
            </a:pPr>
            <a:r>
              <a:rPr lang="en-US" sz="1000">
                <a:cs typeface="Calibri"/>
              </a:rPr>
              <a:t>Member firm refers to an entity that signed membership documentation with Deloitte Global. All member firms are considered Deloitte firms, but not all Deloitte firms are member firms.</a:t>
            </a:r>
            <a:endParaRPr lang="en-US">
              <a:cs typeface="Calibri"/>
            </a:endParaRPr>
          </a:p>
          <a:p>
            <a:pPr marL="171450" indent="-171450">
              <a:spcAft>
                <a:spcPts val="600"/>
              </a:spcAft>
              <a:buFont typeface="Calibri"/>
              <a:buChar char="-"/>
            </a:pPr>
            <a:r>
              <a:rPr lang="en-US" sz="1000">
                <a:cs typeface="Calibri"/>
              </a:rPr>
              <a:t>Try to limit the use of member firm to references that specifically include only those firms that have membership agreements with DTTL.</a:t>
            </a:r>
            <a:endParaRPr lang="en-US">
              <a:cs typeface="Calibri"/>
            </a:endParaRPr>
          </a:p>
          <a:p>
            <a:pPr marL="171450" indent="-171450">
              <a:spcAft>
                <a:spcPts val="600"/>
              </a:spcAft>
              <a:buFont typeface="Calibri"/>
              <a:buChar char="-"/>
            </a:pPr>
            <a:r>
              <a:rPr lang="en-US" sz="1000">
                <a:ea typeface="+mn-lt"/>
                <a:cs typeface="+mn-lt"/>
              </a:rPr>
              <a:t>Exception: When referring to member firm partners generally, you should say </a:t>
            </a:r>
            <a:r>
              <a:rPr lang="en-US" sz="1000" i="1">
                <a:ea typeface="+mn-lt"/>
                <a:cs typeface="+mn-lt"/>
              </a:rPr>
              <a:t>Deloitte member firm partners</a:t>
            </a:r>
            <a:r>
              <a:rPr lang="en-US" sz="1000">
                <a:ea typeface="+mn-lt"/>
                <a:cs typeface="+mn-lt"/>
              </a:rPr>
              <a:t>.</a:t>
            </a:r>
            <a:endParaRPr lang="en-US" i="1">
              <a:ea typeface="+mn-lt"/>
              <a:cs typeface="+mn-lt"/>
            </a:endParaRPr>
          </a:p>
          <a:p>
            <a:pPr marL="171450" indent="-171450">
              <a:spcAft>
                <a:spcPts val="600"/>
              </a:spcAft>
              <a:buFont typeface="Calibri"/>
              <a:buChar char="-"/>
            </a:pPr>
            <a:r>
              <a:rPr lang="en-US" sz="1000" i="1">
                <a:ea typeface="+mn-lt"/>
                <a:cs typeface="+mn-lt"/>
              </a:rPr>
              <a:t>(continued on next slide)</a:t>
            </a:r>
            <a:endParaRPr lang="en-US" i="1"/>
          </a:p>
          <a:p>
            <a:pPr>
              <a:spcAft>
                <a:spcPts val="600"/>
              </a:spcAft>
            </a:pPr>
            <a:endParaRPr lang="en-US" sz="1000">
              <a:cs typeface="Calibri" panose="020F0502020204030204" pitchFamily="34" charset="0"/>
            </a:endParaRPr>
          </a:p>
        </p:txBody>
      </p:sp>
    </p:spTree>
    <p:extLst>
      <p:ext uri="{BB962C8B-B14F-4D97-AF65-F5344CB8AC3E}">
        <p14:creationId xmlns:p14="http://schemas.microsoft.com/office/powerpoint/2010/main" val="56294363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EED6190-1806-9645-9FAC-622EAFC6CDB7}"/>
              </a:ext>
            </a:extLst>
          </p:cNvPr>
          <p:cNvSpPr>
            <a:spLocks noGrp="1"/>
          </p:cNvSpPr>
          <p:nvPr>
            <p:ph type="body" sz="quarter" idx="13"/>
          </p:nvPr>
        </p:nvSpPr>
        <p:spPr>
          <a:xfrm>
            <a:off x="342900" y="684000"/>
            <a:ext cx="11506200" cy="757255"/>
          </a:xfrm>
        </p:spPr>
        <p:txBody>
          <a:bodyPr/>
          <a:lstStyle/>
          <a:p>
            <a:r>
              <a:rPr lang="en-US"/>
              <a:t>Style and usage</a:t>
            </a:r>
          </a:p>
        </p:txBody>
      </p:sp>
      <p:sp>
        <p:nvSpPr>
          <p:cNvPr id="6" name="Title 1">
            <a:extLst>
              <a:ext uri="{FF2B5EF4-FFF2-40B4-BE49-F238E27FC236}">
                <a16:creationId xmlns:a16="http://schemas.microsoft.com/office/drawing/2014/main" id="{338E4595-E651-F74E-B744-88EF1D39FFC3}"/>
              </a:ext>
            </a:extLst>
          </p:cNvPr>
          <p:cNvSpPr>
            <a:spLocks noGrp="1"/>
          </p:cNvSpPr>
          <p:nvPr>
            <p:ph type="title"/>
          </p:nvPr>
        </p:nvSpPr>
        <p:spPr/>
        <p:txBody>
          <a:bodyPr/>
          <a:lstStyle/>
          <a:p>
            <a:pPr>
              <a:spcBef>
                <a:spcPct val="0"/>
              </a:spcBef>
            </a:pPr>
            <a:r>
              <a:rPr lang="en-US">
                <a:solidFill>
                  <a:schemeClr val="tx1"/>
                </a:solidFill>
                <a:cs typeface="Calibri"/>
              </a:rPr>
              <a:t>GFS Style Guide | </a:t>
            </a:r>
            <a:r>
              <a:rPr lang="en-US" b="1"/>
              <a:t>Language and style</a:t>
            </a:r>
            <a:endParaRPr lang="en-US">
              <a:solidFill>
                <a:schemeClr val="tx1"/>
              </a:solidFill>
              <a:latin typeface="+mj-lt"/>
            </a:endParaRPr>
          </a:p>
        </p:txBody>
      </p:sp>
      <p:sp>
        <p:nvSpPr>
          <p:cNvPr id="5" name="Content Placeholder 2">
            <a:extLst>
              <a:ext uri="{FF2B5EF4-FFF2-40B4-BE49-F238E27FC236}">
                <a16:creationId xmlns:a16="http://schemas.microsoft.com/office/drawing/2014/main" id="{A2A41A60-4B67-6C39-0869-9A46A14D5563}"/>
              </a:ext>
            </a:extLst>
          </p:cNvPr>
          <p:cNvSpPr txBox="1">
            <a:spLocks/>
          </p:cNvSpPr>
          <p:nvPr/>
        </p:nvSpPr>
        <p:spPr>
          <a:xfrm>
            <a:off x="342900" y="1104028"/>
            <a:ext cx="11256264" cy="404051"/>
          </a:xfrm>
          <a:prstGeom prst="rect">
            <a:avLst/>
          </a:prstGeom>
        </p:spPr>
        <p:txBody>
          <a:bodyPr lIns="0" tIns="0" rIns="0"/>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ea typeface="Verdana" panose="020B0604030504040204" pitchFamily="34" charset="0"/>
                <a:cs typeface="Calibri" panose="020F0502020204030204" pitchFamily="34" charset="0"/>
              </a:rPr>
              <a:t>Deloitte Brand maintains a comprehensive </a:t>
            </a:r>
            <a:r>
              <a:rPr lang="en-US">
                <a:ea typeface="Verdana" panose="020B0604030504040204" pitchFamily="34" charset="0"/>
                <a:cs typeface="Calibri" panose="020F0502020204030204" pitchFamily="34" charset="0"/>
                <a:hlinkClick r:id="rId2"/>
              </a:rPr>
              <a:t>DTTL Language &amp; Style Guide</a:t>
            </a:r>
            <a:r>
              <a:rPr lang="en-US">
                <a:ea typeface="Verdana" panose="020B0604030504040204" pitchFamily="34" charset="0"/>
                <a:cs typeface="Calibri" panose="020F0502020204030204" pitchFamily="34" charset="0"/>
              </a:rPr>
              <a:t> on Brand space. We’re including the following excerpts to cover common instances you may encounter, but we encourage you to defer to the Language &amp; Style Guide and check for updates on a regular basis.  </a:t>
            </a:r>
          </a:p>
        </p:txBody>
      </p:sp>
      <p:sp>
        <p:nvSpPr>
          <p:cNvPr id="4" name="TextBox 3">
            <a:extLst>
              <a:ext uri="{FF2B5EF4-FFF2-40B4-BE49-F238E27FC236}">
                <a16:creationId xmlns:a16="http://schemas.microsoft.com/office/drawing/2014/main" id="{7575A721-3DAD-95FA-FF90-477272051D36}"/>
              </a:ext>
            </a:extLst>
          </p:cNvPr>
          <p:cNvSpPr txBox="1"/>
          <p:nvPr/>
        </p:nvSpPr>
        <p:spPr>
          <a:xfrm>
            <a:off x="342900" y="1630002"/>
            <a:ext cx="3751546" cy="4820539"/>
          </a:xfrm>
          <a:prstGeom prst="rect">
            <a:avLst/>
          </a:prstGeom>
          <a:noFill/>
        </p:spPr>
        <p:txBody>
          <a:bodyPr wrap="square" lIns="0" tIns="0" rIns="0" bIns="0" numCol="1" spcCol="457200" rtlCol="0" anchor="t">
            <a:noAutofit/>
          </a:bodyPr>
          <a:lstStyle/>
          <a:p>
            <a:pPr marL="171450" indent="-171450">
              <a:spcAft>
                <a:spcPts val="600"/>
              </a:spcAft>
              <a:buFont typeface="Calibri,Sans-Serif"/>
              <a:buChar char="-"/>
            </a:pPr>
            <a:r>
              <a:rPr lang="en-US" sz="1000">
                <a:solidFill>
                  <a:srgbClr val="000000"/>
                </a:solidFill>
                <a:cs typeface="Calibri"/>
              </a:rPr>
              <a:t>When referring to Deloitte revenue, use the term </a:t>
            </a:r>
            <a:r>
              <a:rPr lang="en-US" sz="1000" i="1">
                <a:solidFill>
                  <a:srgbClr val="000000"/>
                </a:solidFill>
                <a:cs typeface="Calibri"/>
              </a:rPr>
              <a:t>Deloitte aggregate member firm revenue </a:t>
            </a:r>
            <a:r>
              <a:rPr lang="en-US" sz="1000">
                <a:solidFill>
                  <a:srgbClr val="000000"/>
                </a:solidFill>
                <a:cs typeface="Calibri"/>
              </a:rPr>
              <a:t>or </a:t>
            </a:r>
            <a:r>
              <a:rPr lang="en-US" sz="1000" i="1">
                <a:solidFill>
                  <a:srgbClr val="000000"/>
                </a:solidFill>
                <a:cs typeface="Calibri"/>
              </a:rPr>
              <a:t>aggregate Deloitte firm revenue </a:t>
            </a:r>
            <a:r>
              <a:rPr lang="en-US" sz="1000">
                <a:solidFill>
                  <a:srgbClr val="000000"/>
                </a:solidFill>
                <a:cs typeface="Calibri"/>
              </a:rPr>
              <a:t>on first reference. In subsequent references, the phrase </a:t>
            </a:r>
            <a:r>
              <a:rPr lang="en-US" sz="1000" i="1">
                <a:solidFill>
                  <a:srgbClr val="000000"/>
                </a:solidFill>
                <a:cs typeface="Calibri"/>
              </a:rPr>
              <a:t>Deloitte revenue </a:t>
            </a:r>
            <a:r>
              <a:rPr lang="en-US" sz="1000">
                <a:solidFill>
                  <a:srgbClr val="000000"/>
                </a:solidFill>
                <a:cs typeface="Calibri"/>
              </a:rPr>
              <a:t>may be used. </a:t>
            </a:r>
          </a:p>
          <a:p>
            <a:r>
              <a:rPr lang="en-US" sz="1000">
                <a:solidFill>
                  <a:srgbClr val="000000"/>
                </a:solidFill>
                <a:cs typeface="Calibri"/>
              </a:rPr>
              <a:t>The preferred way to reference a specific member firm is Deloitte+[territory]:</a:t>
            </a:r>
          </a:p>
          <a:p>
            <a:pPr marL="171450" indent="-171450">
              <a:buFont typeface="Calibri,Sans-Serif"/>
              <a:buChar char="-"/>
            </a:pPr>
            <a:r>
              <a:rPr lang="en-US" sz="1000" i="1">
                <a:solidFill>
                  <a:srgbClr val="000000"/>
                </a:solidFill>
                <a:cs typeface="Calibri"/>
              </a:rPr>
              <a:t>Deloitte North and South Europe</a:t>
            </a:r>
            <a:endParaRPr lang="en-US" sz="1000">
              <a:solidFill>
                <a:srgbClr val="000000"/>
              </a:solidFill>
              <a:cs typeface="Calibri"/>
            </a:endParaRPr>
          </a:p>
          <a:p>
            <a:pPr marL="171450" indent="-171450">
              <a:buFont typeface="Calibri,Sans-Serif"/>
              <a:buChar char="-"/>
            </a:pPr>
            <a:r>
              <a:rPr lang="en-US" sz="1000" i="1">
                <a:solidFill>
                  <a:srgbClr val="000000"/>
                </a:solidFill>
                <a:cs typeface="Calibri"/>
              </a:rPr>
              <a:t>Deloitte Canada</a:t>
            </a:r>
            <a:endParaRPr lang="en-US" sz="1000">
              <a:solidFill>
                <a:srgbClr val="000000"/>
              </a:solidFill>
              <a:cs typeface="Calibri"/>
            </a:endParaRPr>
          </a:p>
          <a:p>
            <a:pPr marL="171450" indent="-171450">
              <a:buFont typeface="Calibri,Sans-Serif"/>
              <a:buChar char="-"/>
            </a:pPr>
            <a:r>
              <a:rPr lang="en-US" sz="1000" i="1">
                <a:solidFill>
                  <a:srgbClr val="000000"/>
                </a:solidFill>
                <a:cs typeface="Calibri"/>
              </a:rPr>
              <a:t>Deloitte Asia Pacific</a:t>
            </a:r>
            <a:endParaRPr lang="en-US" sz="1000">
              <a:solidFill>
                <a:srgbClr val="000000"/>
              </a:solidFill>
              <a:cs typeface="Calibri"/>
            </a:endParaRPr>
          </a:p>
          <a:p>
            <a:endParaRPr lang="en-US" sz="1000">
              <a:solidFill>
                <a:srgbClr val="000000"/>
              </a:solidFill>
              <a:cs typeface="Calibri"/>
            </a:endParaRPr>
          </a:p>
          <a:p>
            <a:r>
              <a:rPr lang="en-US" sz="1000" b="1">
                <a:solidFill>
                  <a:srgbClr val="00A3E0"/>
                </a:solidFill>
                <a:cs typeface="Calibri"/>
              </a:rPr>
              <a:t>Always lowercase </a:t>
            </a:r>
            <a:r>
              <a:rPr lang="en-US" sz="1000" b="1" i="1">
                <a:solidFill>
                  <a:srgbClr val="00A3E0"/>
                </a:solidFill>
                <a:cs typeface="Calibri"/>
              </a:rPr>
              <a:t>member firm(s) </a:t>
            </a:r>
            <a:r>
              <a:rPr lang="en-US" sz="1000" b="1">
                <a:solidFill>
                  <a:srgbClr val="00A3E0"/>
                </a:solidFill>
                <a:cs typeface="Calibri"/>
              </a:rPr>
              <a:t>unless it begins a sentence, then capitaliz</a:t>
            </a:r>
            <a:r>
              <a:rPr lang="en-US" sz="1000">
                <a:solidFill>
                  <a:srgbClr val="00A3E0"/>
                </a:solidFill>
                <a:cs typeface="Calibri"/>
              </a:rPr>
              <a:t>e</a:t>
            </a:r>
            <a:r>
              <a:rPr lang="en-US" sz="1000" b="1">
                <a:solidFill>
                  <a:srgbClr val="00A3E0"/>
                </a:solidFill>
                <a:cs typeface="Calibri"/>
              </a:rPr>
              <a:t> </a:t>
            </a:r>
            <a:r>
              <a:rPr lang="en-US" sz="1000" b="1" i="1">
                <a:solidFill>
                  <a:srgbClr val="00A3E0"/>
                </a:solidFill>
                <a:cs typeface="Calibri"/>
              </a:rPr>
              <a:t>member </a:t>
            </a:r>
            <a:r>
              <a:rPr lang="en-US" sz="1000" b="1">
                <a:solidFill>
                  <a:srgbClr val="00A3E0"/>
                </a:solidFill>
                <a:cs typeface="Calibri"/>
              </a:rPr>
              <a:t>only.</a:t>
            </a:r>
            <a:endParaRPr lang="en-US" sz="1000">
              <a:solidFill>
                <a:srgbClr val="00A3E0"/>
              </a:solidFill>
              <a:cs typeface="Calibri"/>
            </a:endParaRPr>
          </a:p>
          <a:p>
            <a:br>
              <a:rPr lang="en-US" sz="1000" b="1">
                <a:solidFill>
                  <a:srgbClr val="0076A8"/>
                </a:solidFill>
                <a:cs typeface="Calibri"/>
              </a:rPr>
            </a:br>
            <a:r>
              <a:rPr lang="en-US" sz="1000" b="1">
                <a:cs typeface="Calibri"/>
              </a:rPr>
              <a:t>Businesses</a:t>
            </a:r>
            <a:endParaRPr lang="en-US">
              <a:cs typeface="Calibri"/>
            </a:endParaRPr>
          </a:p>
          <a:p>
            <a:r>
              <a:rPr lang="en-US" sz="1000" i="1">
                <a:ea typeface="+mn-lt"/>
                <a:cs typeface="+mn-lt"/>
              </a:rPr>
              <a:t>Businesses </a:t>
            </a:r>
            <a:r>
              <a:rPr lang="en-US" sz="1000">
                <a:ea typeface="+mn-lt"/>
                <a:cs typeface="+mn-lt"/>
              </a:rPr>
              <a:t>is preferred over </a:t>
            </a:r>
            <a:r>
              <a:rPr lang="en-US" sz="1000" i="1">
                <a:ea typeface="+mn-lt"/>
                <a:cs typeface="+mn-lt"/>
              </a:rPr>
              <a:t>functions </a:t>
            </a:r>
            <a:r>
              <a:rPr lang="en-US" sz="1000">
                <a:ea typeface="+mn-lt"/>
                <a:cs typeface="+mn-lt"/>
              </a:rPr>
              <a:t>when referring to Deloitte’s primary businesses of Audit &amp; Assurance, Consulting, Financial Advisory, Risk Advisory and Tax (for legal and regulatory reasons, not all Deloitte firms provide legal services).</a:t>
            </a:r>
            <a:endParaRPr lang="en-US"/>
          </a:p>
          <a:p>
            <a:endParaRPr lang="en-US" sz="1000">
              <a:ea typeface="+mn-lt"/>
              <a:cs typeface="+mn-lt"/>
            </a:endParaRPr>
          </a:p>
          <a:p>
            <a:r>
              <a:rPr lang="en-US" sz="1000">
                <a:ea typeface="+mn-lt"/>
                <a:cs typeface="+mn-lt"/>
              </a:rPr>
              <a:t>Capitalize if used as a proper </a:t>
            </a:r>
            <a:r>
              <a:rPr lang="en-US" sz="1000" err="1">
                <a:ea typeface="+mn-lt"/>
                <a:cs typeface="+mn-lt"/>
              </a:rPr>
              <a:t>name,but</a:t>
            </a:r>
            <a:r>
              <a:rPr lang="en-US" sz="1000">
                <a:ea typeface="+mn-lt"/>
                <a:cs typeface="+mn-lt"/>
              </a:rPr>
              <a:t> lowercase if the reference is generic.</a:t>
            </a:r>
            <a:endParaRPr lang="en-US">
              <a:ea typeface="+mn-lt"/>
              <a:cs typeface="+mn-lt"/>
            </a:endParaRPr>
          </a:p>
          <a:p>
            <a:r>
              <a:rPr lang="en-US" sz="1000" i="1">
                <a:ea typeface="+mn-lt"/>
                <a:cs typeface="+mn-lt"/>
              </a:rPr>
              <a:t>Deloitte Consulting LLP provides consulting services in the US.</a:t>
            </a:r>
            <a:endParaRPr lang="en-US" i="1">
              <a:ea typeface="+mn-lt"/>
              <a:cs typeface="+mn-lt"/>
            </a:endParaRPr>
          </a:p>
          <a:p>
            <a:br>
              <a:rPr lang="en-US" sz="1000" b="1">
                <a:solidFill>
                  <a:srgbClr val="C00000"/>
                </a:solidFill>
                <a:cs typeface="Calibri"/>
              </a:rPr>
            </a:br>
            <a:r>
              <a:rPr lang="en-US" sz="1000" b="1">
                <a:cs typeface="Calibri"/>
              </a:rPr>
              <a:t>Centers of excellence (COEs)</a:t>
            </a:r>
          </a:p>
          <a:p>
            <a:r>
              <a:rPr lang="en-US" sz="1000">
                <a:ea typeface="+mn-lt"/>
                <a:cs typeface="+mn-lt"/>
              </a:rPr>
              <a:t>Centers of excellence (COEs) are generally virtual pools of specialists with roles in pursuits, delivery support or educational support, which are available to assist Deloitte firms. Some COEs do not provide services to clients, while other COEs may do so. If a specialist from a COE provides client service on behalf of a Deloitte firm, such specialist will be assigned to that Deloitte firm. </a:t>
            </a:r>
            <a:endParaRPr lang="en-US" sz="1000">
              <a:cs typeface="Calibri"/>
            </a:endParaRPr>
          </a:p>
        </p:txBody>
      </p:sp>
      <p:sp>
        <p:nvSpPr>
          <p:cNvPr id="7" name="TextBox 6">
            <a:extLst>
              <a:ext uri="{FF2B5EF4-FFF2-40B4-BE49-F238E27FC236}">
                <a16:creationId xmlns:a16="http://schemas.microsoft.com/office/drawing/2014/main" id="{08F3B147-ADB0-D1C6-7396-874F95A8B8D6}"/>
              </a:ext>
            </a:extLst>
          </p:cNvPr>
          <p:cNvSpPr txBox="1"/>
          <p:nvPr/>
        </p:nvSpPr>
        <p:spPr>
          <a:xfrm>
            <a:off x="4216401" y="1628775"/>
            <a:ext cx="3751546" cy="4353298"/>
          </a:xfrm>
          <a:prstGeom prst="rect">
            <a:avLst/>
          </a:prstGeom>
          <a:noFill/>
        </p:spPr>
        <p:txBody>
          <a:bodyPr wrap="square" lIns="0" tIns="0" rIns="0" bIns="0" numCol="1" spcCol="457200" rtlCol="0" anchor="t">
            <a:noAutofit/>
          </a:bodyPr>
          <a:lstStyle/>
          <a:p>
            <a:r>
              <a:rPr lang="en-US" sz="1000">
                <a:cs typeface="Calibri"/>
              </a:rPr>
              <a:t>COEs may be temporary, helping Deloitte firms build capabilities overtime and disbanding when necessary scale is achieved. Or, they may be permanent, ongoing sources of support for Deloitte firms.</a:t>
            </a:r>
          </a:p>
          <a:p>
            <a:endParaRPr lang="en-US" sz="1000">
              <a:cs typeface="Calibri"/>
            </a:endParaRPr>
          </a:p>
          <a:p>
            <a:r>
              <a:rPr lang="en-US" sz="1000">
                <a:cs typeface="Calibri"/>
              </a:rPr>
              <a:t>Lowercase, unless it is part of a proper name. It can be abbreviated </a:t>
            </a:r>
            <a:r>
              <a:rPr lang="en-US" sz="1000" i="1">
                <a:cs typeface="Calibri"/>
              </a:rPr>
              <a:t>COE/COEs </a:t>
            </a:r>
            <a:r>
              <a:rPr lang="en-US" sz="1000">
                <a:cs typeface="Calibri"/>
              </a:rPr>
              <a:t>after being spelled out in the first instance.</a:t>
            </a:r>
          </a:p>
          <a:p>
            <a:pPr>
              <a:spcAft>
                <a:spcPts val="600"/>
              </a:spcAft>
            </a:pPr>
            <a:endParaRPr lang="en-US" sz="1000">
              <a:cs typeface="Calibri"/>
            </a:endParaRPr>
          </a:p>
          <a:p>
            <a:r>
              <a:rPr lang="en-US" sz="1000" b="1">
                <a:cs typeface="Calibri"/>
              </a:rPr>
              <a:t>Enabling areas (EAs) </a:t>
            </a:r>
            <a:endParaRPr lang="en-US">
              <a:cs typeface="Calibri"/>
            </a:endParaRPr>
          </a:p>
          <a:p>
            <a:r>
              <a:rPr lang="en-US" sz="1000">
                <a:ea typeface="+mn-lt"/>
                <a:cs typeface="+mn-lt"/>
              </a:rPr>
              <a:t>Areas that support the Deloitte network and its businesses are considered enabling areas. Only capitalize enabling if it’s the first word of a sentence. It can be abbreviated EAs after being spelled out in the first instance.</a:t>
            </a:r>
            <a:endParaRPr lang="en-US"/>
          </a:p>
          <a:p>
            <a:pPr>
              <a:spcAft>
                <a:spcPts val="600"/>
              </a:spcAft>
            </a:pPr>
            <a:endParaRPr lang="en-US" sz="1000">
              <a:ea typeface="+mn-lt"/>
              <a:cs typeface="+mn-lt"/>
            </a:endParaRPr>
          </a:p>
          <a:p>
            <a:pPr>
              <a:spcAft>
                <a:spcPts val="600"/>
              </a:spcAft>
            </a:pPr>
            <a:r>
              <a:rPr lang="en-US" sz="1000">
                <a:ea typeface="+mn-lt"/>
                <a:cs typeface="+mn-lt"/>
              </a:rPr>
              <a:t>Examples include, but are not limited to: Clients &amp; Industries, Innovation, Talent, Technology, Finance, Communications, Brand, and Analyst Relations.</a:t>
            </a:r>
            <a:endParaRPr lang="en-US">
              <a:ea typeface="+mn-lt"/>
              <a:cs typeface="+mn-lt"/>
            </a:endParaRPr>
          </a:p>
          <a:p>
            <a:r>
              <a:rPr lang="en-US" sz="1000" b="1">
                <a:cs typeface="Calibri" panose="020F0502020204030204" pitchFamily="34" charset="0"/>
              </a:rPr>
              <a:t>Financial Advisory</a:t>
            </a:r>
          </a:p>
          <a:p>
            <a:pPr>
              <a:spcAft>
                <a:spcPts val="600"/>
              </a:spcAft>
            </a:pPr>
            <a:r>
              <a:rPr lang="en-US" sz="1000">
                <a:cs typeface="Calibri"/>
              </a:rPr>
              <a:t>The group formerly called Financial Advisory Services, or FAS, is now known as Financial Advisory (FA). Do not use FAS.</a:t>
            </a:r>
          </a:p>
          <a:p>
            <a:r>
              <a:rPr lang="en-US" sz="1000" b="1">
                <a:cs typeface="Calibri"/>
              </a:rPr>
              <a:t>People/professionals/practitioners</a:t>
            </a:r>
            <a:endParaRPr lang="en-US" sz="1000" b="1">
              <a:cs typeface="Calibri" panose="020F0502020204030204" pitchFamily="34" charset="0"/>
            </a:endParaRPr>
          </a:p>
          <a:p>
            <a:r>
              <a:rPr lang="en-US" sz="1000">
                <a:ea typeface="+mn-lt"/>
                <a:cs typeface="+mn-lt"/>
              </a:rPr>
              <a:t>When referring to Deloitte people, the preferred terms are professional and practitioner. For client facing individuals, the preferred term is practitioner. For nonclient facing individuals, the preferred term is professional. Both terms are subject to local market, legal or regulatory requirements. Collectively, Deloitte people is acceptable when referring to groups that include both professionals and practitioners.</a:t>
            </a:r>
            <a:endParaRPr lang="en-US"/>
          </a:p>
        </p:txBody>
      </p:sp>
    </p:spTree>
    <p:extLst>
      <p:ext uri="{BB962C8B-B14F-4D97-AF65-F5344CB8AC3E}">
        <p14:creationId xmlns:p14="http://schemas.microsoft.com/office/powerpoint/2010/main" val="398357220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7F740-F4A2-501B-AFB2-427EC3AAE11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25F24D0-F60F-AFEC-13B3-0CE3EEC2FACB}"/>
              </a:ext>
            </a:extLst>
          </p:cNvPr>
          <p:cNvPicPr>
            <a:picLocks noGrp="1" noRot="1" noChangeAspect="1" noMove="1" noResize="1" noEditPoints="1" noAdjustHandles="1" noChangeArrowheads="1" noChangeShapeType="1" noCrop="1"/>
          </p:cNvPicPr>
          <p:nvPr/>
        </p:nvPicPr>
        <p:blipFill>
          <a:blip r:embed="rId2"/>
          <a:srcRect l="18665" r="45511"/>
          <a:stretch/>
        </p:blipFill>
        <p:spPr>
          <a:xfrm>
            <a:off x="7935309" y="324842"/>
            <a:ext cx="4256690" cy="6208316"/>
          </a:xfrm>
          <a:prstGeom prst="rect">
            <a:avLst/>
          </a:prstGeom>
        </p:spPr>
      </p:pic>
      <p:sp>
        <p:nvSpPr>
          <p:cNvPr id="5" name="Text Placeholder 4">
            <a:extLst>
              <a:ext uri="{FF2B5EF4-FFF2-40B4-BE49-F238E27FC236}">
                <a16:creationId xmlns:a16="http://schemas.microsoft.com/office/drawing/2014/main" id="{34298FA3-E6CD-21BE-B83D-7EB62FE096E4}"/>
              </a:ext>
            </a:extLst>
          </p:cNvPr>
          <p:cNvSpPr>
            <a:spLocks noGrp="1"/>
          </p:cNvSpPr>
          <p:nvPr>
            <p:ph type="body" sz="quarter" idx="13"/>
          </p:nvPr>
        </p:nvSpPr>
        <p:spPr/>
        <p:txBody>
          <a:bodyPr/>
          <a:lstStyle/>
          <a:p>
            <a:r>
              <a:rPr lang="en-US"/>
              <a:t>Purpose and usage</a:t>
            </a:r>
          </a:p>
        </p:txBody>
      </p:sp>
      <p:sp>
        <p:nvSpPr>
          <p:cNvPr id="6" name="Title 1">
            <a:extLst>
              <a:ext uri="{FF2B5EF4-FFF2-40B4-BE49-F238E27FC236}">
                <a16:creationId xmlns:a16="http://schemas.microsoft.com/office/drawing/2014/main" id="{F8B86920-4F48-225D-71D5-F93922EE287B}"/>
              </a:ext>
            </a:extLst>
          </p:cNvPr>
          <p:cNvSpPr>
            <a:spLocks noGrp="1"/>
          </p:cNvSpPr>
          <p:nvPr>
            <p:ph type="title"/>
          </p:nvPr>
        </p:nvSpPr>
        <p:spPr/>
        <p:txBody>
          <a:bodyPr/>
          <a:lstStyle/>
          <a:p>
            <a:pPr>
              <a:spcBef>
                <a:spcPct val="0"/>
              </a:spcBef>
            </a:pPr>
            <a:r>
              <a:rPr lang="en-US">
                <a:solidFill>
                  <a:schemeClr val="tx1"/>
                </a:solidFill>
                <a:cs typeface="Calibri"/>
              </a:rPr>
              <a:t>GFS Style Guide | </a:t>
            </a:r>
            <a:r>
              <a:rPr lang="en-US" b="1">
                <a:cs typeface="Calibri Light"/>
              </a:rPr>
              <a:t>Global tagline</a:t>
            </a:r>
            <a:endParaRPr lang="en-US">
              <a:solidFill>
                <a:schemeClr val="tx1"/>
              </a:solidFill>
              <a:latin typeface="+mj-lt"/>
            </a:endParaRPr>
          </a:p>
        </p:txBody>
      </p:sp>
      <p:sp>
        <p:nvSpPr>
          <p:cNvPr id="19" name="Content Placeholder 2">
            <a:extLst>
              <a:ext uri="{FF2B5EF4-FFF2-40B4-BE49-F238E27FC236}">
                <a16:creationId xmlns:a16="http://schemas.microsoft.com/office/drawing/2014/main" id="{3D6B4902-3B64-3089-2E2D-E5CD1842F5F3}"/>
              </a:ext>
            </a:extLst>
          </p:cNvPr>
          <p:cNvSpPr txBox="1">
            <a:spLocks/>
          </p:cNvSpPr>
          <p:nvPr/>
        </p:nvSpPr>
        <p:spPr>
          <a:xfrm>
            <a:off x="342900" y="1212235"/>
            <a:ext cx="9864356" cy="404051"/>
          </a:xfrm>
          <a:prstGeom prst="rect">
            <a:avLst/>
          </a:prstGeom>
        </p:spPr>
        <p:txBody>
          <a:bodyPr lIns="0" tIns="0" rIns="0" bIns="45720" anchor="t"/>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spcAft>
                <a:spcPts val="600"/>
              </a:spcAft>
              <a:defRPr/>
            </a:pPr>
            <a:r>
              <a:rPr lang="en-US" sz="1100" b="1">
                <a:solidFill>
                  <a:srgbClr val="00A3E0"/>
                </a:solidFill>
                <a:ea typeface="Open Sans"/>
                <a:cs typeface="Open Sans"/>
              </a:rPr>
              <a:t>Deloitte has a refreshed brand platform and its first-ever global tagline, </a:t>
            </a:r>
            <a:r>
              <a:rPr lang="en-US" sz="1100" b="1" i="1">
                <a:solidFill>
                  <a:srgbClr val="00A3E0"/>
                </a:solidFill>
                <a:ea typeface="Open Sans"/>
                <a:cs typeface="Open Sans"/>
                <a:hlinkClick r:id="rId3">
                  <a:extLst>
                    <a:ext uri="{A12FA001-AC4F-418D-AE19-62706E023703}">
                      <ahyp:hlinkClr xmlns:ahyp="http://schemas.microsoft.com/office/drawing/2018/hyperlinkcolor" val="tx"/>
                    </a:ext>
                  </a:extLst>
                </a:hlinkClick>
              </a:rPr>
              <a:t>Together makes progress</a:t>
            </a:r>
            <a:r>
              <a:rPr lang="en-US" sz="1100" b="1" i="1">
                <a:solidFill>
                  <a:srgbClr val="00A3E0"/>
                </a:solidFill>
                <a:ea typeface="Open Sans"/>
                <a:cs typeface="Open Sans"/>
              </a:rPr>
              <a:t>. </a:t>
            </a:r>
            <a:r>
              <a:rPr lang="en-US" sz="1100">
                <a:ea typeface="Open Sans"/>
                <a:cs typeface="Open Sans"/>
              </a:rPr>
              <a:t>This platform and tagline represent our collective identity—one that each of us has played a part in building and one that inspires trust and loyalty from our clients by highlighting our multidisciplinary model.</a:t>
            </a:r>
          </a:p>
        </p:txBody>
      </p:sp>
      <p:sp>
        <p:nvSpPr>
          <p:cNvPr id="3" name="TextBox 2">
            <a:extLst>
              <a:ext uri="{FF2B5EF4-FFF2-40B4-BE49-F238E27FC236}">
                <a16:creationId xmlns:a16="http://schemas.microsoft.com/office/drawing/2014/main" id="{9A1987D9-04BD-9CEE-0FDB-A288194AA978}"/>
              </a:ext>
            </a:extLst>
          </p:cNvPr>
          <p:cNvSpPr txBox="1"/>
          <p:nvPr/>
        </p:nvSpPr>
        <p:spPr>
          <a:xfrm>
            <a:off x="342900" y="1826229"/>
            <a:ext cx="7632700" cy="3123932"/>
          </a:xfrm>
          <a:prstGeom prst="rect">
            <a:avLst/>
          </a:prstGeom>
          <a:noFill/>
        </p:spPr>
        <p:txBody>
          <a:bodyPr wrap="square" lIns="0" tIns="0" rIns="0" bIns="0" numCol="1" spcCol="457200" rtlCol="0" anchor="t">
            <a:spAutoFit/>
          </a:bodyPr>
          <a:lstStyle/>
          <a:p>
            <a:pPr marL="0" lvl="1">
              <a:spcAft>
                <a:spcPts val="600"/>
              </a:spcAft>
              <a:defRPr/>
            </a:pPr>
            <a:r>
              <a:rPr lang="en-US" sz="1400" b="1">
                <a:solidFill>
                  <a:srgbClr val="00A3E0"/>
                </a:solidFill>
                <a:ea typeface="Open Sans"/>
                <a:cs typeface="Open Sans"/>
              </a:rPr>
              <a:t>Overview:</a:t>
            </a:r>
          </a:p>
          <a:p>
            <a:pPr lvl="0">
              <a:spcAft>
                <a:spcPts val="600"/>
              </a:spcAft>
              <a:defRPr/>
            </a:pPr>
            <a:r>
              <a:rPr lang="en-US" sz="1400" i="1">
                <a:ea typeface="Open Sans"/>
                <a:cs typeface="Open Sans"/>
              </a:rPr>
              <a:t>Together makes progress </a:t>
            </a:r>
            <a:r>
              <a:rPr lang="en-US" sz="1400">
                <a:ea typeface="Open Sans"/>
                <a:cs typeface="Open Sans"/>
              </a:rPr>
              <a:t>is not a new concept to Deloitte—it is a long-lived mindset that guides what we do and shines a light on who we’ve always been. The tagline highlights the following:</a:t>
            </a:r>
          </a:p>
          <a:p>
            <a:pPr marL="283210" lvl="1" indent="-283210">
              <a:spcAft>
                <a:spcPts val="600"/>
              </a:spcAft>
              <a:buFont typeface="Arial" panose="020B0604020202020204" pitchFamily="34" charset="0"/>
              <a:buChar char="•"/>
              <a:defRPr/>
            </a:pPr>
            <a:r>
              <a:rPr lang="en-US" sz="1400" b="1" i="1">
                <a:ea typeface="Open Sans"/>
                <a:cs typeface="Open Sans"/>
              </a:rPr>
              <a:t>Together</a:t>
            </a:r>
            <a:r>
              <a:rPr lang="en-US" sz="1400">
                <a:ea typeface="Open Sans"/>
                <a:cs typeface="Open Sans"/>
              </a:rPr>
              <a:t>—it’s about trusted, professional relationships. But most importantly, together is how we're showing up—coming together across the breadth of our organization and disciplines via our multi-disciplinary model.</a:t>
            </a:r>
          </a:p>
          <a:p>
            <a:pPr marL="283210" lvl="1" indent="-283210">
              <a:spcAft>
                <a:spcPts val="600"/>
              </a:spcAft>
              <a:buFont typeface="Arial" panose="020B0604020202020204" pitchFamily="34" charset="0"/>
              <a:buChar char="•"/>
              <a:defRPr/>
            </a:pPr>
            <a:r>
              <a:rPr lang="en-US" sz="1400" b="1" i="1">
                <a:ea typeface="Open Sans"/>
                <a:cs typeface="Open Sans"/>
              </a:rPr>
              <a:t>Makes</a:t>
            </a:r>
            <a:r>
              <a:rPr lang="en-US" sz="1400">
                <a:ea typeface="Open Sans"/>
                <a:cs typeface="Open Sans"/>
              </a:rPr>
              <a:t> communicates our intention and deep industry knowledge. </a:t>
            </a:r>
          </a:p>
          <a:p>
            <a:pPr marL="283210" lvl="1" indent="-283210">
              <a:spcAft>
                <a:spcPts val="600"/>
              </a:spcAft>
              <a:buFont typeface="Arial" panose="020B0604020202020204" pitchFamily="34" charset="0"/>
              <a:buChar char="•"/>
              <a:defRPr/>
            </a:pPr>
            <a:r>
              <a:rPr lang="en-US" sz="1400">
                <a:ea typeface="Open Sans"/>
                <a:cs typeface="Open Sans"/>
              </a:rPr>
              <a:t>And</a:t>
            </a:r>
            <a:r>
              <a:rPr lang="en-US" sz="1400" b="1" i="1">
                <a:ea typeface="Open Sans"/>
                <a:cs typeface="Open Sans"/>
              </a:rPr>
              <a:t> progress</a:t>
            </a:r>
            <a:r>
              <a:rPr lang="en-US" sz="1400">
                <a:ea typeface="Open Sans"/>
                <a:cs typeface="Open Sans"/>
              </a:rPr>
              <a:t> is about delivering measurable results and making a meaningful difference through uncertainty and disruption. </a:t>
            </a:r>
          </a:p>
          <a:p>
            <a:pPr marL="283210" lvl="1" indent="-283210">
              <a:spcAft>
                <a:spcPts val="600"/>
              </a:spcAft>
              <a:buFont typeface="Arial" panose="020B0604020202020204" pitchFamily="34" charset="0"/>
              <a:buChar char="•"/>
              <a:defRPr/>
            </a:pPr>
            <a:endParaRPr lang="en-US" sz="1400" b="1">
              <a:solidFill>
                <a:srgbClr val="00A3E0"/>
              </a:solidFill>
              <a:ea typeface="Open Sans"/>
              <a:cs typeface="Open Sans"/>
            </a:endParaRPr>
          </a:p>
          <a:p>
            <a:pPr marL="0" lvl="1">
              <a:spcAft>
                <a:spcPts val="600"/>
              </a:spcAft>
              <a:defRPr/>
            </a:pPr>
            <a:r>
              <a:rPr lang="en-US" sz="1400" b="1">
                <a:solidFill>
                  <a:srgbClr val="00A3E0"/>
                </a:solidFill>
                <a:ea typeface="Open Sans"/>
                <a:cs typeface="Open Sans"/>
              </a:rPr>
              <a:t>Usage: </a:t>
            </a:r>
          </a:p>
          <a:p>
            <a:pPr marL="0" lvl="1">
              <a:spcAft>
                <a:spcPts val="600"/>
              </a:spcAft>
              <a:defRPr/>
            </a:pPr>
            <a:r>
              <a:rPr lang="en-US" sz="1400">
                <a:ea typeface="Open Sans"/>
                <a:cs typeface="Open Sans"/>
              </a:rPr>
              <a:t>The global tagline </a:t>
            </a:r>
            <a:r>
              <a:rPr lang="en-US" sz="1400" b="1" u="sng">
                <a:ea typeface="Open Sans"/>
                <a:cs typeface="Open Sans"/>
              </a:rPr>
              <a:t>should always be displayed locked </a:t>
            </a:r>
            <a:r>
              <a:rPr lang="en-US" sz="1400">
                <a:ea typeface="Open Sans"/>
                <a:cs typeface="Open Sans"/>
              </a:rPr>
              <a:t>with the Deloitte logo, as noted below:</a:t>
            </a:r>
          </a:p>
        </p:txBody>
      </p:sp>
      <p:sp>
        <p:nvSpPr>
          <p:cNvPr id="7" name="TextBox 6">
            <a:extLst>
              <a:ext uri="{FF2B5EF4-FFF2-40B4-BE49-F238E27FC236}">
                <a16:creationId xmlns:a16="http://schemas.microsoft.com/office/drawing/2014/main" id="{B07B2FDF-190D-FFB5-EF51-187A52E18E61}"/>
              </a:ext>
            </a:extLst>
          </p:cNvPr>
          <p:cNvSpPr txBox="1"/>
          <p:nvPr/>
        </p:nvSpPr>
        <p:spPr>
          <a:xfrm>
            <a:off x="8160004" y="1650492"/>
            <a:ext cx="3566160" cy="4366012"/>
          </a:xfrm>
          <a:prstGeom prst="rect">
            <a:avLst/>
          </a:prstGeom>
          <a:noFill/>
        </p:spPr>
        <p:txBody>
          <a:bodyPr wrap="square" lIns="0" tIns="0" rIns="0" bIns="0" numCol="1" spcCol="457200" rtlCol="0" anchor="t">
            <a:noAutofit/>
          </a:bodyPr>
          <a:lstStyle/>
          <a:p>
            <a:pPr>
              <a:spcAft>
                <a:spcPts val="600"/>
              </a:spcAft>
            </a:pPr>
            <a:endParaRPr lang="en-US" sz="1000">
              <a:cs typeface="Calibri" panose="020F0502020204030204" pitchFamily="34" charset="0"/>
            </a:endParaRPr>
          </a:p>
        </p:txBody>
      </p:sp>
      <p:pic>
        <p:nvPicPr>
          <p:cNvPr id="8" name="Picture 7" descr="Deloitte logo lockup with Together makes progress tagline">
            <a:extLst>
              <a:ext uri="{FF2B5EF4-FFF2-40B4-BE49-F238E27FC236}">
                <a16:creationId xmlns:a16="http://schemas.microsoft.com/office/drawing/2014/main" id="{8665A01F-35B2-627E-3A97-D5886D726017}"/>
              </a:ext>
            </a:extLst>
          </p:cNvPr>
          <p:cNvPicPr>
            <a:picLocks noChangeAspect="1"/>
          </p:cNvPicPr>
          <p:nvPr/>
        </p:nvPicPr>
        <p:blipFill>
          <a:blip r:embed="rId4">
            <a:extLst>
              <a:ext uri="{28A0092B-C50C-407E-A947-70E740481C1C}">
                <a14:useLocalDpi xmlns:a14="http://schemas.microsoft.com/office/drawing/2010/main" val="0"/>
              </a:ext>
            </a:extLst>
          </a:blip>
          <a:srcRect l="12336" t="24954" r="11458" b="20294"/>
          <a:stretch>
            <a:fillRect/>
          </a:stretch>
        </p:blipFill>
        <p:spPr>
          <a:xfrm>
            <a:off x="342900" y="5300223"/>
            <a:ext cx="2118360" cy="716281"/>
          </a:xfrm>
          <a:prstGeom prst="rect">
            <a:avLst/>
          </a:prstGeom>
        </p:spPr>
      </p:pic>
    </p:spTree>
    <p:extLst>
      <p:ext uri="{BB962C8B-B14F-4D97-AF65-F5344CB8AC3E}">
        <p14:creationId xmlns:p14="http://schemas.microsoft.com/office/powerpoint/2010/main" val="376714874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9B4DE-4F3A-3BCD-899D-4DB961F94B2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3E8F5D2-C5E8-00A1-3967-A3BEA8DCE033}"/>
              </a:ext>
            </a:extLst>
          </p:cNvPr>
          <p:cNvPicPr>
            <a:picLocks noGrp="1" noRot="1" noChangeAspect="1" noMove="1" noResize="1" noEditPoints="1" noAdjustHandles="1" noChangeArrowheads="1" noChangeShapeType="1" noCrop="1"/>
          </p:cNvPicPr>
          <p:nvPr/>
        </p:nvPicPr>
        <p:blipFill>
          <a:blip r:embed="rId2"/>
          <a:srcRect l="41970" t="13065" r="10123" b="18400"/>
          <a:stretch>
            <a:fillRect/>
          </a:stretch>
        </p:blipFill>
        <p:spPr>
          <a:xfrm>
            <a:off x="0" y="-1"/>
            <a:ext cx="4447671" cy="6362701"/>
          </a:xfrm>
          <a:prstGeom prst="rect">
            <a:avLst/>
          </a:prstGeom>
        </p:spPr>
      </p:pic>
      <p:sp>
        <p:nvSpPr>
          <p:cNvPr id="10" name="Title 3">
            <a:extLst>
              <a:ext uri="{FF2B5EF4-FFF2-40B4-BE49-F238E27FC236}">
                <a16:creationId xmlns:a16="http://schemas.microsoft.com/office/drawing/2014/main" id="{DFFEFAC2-CF6A-E041-5C8A-1B4BF42F3515}"/>
              </a:ext>
            </a:extLst>
          </p:cNvPr>
          <p:cNvSpPr txBox="1">
            <a:spLocks/>
          </p:cNvSpPr>
          <p:nvPr/>
        </p:nvSpPr>
        <p:spPr bwMode="gray">
          <a:xfrm>
            <a:off x="10340471" y="2804403"/>
            <a:ext cx="4491924" cy="628904"/>
          </a:xfrm>
          <a:prstGeom prst="rect">
            <a:avLst/>
          </a:prstGeom>
        </p:spPr>
        <p:txBody>
          <a:bodyPr vert="horz" lIns="0" tIns="0" rIns="0" bIns="0" rtlCol="0" anchor="b" anchorCtr="0">
            <a:no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endParaRPr lang="en-US" sz="4500" i="1">
              <a:solidFill>
                <a:srgbClr val="0076A8"/>
              </a:solidFill>
            </a:endParaRPr>
          </a:p>
        </p:txBody>
      </p:sp>
      <p:pic>
        <p:nvPicPr>
          <p:cNvPr id="16" name="Graphic 15">
            <a:extLst>
              <a:ext uri="{FF2B5EF4-FFF2-40B4-BE49-F238E27FC236}">
                <a16:creationId xmlns:a16="http://schemas.microsoft.com/office/drawing/2014/main" id="{0BEFA5EE-9B09-22B3-42CE-46B5CA71A078}"/>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3650143" y="1866900"/>
            <a:ext cx="409575" cy="476250"/>
          </a:xfrm>
          <a:prstGeom prst="rect">
            <a:avLst/>
          </a:prstGeom>
        </p:spPr>
      </p:pic>
      <p:sp>
        <p:nvSpPr>
          <p:cNvPr id="22" name="Freeform: Shape 21">
            <a:extLst>
              <a:ext uri="{FF2B5EF4-FFF2-40B4-BE49-F238E27FC236}">
                <a16:creationId xmlns:a16="http://schemas.microsoft.com/office/drawing/2014/main" id="{301973FD-F4D4-A3A2-C991-A9B61B2FD387}"/>
              </a:ext>
            </a:extLst>
          </p:cNvPr>
          <p:cNvSpPr>
            <a:spLocks noGrp="1" noRot="1" noMove="1" noResize="1" noEditPoints="1" noAdjustHandles="1" noChangeArrowheads="1" noChangeShapeType="1"/>
          </p:cNvSpPr>
          <p:nvPr/>
        </p:nvSpPr>
        <p:spPr>
          <a:xfrm>
            <a:off x="4117821" y="2434123"/>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0A51F74-C369-0997-71D8-C7F8DB7E42A7}"/>
              </a:ext>
            </a:extLst>
          </p:cNvPr>
          <p:cNvSpPr>
            <a:spLocks noGrp="1" noRot="1" noMove="1" noResize="1" noEditPoints="1" noAdjustHandles="1" noChangeArrowheads="1" noChangeShapeType="1"/>
          </p:cNvSpPr>
          <p:nvPr/>
        </p:nvSpPr>
        <p:spPr>
          <a:xfrm>
            <a:off x="4363089" y="2373024"/>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423AF501-3A39-0F05-A02F-F613DB09F274}"/>
              </a:ext>
            </a:extLst>
          </p:cNvPr>
          <p:cNvSpPr>
            <a:spLocks noGrp="1" noRot="1" noMove="1" noResize="1" noEditPoints="1" noAdjustHandles="1" noChangeArrowheads="1" noChangeShapeType="1"/>
          </p:cNvSpPr>
          <p:nvPr/>
        </p:nvSpPr>
        <p:spPr>
          <a:xfrm>
            <a:off x="4202735" y="2171534"/>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156BE3-7ED5-4586-2811-F8483460849D}"/>
              </a:ext>
            </a:extLst>
          </p:cNvPr>
          <p:cNvSpPr>
            <a:spLocks noGrp="1" noRot="1" noMove="1" noResize="1" noEditPoints="1" noAdjustHandles="1" noChangeArrowheads="1" noChangeShapeType="1"/>
          </p:cNvSpPr>
          <p:nvPr/>
        </p:nvSpPr>
        <p:spPr>
          <a:xfrm>
            <a:off x="3091683" y="5537247"/>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F185EC9-52F8-5AAB-43BB-85B1F940F467}"/>
              </a:ext>
            </a:extLst>
          </p:cNvPr>
          <p:cNvSpPr>
            <a:spLocks noGrp="1" noRot="1" noMove="1" noResize="1" noEditPoints="1" noAdjustHandles="1" noChangeArrowheads="1" noChangeShapeType="1"/>
          </p:cNvSpPr>
          <p:nvPr/>
        </p:nvSpPr>
        <p:spPr>
          <a:xfrm>
            <a:off x="3064577" y="5836071"/>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5D6408A-C876-01D8-5327-FD82C8885501}"/>
              </a:ext>
            </a:extLst>
          </p:cNvPr>
          <p:cNvSpPr>
            <a:spLocks noGrp="1" noRot="1" noMove="1" noResize="1" noEditPoints="1" noAdjustHandles="1" noChangeArrowheads="1" noChangeShapeType="1"/>
          </p:cNvSpPr>
          <p:nvPr/>
        </p:nvSpPr>
        <p:spPr>
          <a:xfrm>
            <a:off x="3351695" y="5702675"/>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pic>
        <p:nvPicPr>
          <p:cNvPr id="28" name="Graphic 27">
            <a:extLst>
              <a:ext uri="{FF2B5EF4-FFF2-40B4-BE49-F238E27FC236}">
                <a16:creationId xmlns:a16="http://schemas.microsoft.com/office/drawing/2014/main" id="{D98CACF3-8E14-FF49-9E99-BFF825D6B0A0}"/>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2616176" y="5524500"/>
            <a:ext cx="304320" cy="353860"/>
          </a:xfrm>
          <a:prstGeom prst="rect">
            <a:avLst/>
          </a:prstGeom>
        </p:spPr>
      </p:pic>
      <p:sp>
        <p:nvSpPr>
          <p:cNvPr id="2" name="Title 3">
            <a:extLst>
              <a:ext uri="{FF2B5EF4-FFF2-40B4-BE49-F238E27FC236}">
                <a16:creationId xmlns:a16="http://schemas.microsoft.com/office/drawing/2014/main" id="{06DF717F-74E5-7D80-99F5-FD7C4F9FFED0}"/>
              </a:ext>
            </a:extLst>
          </p:cNvPr>
          <p:cNvSpPr txBox="1">
            <a:spLocks noGrp="1" noRot="1" noMove="1" noResize="1" noEditPoints="1" noAdjustHandles="1" noChangeArrowheads="1" noChangeShapeType="1"/>
          </p:cNvSpPr>
          <p:nvPr/>
        </p:nvSpPr>
        <p:spPr bwMode="gray">
          <a:xfrm>
            <a:off x="4447671" y="3492513"/>
            <a:ext cx="4491924" cy="628904"/>
          </a:xfrm>
          <a:prstGeom prst="rect">
            <a:avLst/>
          </a:prstGeom>
        </p:spPr>
        <p:txBody>
          <a:bodyPr vert="horz" lIns="0" tIns="0" rIns="0" bIns="0" rtlCol="0" anchor="b" anchorCtr="0">
            <a:no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4500">
                <a:solidFill>
                  <a:srgbClr val="00A3E0"/>
                </a:solidFill>
                <a:latin typeface="Aptos"/>
                <a:ea typeface="Open Sans"/>
                <a:cs typeface="Open Sans"/>
              </a:rPr>
              <a:t>Email signature and templates</a:t>
            </a:r>
          </a:p>
        </p:txBody>
      </p:sp>
      <p:cxnSp>
        <p:nvCxnSpPr>
          <p:cNvPr id="3" name="Straight Connector 2">
            <a:extLst>
              <a:ext uri="{FF2B5EF4-FFF2-40B4-BE49-F238E27FC236}">
                <a16:creationId xmlns:a16="http://schemas.microsoft.com/office/drawing/2014/main" id="{5C910E91-7815-ECF0-A74B-9F3A1CB5D9DF}"/>
              </a:ext>
            </a:extLst>
          </p:cNvPr>
          <p:cNvCxnSpPr>
            <a:cxnSpLocks noGrp="1" noRot="1" noMove="1" noResize="1" noEditPoints="1" noAdjustHandles="1" noChangeArrowheads="1" noChangeShapeType="1"/>
          </p:cNvCxnSpPr>
          <p:nvPr/>
        </p:nvCxnSpPr>
        <p:spPr>
          <a:xfrm>
            <a:off x="4447671" y="4381500"/>
            <a:ext cx="4035929" cy="0"/>
          </a:xfrm>
          <a:prstGeom prst="line">
            <a:avLst/>
          </a:prstGeom>
          <a:ln w="19050">
            <a:solidFill>
              <a:srgbClr val="00A3E0"/>
            </a:solidFill>
            <a:tailEnd type="oval"/>
          </a:ln>
        </p:spPr>
        <p:style>
          <a:lnRef idx="1">
            <a:schemeClr val="accent1"/>
          </a:lnRef>
          <a:fillRef idx="0">
            <a:schemeClr val="accent1"/>
          </a:fillRef>
          <a:effectRef idx="0">
            <a:schemeClr val="accent1"/>
          </a:effectRef>
          <a:fontRef idx="minor">
            <a:schemeClr val="tx1"/>
          </a:fontRef>
        </p:style>
      </p:cxnSp>
      <p:pic>
        <p:nvPicPr>
          <p:cNvPr id="6" name="Graphic 5">
            <a:hlinkClick r:id="rId5" action="ppaction://hlinksldjump"/>
            <a:extLst>
              <a:ext uri="{FF2B5EF4-FFF2-40B4-BE49-F238E27FC236}">
                <a16:creationId xmlns:a16="http://schemas.microsoft.com/office/drawing/2014/main" id="{FB43E2E7-4E0D-2D75-BD51-B568C73EFBE5}"/>
              </a:ext>
            </a:extLst>
          </p:cNvPr>
          <p:cNvPicPr>
            <a:picLocks noGrp="1" noRot="1" noChangeAspect="1" noMove="1" noResize="1" noEditPoints="1" noAdjustHandles="1" noChangeArrowheads="1" noChangeShapeType="1" noCrop="1"/>
          </p:cNvPicPr>
          <p:nvPr/>
        </p:nvPicPr>
        <p:blipFill>
          <a:blip r:embed="rId6">
            <a:extLst>
              <a:ext uri="{96DAC541-7B7A-43D3-8B79-37D633B846F1}">
                <asvg:svgBlip xmlns:asvg="http://schemas.microsoft.com/office/drawing/2016/SVG/main" r:embed="rId7"/>
              </a:ext>
            </a:extLst>
          </a:blip>
          <a:stretch>
            <a:fillRect/>
          </a:stretch>
        </p:blipFill>
        <p:spPr>
          <a:xfrm>
            <a:off x="11379200" y="309880"/>
            <a:ext cx="469900" cy="469900"/>
          </a:xfrm>
          <a:prstGeom prst="rect">
            <a:avLst/>
          </a:prstGeom>
        </p:spPr>
      </p:pic>
    </p:spTree>
    <p:extLst>
      <p:ext uri="{BB962C8B-B14F-4D97-AF65-F5344CB8AC3E}">
        <p14:creationId xmlns:p14="http://schemas.microsoft.com/office/powerpoint/2010/main" val="2072744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6C43B4-5001-F125-6F12-56114ED81FEF}"/>
              </a:ext>
            </a:extLst>
          </p:cNvPr>
          <p:cNvSpPr>
            <a:spLocks noGrp="1"/>
          </p:cNvSpPr>
          <p:nvPr>
            <p:ph type="title"/>
          </p:nvPr>
        </p:nvSpPr>
        <p:spPr/>
        <p:txBody>
          <a:bodyPr/>
          <a:lstStyle/>
          <a:p>
            <a:r>
              <a:rPr lang="en-US">
                <a:solidFill>
                  <a:schemeClr val="tx1"/>
                </a:solidFill>
                <a:cs typeface="Calibri"/>
              </a:rPr>
              <a:t>GFS Style Guide | </a:t>
            </a:r>
            <a:r>
              <a:rPr lang="en-US" b="1"/>
              <a:t>Email signature</a:t>
            </a:r>
            <a:endParaRPr lang="en-US">
              <a:solidFill>
                <a:schemeClr val="tx1"/>
              </a:solidFill>
              <a:latin typeface="+mj-lt"/>
            </a:endParaRPr>
          </a:p>
        </p:txBody>
      </p:sp>
      <p:sp>
        <p:nvSpPr>
          <p:cNvPr id="22" name="Text Placeholder 2"/>
          <p:cNvSpPr txBox="1">
            <a:spLocks/>
          </p:cNvSpPr>
          <p:nvPr/>
        </p:nvSpPr>
        <p:spPr>
          <a:xfrm>
            <a:off x="1864031" y="1120297"/>
            <a:ext cx="4115310" cy="1415772"/>
          </a:xfrm>
          <a:prstGeom prst="rect">
            <a:avLst/>
          </a:prstGeom>
        </p:spPr>
        <p:txBody>
          <a:bodyPr wrap="square" lIns="0" tIns="0" rIns="0" bIns="0" anchor="t">
            <a:sp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1">
              <a:spcAft>
                <a:spcPts val="600"/>
              </a:spcAft>
            </a:pPr>
            <a:r>
              <a:rPr lang="en-GB" sz="1600">
                <a:solidFill>
                  <a:srgbClr val="00A3E0"/>
                </a:solidFill>
                <a:cs typeface="Calibri"/>
              </a:rPr>
              <a:t>Email signature guidelines</a:t>
            </a:r>
          </a:p>
          <a:p>
            <a:pPr marL="171450" indent="-171450">
              <a:spcAft>
                <a:spcPts val="600"/>
              </a:spcAft>
              <a:buFont typeface="Arial" panose="020B0604020202020204" pitchFamily="34" charset="0"/>
              <a:buChar char="•"/>
            </a:pPr>
            <a:r>
              <a:rPr lang="en-US" sz="1400">
                <a:solidFill>
                  <a:prstClr val="black"/>
                </a:solidFill>
                <a:cs typeface="Calibri"/>
              </a:rPr>
              <a:t>Use the standard format provided</a:t>
            </a:r>
          </a:p>
          <a:p>
            <a:pPr marL="171450" indent="-171450">
              <a:spcAft>
                <a:spcPts val="600"/>
              </a:spcAft>
              <a:buFont typeface="Arial" panose="020B0604020202020204" pitchFamily="34" charset="0"/>
              <a:buChar char="•"/>
            </a:pPr>
            <a:r>
              <a:rPr lang="en-US" sz="1400">
                <a:solidFill>
                  <a:prstClr val="black"/>
                </a:solidFill>
                <a:cs typeface="Calibri"/>
              </a:rPr>
              <a:t>Include the employing firm entity after your title</a:t>
            </a:r>
          </a:p>
          <a:p>
            <a:pPr marL="171450" indent="-171450">
              <a:spcAft>
                <a:spcPts val="600"/>
              </a:spcAft>
              <a:buFont typeface="Arial" panose="020B0604020202020204" pitchFamily="34" charset="0"/>
              <a:buChar char="•"/>
            </a:pPr>
            <a:r>
              <a:rPr lang="en-US" sz="1400">
                <a:solidFill>
                  <a:prstClr val="black"/>
                </a:solidFill>
                <a:cs typeface="Calibri"/>
              </a:rPr>
              <a:t>Use the correct legal entity</a:t>
            </a:r>
          </a:p>
          <a:p>
            <a:pPr marL="171450" indent="-171450">
              <a:spcAft>
                <a:spcPts val="600"/>
              </a:spcAft>
              <a:buFont typeface="Arial" panose="020B0604020202020204" pitchFamily="34" charset="0"/>
              <a:buChar char="•"/>
            </a:pPr>
            <a:r>
              <a:rPr lang="en-US" sz="1400">
                <a:solidFill>
                  <a:prstClr val="black"/>
                </a:solidFill>
                <a:cs typeface="Calibri"/>
              </a:rPr>
              <a:t>Use Aptos font; font size 11 is preferred</a:t>
            </a:r>
            <a:endParaRPr lang="en-US" sz="1400">
              <a:solidFill>
                <a:prstClr val="black"/>
              </a:solidFill>
              <a:cs typeface="Calibri" panose="020F0502020204030204" pitchFamily="34" charset="0"/>
            </a:endParaRPr>
          </a:p>
        </p:txBody>
      </p:sp>
      <p:grpSp>
        <p:nvGrpSpPr>
          <p:cNvPr id="6" name="Group 713">
            <a:extLst>
              <a:ext uri="{FF2B5EF4-FFF2-40B4-BE49-F238E27FC236}">
                <a16:creationId xmlns:a16="http://schemas.microsoft.com/office/drawing/2014/main" id="{254A458B-7DD9-492B-9FFC-F7096B7529FE}"/>
              </a:ext>
            </a:extLst>
          </p:cNvPr>
          <p:cNvGrpSpPr>
            <a:grpSpLocks noGrp="1" noUngrp="1" noRot="1" noChangeAspect="1" noMove="1" noResize="1"/>
          </p:cNvGrpSpPr>
          <p:nvPr/>
        </p:nvGrpSpPr>
        <p:grpSpPr bwMode="auto">
          <a:xfrm>
            <a:off x="342900" y="1188103"/>
            <a:ext cx="1280160" cy="1280160"/>
            <a:chOff x="3986" y="3055"/>
            <a:chExt cx="340" cy="340"/>
          </a:xfrm>
          <a:solidFill>
            <a:srgbClr val="00A3E0"/>
          </a:solidFill>
        </p:grpSpPr>
        <p:sp>
          <p:nvSpPr>
            <p:cNvPr id="7" name="Freeform 714">
              <a:extLst>
                <a:ext uri="{FF2B5EF4-FFF2-40B4-BE49-F238E27FC236}">
                  <a16:creationId xmlns:a16="http://schemas.microsoft.com/office/drawing/2014/main" id="{49B19045-444C-4404-92B3-7A7A1545C0B9}"/>
                </a:ext>
              </a:extLst>
            </p:cNvPr>
            <p:cNvSpPr>
              <a:spLocks noGrp="1" noRot="1" noMove="1" noResize="1" noEditPoints="1" noAdjustHandles="1" noChangeArrowheads="1" noChangeShapeType="1"/>
            </p:cNvSpPr>
            <p:nvPr/>
          </p:nvSpPr>
          <p:spPr bwMode="auto">
            <a:xfrm>
              <a:off x="3986" y="3055"/>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715">
              <a:extLst>
                <a:ext uri="{FF2B5EF4-FFF2-40B4-BE49-F238E27FC236}">
                  <a16:creationId xmlns:a16="http://schemas.microsoft.com/office/drawing/2014/main" id="{C20C8665-C5C3-43C5-AB10-164A0F94BCA7}"/>
                </a:ext>
              </a:extLst>
            </p:cNvPr>
            <p:cNvSpPr>
              <a:spLocks noGrp="1" noRot="1" noMove="1" noResize="1" noEditPoints="1" noAdjustHandles="1" noChangeArrowheads="1" noChangeShapeType="1"/>
            </p:cNvSpPr>
            <p:nvPr/>
          </p:nvSpPr>
          <p:spPr bwMode="auto">
            <a:xfrm>
              <a:off x="4050" y="3147"/>
              <a:ext cx="212" cy="156"/>
            </a:xfrm>
            <a:custGeom>
              <a:avLst/>
              <a:gdLst>
                <a:gd name="T0" fmla="*/ 309 w 320"/>
                <a:gd name="T1" fmla="*/ 0 h 235"/>
                <a:gd name="T2" fmla="*/ 10 w 320"/>
                <a:gd name="T3" fmla="*/ 0 h 235"/>
                <a:gd name="T4" fmla="*/ 0 w 320"/>
                <a:gd name="T5" fmla="*/ 11 h 235"/>
                <a:gd name="T6" fmla="*/ 0 w 320"/>
                <a:gd name="T7" fmla="*/ 224 h 235"/>
                <a:gd name="T8" fmla="*/ 10 w 320"/>
                <a:gd name="T9" fmla="*/ 235 h 235"/>
                <a:gd name="T10" fmla="*/ 309 w 320"/>
                <a:gd name="T11" fmla="*/ 235 h 235"/>
                <a:gd name="T12" fmla="*/ 320 w 320"/>
                <a:gd name="T13" fmla="*/ 224 h 235"/>
                <a:gd name="T14" fmla="*/ 320 w 320"/>
                <a:gd name="T15" fmla="*/ 11 h 235"/>
                <a:gd name="T16" fmla="*/ 309 w 320"/>
                <a:gd name="T17" fmla="*/ 0 h 235"/>
                <a:gd name="T18" fmla="*/ 298 w 320"/>
                <a:gd name="T19" fmla="*/ 199 h 235"/>
                <a:gd name="T20" fmla="*/ 214 w 320"/>
                <a:gd name="T21" fmla="*/ 114 h 235"/>
                <a:gd name="T22" fmla="*/ 298 w 320"/>
                <a:gd name="T23" fmla="*/ 35 h 235"/>
                <a:gd name="T24" fmla="*/ 298 w 320"/>
                <a:gd name="T25" fmla="*/ 199 h 235"/>
                <a:gd name="T26" fmla="*/ 282 w 320"/>
                <a:gd name="T27" fmla="*/ 22 h 235"/>
                <a:gd name="T28" fmla="*/ 160 w 320"/>
                <a:gd name="T29" fmla="*/ 135 h 235"/>
                <a:gd name="T30" fmla="*/ 37 w 320"/>
                <a:gd name="T31" fmla="*/ 22 h 235"/>
                <a:gd name="T32" fmla="*/ 282 w 320"/>
                <a:gd name="T33" fmla="*/ 22 h 235"/>
                <a:gd name="T34" fmla="*/ 21 w 320"/>
                <a:gd name="T35" fmla="*/ 35 h 235"/>
                <a:gd name="T36" fmla="*/ 106 w 320"/>
                <a:gd name="T37" fmla="*/ 114 h 235"/>
                <a:gd name="T38" fmla="*/ 21 w 320"/>
                <a:gd name="T39" fmla="*/ 199 h 235"/>
                <a:gd name="T40" fmla="*/ 21 w 320"/>
                <a:gd name="T41" fmla="*/ 35 h 235"/>
                <a:gd name="T42" fmla="*/ 121 w 320"/>
                <a:gd name="T43" fmla="*/ 129 h 235"/>
                <a:gd name="T44" fmla="*/ 152 w 320"/>
                <a:gd name="T45" fmla="*/ 157 h 235"/>
                <a:gd name="T46" fmla="*/ 160 w 320"/>
                <a:gd name="T47" fmla="*/ 160 h 235"/>
                <a:gd name="T48" fmla="*/ 167 w 320"/>
                <a:gd name="T49" fmla="*/ 157 h 235"/>
                <a:gd name="T50" fmla="*/ 198 w 320"/>
                <a:gd name="T51" fmla="*/ 129 h 235"/>
                <a:gd name="T52" fmla="*/ 283 w 320"/>
                <a:gd name="T53" fmla="*/ 214 h 235"/>
                <a:gd name="T54" fmla="*/ 36 w 320"/>
                <a:gd name="T55" fmla="*/ 214 h 235"/>
                <a:gd name="T56" fmla="*/ 121 w 320"/>
                <a:gd name="T57" fmla="*/ 129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0" h="235">
                  <a:moveTo>
                    <a:pt x="309" y="0"/>
                  </a:moveTo>
                  <a:cubicBezTo>
                    <a:pt x="10" y="0"/>
                    <a:pt x="10" y="0"/>
                    <a:pt x="10" y="0"/>
                  </a:cubicBezTo>
                  <a:cubicBezTo>
                    <a:pt x="4" y="0"/>
                    <a:pt x="0" y="5"/>
                    <a:pt x="0" y="11"/>
                  </a:cubicBezTo>
                  <a:cubicBezTo>
                    <a:pt x="0" y="224"/>
                    <a:pt x="0" y="224"/>
                    <a:pt x="0" y="224"/>
                  </a:cubicBezTo>
                  <a:cubicBezTo>
                    <a:pt x="0" y="230"/>
                    <a:pt x="4" y="235"/>
                    <a:pt x="10" y="235"/>
                  </a:cubicBezTo>
                  <a:cubicBezTo>
                    <a:pt x="309" y="235"/>
                    <a:pt x="309" y="235"/>
                    <a:pt x="309" y="235"/>
                  </a:cubicBezTo>
                  <a:cubicBezTo>
                    <a:pt x="315" y="235"/>
                    <a:pt x="320" y="230"/>
                    <a:pt x="320" y="224"/>
                  </a:cubicBezTo>
                  <a:cubicBezTo>
                    <a:pt x="320" y="11"/>
                    <a:pt x="320" y="11"/>
                    <a:pt x="320" y="11"/>
                  </a:cubicBezTo>
                  <a:cubicBezTo>
                    <a:pt x="320" y="5"/>
                    <a:pt x="315" y="0"/>
                    <a:pt x="309" y="0"/>
                  </a:cubicBezTo>
                  <a:close/>
                  <a:moveTo>
                    <a:pt x="298" y="199"/>
                  </a:moveTo>
                  <a:cubicBezTo>
                    <a:pt x="214" y="114"/>
                    <a:pt x="214" y="114"/>
                    <a:pt x="214" y="114"/>
                  </a:cubicBezTo>
                  <a:cubicBezTo>
                    <a:pt x="298" y="35"/>
                    <a:pt x="298" y="35"/>
                    <a:pt x="298" y="35"/>
                  </a:cubicBezTo>
                  <a:lnTo>
                    <a:pt x="298" y="199"/>
                  </a:lnTo>
                  <a:close/>
                  <a:moveTo>
                    <a:pt x="282" y="22"/>
                  </a:moveTo>
                  <a:cubicBezTo>
                    <a:pt x="160" y="135"/>
                    <a:pt x="160" y="135"/>
                    <a:pt x="160" y="135"/>
                  </a:cubicBezTo>
                  <a:cubicBezTo>
                    <a:pt x="37" y="22"/>
                    <a:pt x="37" y="22"/>
                    <a:pt x="37" y="22"/>
                  </a:cubicBezTo>
                  <a:lnTo>
                    <a:pt x="282" y="22"/>
                  </a:lnTo>
                  <a:close/>
                  <a:moveTo>
                    <a:pt x="21" y="35"/>
                  </a:moveTo>
                  <a:cubicBezTo>
                    <a:pt x="106" y="114"/>
                    <a:pt x="106" y="114"/>
                    <a:pt x="106" y="114"/>
                  </a:cubicBezTo>
                  <a:cubicBezTo>
                    <a:pt x="21" y="199"/>
                    <a:pt x="21" y="199"/>
                    <a:pt x="21" y="199"/>
                  </a:cubicBezTo>
                  <a:lnTo>
                    <a:pt x="21" y="35"/>
                  </a:lnTo>
                  <a:close/>
                  <a:moveTo>
                    <a:pt x="121" y="129"/>
                  </a:moveTo>
                  <a:cubicBezTo>
                    <a:pt x="152" y="157"/>
                    <a:pt x="152" y="157"/>
                    <a:pt x="152" y="157"/>
                  </a:cubicBezTo>
                  <a:cubicBezTo>
                    <a:pt x="154" y="159"/>
                    <a:pt x="157" y="160"/>
                    <a:pt x="160" y="160"/>
                  </a:cubicBezTo>
                  <a:cubicBezTo>
                    <a:pt x="162" y="160"/>
                    <a:pt x="165" y="159"/>
                    <a:pt x="167" y="157"/>
                  </a:cubicBezTo>
                  <a:cubicBezTo>
                    <a:pt x="198" y="129"/>
                    <a:pt x="198" y="129"/>
                    <a:pt x="198" y="129"/>
                  </a:cubicBezTo>
                  <a:cubicBezTo>
                    <a:pt x="283" y="214"/>
                    <a:pt x="283" y="214"/>
                    <a:pt x="283" y="214"/>
                  </a:cubicBezTo>
                  <a:cubicBezTo>
                    <a:pt x="36" y="214"/>
                    <a:pt x="36" y="214"/>
                    <a:pt x="36" y="214"/>
                  </a:cubicBezTo>
                  <a:lnTo>
                    <a:pt x="121" y="1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2" name="Text Placeholder 2">
            <a:extLst>
              <a:ext uri="{FF2B5EF4-FFF2-40B4-BE49-F238E27FC236}">
                <a16:creationId xmlns:a16="http://schemas.microsoft.com/office/drawing/2014/main" id="{02C9DE0F-23D4-409A-8980-E79AAEBE584F}"/>
              </a:ext>
            </a:extLst>
          </p:cNvPr>
          <p:cNvSpPr txBox="1">
            <a:spLocks/>
          </p:cNvSpPr>
          <p:nvPr/>
        </p:nvSpPr>
        <p:spPr>
          <a:xfrm>
            <a:off x="6167438" y="1120297"/>
            <a:ext cx="5681662" cy="2152861"/>
          </a:xfrm>
          <a:prstGeom prst="rect">
            <a:avLst/>
          </a:prstGeom>
          <a:solidFill>
            <a:schemeClr val="bg1"/>
          </a:solidFill>
          <a:ln>
            <a:noFill/>
          </a:ln>
          <a:effectLst>
            <a:outerShdw blurRad="50800" dist="38100" dir="5400000" algn="t" rotWithShape="0">
              <a:prstClr val="black">
                <a:alpha val="40000"/>
              </a:prstClr>
            </a:outerShdw>
          </a:effectLst>
        </p:spPr>
        <p:txBody>
          <a:bodyPr lIns="180000" tIns="144000" rIns="180000" bIns="144000">
            <a:sp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a:spcBef>
                <a:spcPts val="1200"/>
              </a:spcBef>
              <a:spcAft>
                <a:spcPts val="600"/>
              </a:spcAft>
            </a:pPr>
            <a:r>
              <a:rPr lang="en-GB" sz="1600" b="1">
                <a:solidFill>
                  <a:srgbClr val="00A3E0"/>
                </a:solidFill>
                <a:cs typeface="Calibri"/>
              </a:rPr>
              <a:t>Professionals assigned to GFS from USI, TW, KR, JP, NZ, SEA or IL </a:t>
            </a:r>
          </a:p>
          <a:p>
            <a:pPr marR="0">
              <a:spcAft>
                <a:spcPts val="0"/>
              </a:spcAft>
            </a:pPr>
            <a:r>
              <a:rPr lang="en-GB" b="1">
                <a:ea typeface="Calibri"/>
                <a:cs typeface="Calibri"/>
              </a:rPr>
              <a:t>Name Surname</a:t>
            </a:r>
            <a:endParaRPr lang="en-US" b="1">
              <a:ea typeface="Calibri"/>
              <a:cs typeface="Calibri"/>
            </a:endParaRPr>
          </a:p>
          <a:p>
            <a:pPr marL="0" marR="0">
              <a:spcBef>
                <a:spcPts val="0"/>
              </a:spcBef>
              <a:spcAft>
                <a:spcPts val="0"/>
              </a:spcAft>
            </a:pPr>
            <a:r>
              <a:rPr lang="en-GB">
                <a:solidFill>
                  <a:srgbClr val="000000"/>
                </a:solidFill>
                <a:effectLst/>
                <a:ea typeface="DengXian" panose="02010600030101010101" pitchFamily="2" charset="-122"/>
                <a:cs typeface="Calibri" panose="020F0502020204030204" pitchFamily="34" charset="0"/>
              </a:rPr>
              <a:t>Title | Position</a:t>
            </a:r>
            <a:endParaRPr lang="en-US">
              <a:effectLst/>
              <a:ea typeface="DengXian" panose="02010600030101010101" pitchFamily="2" charset="-122"/>
              <a:cs typeface="Calibri" panose="020F0502020204030204" pitchFamily="34" charset="0"/>
            </a:endParaRPr>
          </a:p>
          <a:p>
            <a:pPr marL="0" marR="0">
              <a:spcBef>
                <a:spcPts val="0"/>
              </a:spcBef>
              <a:spcAft>
                <a:spcPts val="0"/>
              </a:spcAft>
            </a:pPr>
            <a:r>
              <a:rPr lang="en-GB">
                <a:solidFill>
                  <a:srgbClr val="000000"/>
                </a:solidFill>
                <a:effectLst/>
                <a:ea typeface="DengXian" panose="02010600030101010101" pitchFamily="2" charset="-122"/>
                <a:cs typeface="Calibri" panose="020F0502020204030204" pitchFamily="34" charset="0"/>
              </a:rPr>
              <a:t>Supporting GFS</a:t>
            </a:r>
            <a:endParaRPr lang="en-US">
              <a:effectLst/>
              <a:ea typeface="DengXian" panose="02010600030101010101" pitchFamily="2" charset="-122"/>
              <a:cs typeface="Calibri" panose="020F0502020204030204" pitchFamily="34" charset="0"/>
            </a:endParaRPr>
          </a:p>
          <a:p>
            <a:pPr marL="0" marR="0">
              <a:spcBef>
                <a:spcPts val="0"/>
              </a:spcBef>
              <a:spcAft>
                <a:spcPts val="0"/>
              </a:spcAft>
            </a:pPr>
            <a:r>
              <a:rPr lang="en-GB">
                <a:solidFill>
                  <a:srgbClr val="000000"/>
                </a:solidFill>
                <a:effectLst/>
                <a:ea typeface="DengXian" panose="02010600030101010101" pitchFamily="2" charset="-122"/>
                <a:cs typeface="Calibri" panose="020F0502020204030204" pitchFamily="34" charset="0"/>
              </a:rPr>
              <a:t>[Your Employing entity]</a:t>
            </a:r>
            <a:endParaRPr lang="en-US">
              <a:effectLst/>
              <a:ea typeface="DengXian" panose="02010600030101010101" pitchFamily="2" charset="-122"/>
              <a:cs typeface="Calibri" panose="020F0502020204030204" pitchFamily="34" charset="0"/>
            </a:endParaRPr>
          </a:p>
          <a:p>
            <a:pPr marL="0" marR="0">
              <a:spcBef>
                <a:spcPts val="0"/>
              </a:spcBef>
              <a:spcAft>
                <a:spcPts val="0"/>
              </a:spcAft>
            </a:pPr>
            <a:r>
              <a:rPr lang="en-GB">
                <a:solidFill>
                  <a:srgbClr val="000000"/>
                </a:solidFill>
                <a:effectLst/>
                <a:ea typeface="DengXian" panose="02010600030101010101" pitchFamily="2" charset="-122"/>
                <a:cs typeface="Calibri" panose="020F0502020204030204" pitchFamily="34" charset="0"/>
              </a:rPr>
              <a:t>Address, Street, City, State, Post code, Country (Optional)</a:t>
            </a:r>
            <a:endParaRPr lang="en-US">
              <a:effectLst/>
              <a:ea typeface="DengXian" panose="02010600030101010101" pitchFamily="2" charset="-122"/>
              <a:cs typeface="Calibri" panose="020F0502020204030204" pitchFamily="34" charset="0"/>
            </a:endParaRPr>
          </a:p>
          <a:p>
            <a:pPr marL="0" marR="0">
              <a:spcBef>
                <a:spcPts val="0"/>
              </a:spcBef>
              <a:spcAft>
                <a:spcPts val="0"/>
              </a:spcAft>
            </a:pPr>
            <a:r>
              <a:rPr lang="en-GB">
                <a:solidFill>
                  <a:srgbClr val="000000"/>
                </a:solidFill>
                <a:effectLst/>
                <a:ea typeface="DengXian" panose="02010600030101010101" pitchFamily="2" charset="-122"/>
                <a:cs typeface="Calibri" panose="020F0502020204030204" pitchFamily="34" charset="0"/>
              </a:rPr>
              <a:t>D: +00 (0)00 0000 0000 | M: +00 (0)00 0000 0000</a:t>
            </a:r>
            <a:endParaRPr lang="en-US">
              <a:effectLst/>
              <a:ea typeface="DengXian" panose="02010600030101010101" pitchFamily="2" charset="-122"/>
              <a:cs typeface="Calibri" panose="020F0502020204030204" pitchFamily="34" charset="0"/>
            </a:endParaRPr>
          </a:p>
          <a:p>
            <a:pPr marL="0" marR="0">
              <a:spcBef>
                <a:spcPts val="0"/>
              </a:spcBef>
              <a:spcAft>
                <a:spcPts val="0"/>
              </a:spcAft>
            </a:pPr>
            <a:r>
              <a:rPr lang="en-GB" u="sng">
                <a:solidFill>
                  <a:srgbClr val="0563C1"/>
                </a:solidFill>
                <a:effectLst/>
                <a:ea typeface="DengXian" panose="02010600030101010101" pitchFamily="2" charset="-122"/>
                <a:cs typeface="Calibri" panose="020F0502020204030204" pitchFamily="34" charset="0"/>
                <a:hlinkClick r:id="rId3"/>
              </a:rPr>
              <a:t>name@deloitte.com</a:t>
            </a:r>
            <a:r>
              <a:rPr lang="en-GB">
                <a:solidFill>
                  <a:srgbClr val="000000"/>
                </a:solidFill>
                <a:effectLst/>
                <a:ea typeface="DengXian" panose="02010600030101010101" pitchFamily="2" charset="-122"/>
                <a:cs typeface="Calibri" panose="020F0502020204030204" pitchFamily="34" charset="0"/>
              </a:rPr>
              <a:t> | </a:t>
            </a:r>
            <a:r>
              <a:rPr lang="en-GB" u="sng">
                <a:solidFill>
                  <a:srgbClr val="0563C1"/>
                </a:solidFill>
                <a:effectLst/>
                <a:ea typeface="DengXian" panose="02010600030101010101" pitchFamily="2" charset="-122"/>
                <a:cs typeface="Calibri" panose="020F0502020204030204" pitchFamily="34" charset="0"/>
                <a:hlinkClick r:id="rId4"/>
              </a:rPr>
              <a:t>www.deloitte.com</a:t>
            </a:r>
            <a:endParaRPr lang="en-US">
              <a:effectLst/>
              <a:ea typeface="DengXian" panose="02010600030101010101" pitchFamily="2" charset="-122"/>
              <a:cs typeface="Calibri" panose="020F0502020204030204" pitchFamily="34" charset="0"/>
            </a:endParaRPr>
          </a:p>
        </p:txBody>
      </p:sp>
      <p:sp>
        <p:nvSpPr>
          <p:cNvPr id="2" name="Text Placeholder 2">
            <a:extLst>
              <a:ext uri="{FF2B5EF4-FFF2-40B4-BE49-F238E27FC236}">
                <a16:creationId xmlns:a16="http://schemas.microsoft.com/office/drawing/2014/main" id="{A1D93869-6FEE-67A3-CAB8-0177EBE531EB}"/>
              </a:ext>
            </a:extLst>
          </p:cNvPr>
          <p:cNvSpPr txBox="1">
            <a:spLocks/>
          </p:cNvSpPr>
          <p:nvPr/>
        </p:nvSpPr>
        <p:spPr>
          <a:xfrm>
            <a:off x="6167438" y="3486822"/>
            <a:ext cx="5681661" cy="1968195"/>
          </a:xfrm>
          <a:prstGeom prst="rect">
            <a:avLst/>
          </a:prstGeom>
          <a:solidFill>
            <a:schemeClr val="bg1"/>
          </a:solidFill>
          <a:ln>
            <a:noFill/>
          </a:ln>
          <a:effectLst>
            <a:outerShdw blurRad="50800" dist="38100" dir="5400000" algn="t" rotWithShape="0">
              <a:prstClr val="black">
                <a:alpha val="40000"/>
              </a:prstClr>
            </a:outerShdw>
          </a:effectLst>
        </p:spPr>
        <p:txBody>
          <a:bodyPr wrap="square" lIns="180000" tIns="144000" rIns="180000" bIns="144000">
            <a:sp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spcBef>
                <a:spcPts val="1200"/>
              </a:spcBef>
              <a:spcAft>
                <a:spcPts val="600"/>
              </a:spcAft>
            </a:pPr>
            <a:r>
              <a:rPr lang="en-GB" sz="1600" b="1">
                <a:solidFill>
                  <a:srgbClr val="00A3E0"/>
                </a:solidFill>
                <a:cs typeface="Calibri"/>
              </a:rPr>
              <a:t>Professionals assigned to GFS from US, DTTS, UK, CA or NL</a:t>
            </a:r>
            <a:endParaRPr lang="en-US" sz="1600" b="1">
              <a:solidFill>
                <a:srgbClr val="00A3E0"/>
              </a:solidFill>
              <a:cs typeface="Calibri"/>
            </a:endParaRPr>
          </a:p>
          <a:p>
            <a:pPr>
              <a:spcAft>
                <a:spcPts val="0"/>
              </a:spcAft>
            </a:pPr>
            <a:r>
              <a:rPr lang="en-GB" b="1">
                <a:ea typeface="Calibri"/>
                <a:cs typeface="Calibri"/>
              </a:rPr>
              <a:t>Name Surname</a:t>
            </a:r>
            <a:endParaRPr lang="en-US" b="1">
              <a:ea typeface="Calibri"/>
              <a:cs typeface="Calibri"/>
            </a:endParaRPr>
          </a:p>
          <a:p>
            <a:pPr marL="0" marR="0">
              <a:spcBef>
                <a:spcPts val="0"/>
              </a:spcBef>
              <a:spcAft>
                <a:spcPts val="0"/>
              </a:spcAft>
            </a:pPr>
            <a:r>
              <a:rPr lang="en-GB">
                <a:solidFill>
                  <a:srgbClr val="1D1D1D"/>
                </a:solidFill>
                <a:effectLst/>
                <a:ea typeface="DengXian" panose="02010600030101010101" pitchFamily="2" charset="-122"/>
                <a:cs typeface="Calibri" panose="020F0502020204030204" pitchFamily="34" charset="0"/>
              </a:rPr>
              <a:t>Title | Global Finance Services</a:t>
            </a:r>
            <a:endParaRPr lang="en-US">
              <a:effectLst/>
              <a:ea typeface="DengXian" panose="02010600030101010101" pitchFamily="2" charset="-122"/>
              <a:cs typeface="Calibri" panose="020F0502020204030204" pitchFamily="34" charset="0"/>
            </a:endParaRPr>
          </a:p>
          <a:p>
            <a:pPr marL="0" marR="0">
              <a:spcBef>
                <a:spcPts val="0"/>
              </a:spcBef>
              <a:spcAft>
                <a:spcPts val="0"/>
              </a:spcAft>
            </a:pPr>
            <a:r>
              <a:rPr lang="en-GB">
                <a:solidFill>
                  <a:srgbClr val="1D1D1D"/>
                </a:solidFill>
                <a:effectLst/>
                <a:ea typeface="DengXian" panose="02010600030101010101" pitchFamily="2" charset="-122"/>
                <a:cs typeface="Calibri" panose="020F0502020204030204" pitchFamily="34" charset="0"/>
              </a:rPr>
              <a:t>[Your employing entity], assigned to Deloitte GFS Limited</a:t>
            </a:r>
            <a:endParaRPr lang="en-US">
              <a:effectLst/>
              <a:ea typeface="DengXian" panose="02010600030101010101" pitchFamily="2" charset="-122"/>
              <a:cs typeface="Calibri" panose="020F0502020204030204" pitchFamily="34" charset="0"/>
            </a:endParaRPr>
          </a:p>
          <a:p>
            <a:pPr marL="0" marR="0">
              <a:spcBef>
                <a:spcPts val="0"/>
              </a:spcBef>
              <a:spcAft>
                <a:spcPts val="0"/>
              </a:spcAft>
            </a:pPr>
            <a:r>
              <a:rPr lang="en-GB">
                <a:solidFill>
                  <a:srgbClr val="1D1D1D"/>
                </a:solidFill>
                <a:effectLst/>
                <a:ea typeface="DengXian" panose="02010600030101010101" pitchFamily="2" charset="-122"/>
                <a:cs typeface="Calibri" panose="020F0502020204030204" pitchFamily="34" charset="0"/>
              </a:rPr>
              <a:t>Address, Street, City, State, Post code, Country (Optional)</a:t>
            </a:r>
            <a:endParaRPr lang="en-US">
              <a:effectLst/>
              <a:ea typeface="DengXian" panose="02010600030101010101" pitchFamily="2" charset="-122"/>
              <a:cs typeface="Calibri" panose="020F0502020204030204" pitchFamily="34" charset="0"/>
            </a:endParaRPr>
          </a:p>
          <a:p>
            <a:pPr marL="0" marR="0">
              <a:spcBef>
                <a:spcPts val="0"/>
              </a:spcBef>
              <a:spcAft>
                <a:spcPts val="0"/>
              </a:spcAft>
            </a:pPr>
            <a:r>
              <a:rPr lang="en-GB">
                <a:solidFill>
                  <a:srgbClr val="1D1D1D"/>
                </a:solidFill>
                <a:effectLst/>
                <a:ea typeface="DengXian" panose="02010600030101010101" pitchFamily="2" charset="-122"/>
                <a:cs typeface="Calibri" panose="020F0502020204030204" pitchFamily="34" charset="0"/>
              </a:rPr>
              <a:t>D: +00 (0)00 0000 0000 | M: +00 (0)00 0000 0000</a:t>
            </a:r>
            <a:endParaRPr lang="en-US">
              <a:effectLst/>
              <a:ea typeface="DengXian" panose="02010600030101010101" pitchFamily="2" charset="-122"/>
              <a:cs typeface="Calibri" panose="020F0502020204030204" pitchFamily="34" charset="0"/>
            </a:endParaRPr>
          </a:p>
          <a:p>
            <a:pPr marL="0" marR="0">
              <a:spcBef>
                <a:spcPts val="0"/>
              </a:spcBef>
              <a:spcAft>
                <a:spcPts val="0"/>
              </a:spcAft>
            </a:pPr>
            <a:r>
              <a:rPr lang="en-GB" u="sng">
                <a:solidFill>
                  <a:srgbClr val="0058B9"/>
                </a:solidFill>
                <a:effectLst/>
                <a:ea typeface="DengXian" panose="02010600030101010101" pitchFamily="2" charset="-122"/>
                <a:cs typeface="Calibri" panose="020F0502020204030204" pitchFamily="34" charset="0"/>
                <a:hlinkClick r:id="rId3" tooltip="mailto:name@deloitte.com"/>
              </a:rPr>
              <a:t>name@deloitte.com</a:t>
            </a:r>
            <a:r>
              <a:rPr lang="en-GB">
                <a:solidFill>
                  <a:srgbClr val="1D1D1D"/>
                </a:solidFill>
                <a:effectLst/>
                <a:ea typeface="DengXian" panose="02010600030101010101" pitchFamily="2" charset="-122"/>
                <a:cs typeface="Calibri" panose="020F0502020204030204" pitchFamily="34" charset="0"/>
              </a:rPr>
              <a:t> | </a:t>
            </a:r>
            <a:r>
              <a:rPr lang="en-GB" u="sng">
                <a:solidFill>
                  <a:srgbClr val="0058B9"/>
                </a:solidFill>
                <a:effectLst/>
                <a:ea typeface="DengXian" panose="02010600030101010101" pitchFamily="2" charset="-122"/>
                <a:cs typeface="Calibri" panose="020F0502020204030204" pitchFamily="34" charset="0"/>
                <a:hlinkClick r:id="rId4" tooltip="http://www.deloitte.com"/>
              </a:rPr>
              <a:t>www.deloitte.com</a:t>
            </a:r>
            <a:endParaRPr lang="en-US">
              <a:effectLst/>
              <a:ea typeface="DengXian" panose="02010600030101010101" pitchFamily="2" charset="-122"/>
              <a:cs typeface="Calibri" panose="020F0502020204030204" pitchFamily="34" charset="0"/>
            </a:endParaRPr>
          </a:p>
        </p:txBody>
      </p:sp>
      <p:sp>
        <p:nvSpPr>
          <p:cNvPr id="4" name="TextBox 3">
            <a:extLst>
              <a:ext uri="{FF2B5EF4-FFF2-40B4-BE49-F238E27FC236}">
                <a16:creationId xmlns:a16="http://schemas.microsoft.com/office/drawing/2014/main" id="{65A3CD46-5DD3-6055-35CA-DAB9B4E8BB97}"/>
              </a:ext>
            </a:extLst>
          </p:cNvPr>
          <p:cNvSpPr txBox="1"/>
          <p:nvPr/>
        </p:nvSpPr>
        <p:spPr>
          <a:xfrm>
            <a:off x="6167438" y="5625090"/>
            <a:ext cx="5459850" cy="507831"/>
          </a:xfrm>
          <a:prstGeom prst="rect">
            <a:avLst/>
          </a:prstGeom>
          <a:noFill/>
        </p:spPr>
        <p:txBody>
          <a:bodyPr wrap="square" lIns="0" tIns="0" rIns="0" bIns="0">
            <a:spAutoFit/>
          </a:bodyPr>
          <a:lstStyle/>
          <a:p>
            <a:pPr>
              <a:spcAft>
                <a:spcPts val="600"/>
              </a:spcAft>
            </a:pPr>
            <a:r>
              <a:rPr lang="en-US" sz="1100" b="1">
                <a:solidFill>
                  <a:srgbClr val="00A3E0"/>
                </a:solidFill>
                <a:cs typeface="Calibri"/>
              </a:rPr>
              <a:t>Note: </a:t>
            </a:r>
            <a:r>
              <a:rPr lang="en-US" sz="1100">
                <a:cs typeface="Calibri"/>
              </a:rPr>
              <a:t>If you are in a geography, region, or territory that is not referenced above, your signature style is up to your individual discretion or preference. It is recommended that it aligns as closely as possible with the examples above.</a:t>
            </a:r>
          </a:p>
        </p:txBody>
      </p:sp>
    </p:spTree>
    <p:extLst>
      <p:ext uri="{BB962C8B-B14F-4D97-AF65-F5344CB8AC3E}">
        <p14:creationId xmlns:p14="http://schemas.microsoft.com/office/powerpoint/2010/main" val="78239589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A870C35C-069E-A2CF-3B07-FAA1C690808A}"/>
              </a:ext>
            </a:extLst>
          </p:cNvPr>
          <p:cNvSpPr>
            <a:spLocks noGrp="1"/>
          </p:cNvSpPr>
          <p:nvPr>
            <p:ph type="title"/>
          </p:nvPr>
        </p:nvSpPr>
        <p:spPr/>
        <p:txBody>
          <a:bodyPr/>
          <a:lstStyle/>
          <a:p>
            <a:r>
              <a:rPr lang="en-US">
                <a:solidFill>
                  <a:schemeClr val="tx1"/>
                </a:solidFill>
                <a:cs typeface="Calibri"/>
              </a:rPr>
              <a:t>GFS Style Guide | </a:t>
            </a:r>
            <a:r>
              <a:rPr lang="en-US" b="1"/>
              <a:t>Email announcement and PowerPoint templates</a:t>
            </a:r>
            <a:endParaRPr lang="en-US">
              <a:solidFill>
                <a:schemeClr val="tx1"/>
              </a:solidFill>
              <a:latin typeface="+mj-lt"/>
            </a:endParaRPr>
          </a:p>
        </p:txBody>
      </p:sp>
      <p:sp>
        <p:nvSpPr>
          <p:cNvPr id="3" name="Text Placeholder 2">
            <a:extLst>
              <a:ext uri="{FF2B5EF4-FFF2-40B4-BE49-F238E27FC236}">
                <a16:creationId xmlns:a16="http://schemas.microsoft.com/office/drawing/2014/main" id="{7BC883BB-C787-EB9F-8F78-9C9D99753D2D}"/>
              </a:ext>
            </a:extLst>
          </p:cNvPr>
          <p:cNvSpPr txBox="1">
            <a:spLocks/>
          </p:cNvSpPr>
          <p:nvPr/>
        </p:nvSpPr>
        <p:spPr>
          <a:xfrm>
            <a:off x="342900" y="895129"/>
            <a:ext cx="3660139" cy="5398095"/>
          </a:xfrm>
          <a:prstGeom prst="rect">
            <a:avLst/>
          </a:prstGeom>
          <a:solidFill>
            <a:schemeClr val="bg1"/>
          </a:solidFill>
          <a:ln>
            <a:noFill/>
          </a:ln>
          <a:effectLst>
            <a:outerShdw blurRad="50800" dist="38100" dir="5400000" algn="t" rotWithShape="0">
              <a:prstClr val="black">
                <a:alpha val="40000"/>
              </a:prstClr>
            </a:outerShdw>
          </a:effectLst>
        </p:spPr>
        <p:txBody>
          <a:bodyPr wrap="square" lIns="180000" tIns="144000" rIns="180000" bIns="144000" anchor="t">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a:spcBef>
                <a:spcPts val="1200"/>
              </a:spcBef>
              <a:spcAft>
                <a:spcPts val="600"/>
              </a:spcAft>
            </a:pPr>
            <a:r>
              <a:rPr lang="en-US" sz="1600" b="1">
                <a:solidFill>
                  <a:srgbClr val="00A3E0"/>
                </a:solidFill>
                <a:cs typeface="Calibri"/>
              </a:rPr>
              <a:t>Email Announcement templates: </a:t>
            </a:r>
          </a:p>
          <a:p>
            <a:pPr>
              <a:spcAft>
                <a:spcPts val="0"/>
              </a:spcAft>
            </a:pPr>
            <a:r>
              <a:rPr lang="en-US">
                <a:solidFill>
                  <a:srgbClr val="0AA7E1"/>
                </a:solidFill>
                <a:ea typeface="DengXian"/>
                <a:cs typeface="Calibri"/>
                <a:hlinkClick r:id="rId3">
                  <a:extLst>
                    <a:ext uri="{A12FA001-AC4F-418D-AE19-62706E023703}">
                      <ahyp:hlinkClr xmlns:ahyp="http://schemas.microsoft.com/office/drawing/2018/hyperlinkcolor" val="tx"/>
                    </a:ext>
                  </a:extLst>
                </a:hlinkClick>
              </a:rPr>
              <a:t>Email template (image 1) - white background</a:t>
            </a:r>
            <a:br>
              <a:rPr lang="en-US">
                <a:solidFill>
                  <a:srgbClr val="0AA7E1"/>
                </a:solidFill>
                <a:ea typeface="DengXian" panose="02010600030101010101" pitchFamily="2" charset="-122"/>
                <a:cs typeface="Calibri" panose="020F0502020204030204" pitchFamily="34" charset="0"/>
              </a:rPr>
            </a:br>
            <a:r>
              <a:rPr lang="en-US">
                <a:solidFill>
                  <a:srgbClr val="0AA7E1"/>
                </a:solidFill>
                <a:ea typeface="DengXian"/>
                <a:cs typeface="Calibri"/>
                <a:hlinkClick r:id="rId4">
                  <a:extLst>
                    <a:ext uri="{A12FA001-AC4F-418D-AE19-62706E023703}">
                      <ahyp:hlinkClr xmlns:ahyp="http://schemas.microsoft.com/office/drawing/2018/hyperlinkcolor" val="tx"/>
                    </a:ext>
                  </a:extLst>
                </a:hlinkClick>
              </a:rPr>
              <a:t>Email template (image 1) - black background</a:t>
            </a:r>
            <a:endParaRPr lang="en-US">
              <a:solidFill>
                <a:srgbClr val="0AA7E1"/>
              </a:solidFill>
              <a:ea typeface="DengXian"/>
              <a:cs typeface="Calibri"/>
            </a:endParaRPr>
          </a:p>
          <a:p>
            <a:pPr>
              <a:spcAft>
                <a:spcPts val="0"/>
              </a:spcAft>
            </a:pPr>
            <a:r>
              <a:rPr lang="en-US">
                <a:solidFill>
                  <a:srgbClr val="0AA7E1"/>
                </a:solidFill>
                <a:ea typeface="DengXian"/>
                <a:cs typeface="Calibri"/>
                <a:hlinkClick r:id="rId5">
                  <a:extLst>
                    <a:ext uri="{A12FA001-AC4F-418D-AE19-62706E023703}">
                      <ahyp:hlinkClr xmlns:ahyp="http://schemas.microsoft.com/office/drawing/2018/hyperlinkcolor" val="tx"/>
                    </a:ext>
                  </a:extLst>
                </a:hlinkClick>
              </a:rPr>
              <a:t>Email template (image 2) - white background</a:t>
            </a:r>
            <a:br>
              <a:rPr lang="en-US">
                <a:solidFill>
                  <a:srgbClr val="0AA7E1"/>
                </a:solidFill>
                <a:ea typeface="DengXian" panose="02010600030101010101" pitchFamily="2" charset="-122"/>
                <a:cs typeface="Calibri" panose="020F0502020204030204" pitchFamily="34" charset="0"/>
              </a:rPr>
            </a:br>
            <a:r>
              <a:rPr lang="en-US">
                <a:solidFill>
                  <a:srgbClr val="0AA7E1"/>
                </a:solidFill>
                <a:ea typeface="DengXian"/>
                <a:cs typeface="Calibri"/>
                <a:hlinkClick r:id="rId6">
                  <a:extLst>
                    <a:ext uri="{A12FA001-AC4F-418D-AE19-62706E023703}">
                      <ahyp:hlinkClr xmlns:ahyp="http://schemas.microsoft.com/office/drawing/2018/hyperlinkcolor" val="tx"/>
                    </a:ext>
                  </a:extLst>
                </a:hlinkClick>
              </a:rPr>
              <a:t>Email template (image 2) - black background </a:t>
            </a:r>
          </a:p>
          <a:p>
            <a:pPr>
              <a:spcBef>
                <a:spcPts val="1200"/>
              </a:spcBef>
              <a:spcAft>
                <a:spcPts val="600"/>
              </a:spcAft>
            </a:pPr>
            <a:r>
              <a:rPr lang="en-US" sz="1600" b="1">
                <a:solidFill>
                  <a:srgbClr val="00A3E0"/>
                </a:solidFill>
                <a:cs typeface="Calibri"/>
              </a:rPr>
              <a:t>PowerPoint templates:</a:t>
            </a:r>
          </a:p>
          <a:p>
            <a:pPr>
              <a:spcAft>
                <a:spcPts val="0"/>
              </a:spcAft>
            </a:pPr>
            <a:r>
              <a:rPr lang="en-US">
                <a:solidFill>
                  <a:srgbClr val="0AA7E1"/>
                </a:solidFill>
                <a:ea typeface="DengXian"/>
                <a:cs typeface="Calibri"/>
                <a:hlinkClick r:id="rId7">
                  <a:extLst>
                    <a:ext uri="{A12FA001-AC4F-418D-AE19-62706E023703}">
                      <ahyp:hlinkClr xmlns:ahyp="http://schemas.microsoft.com/office/drawing/2018/hyperlinkcolor" val="tx"/>
                    </a:ext>
                  </a:extLst>
                </a:hlinkClick>
              </a:rPr>
              <a:t>PPT template - white background</a:t>
            </a:r>
            <a:endParaRPr lang="en-US">
              <a:solidFill>
                <a:srgbClr val="0AA7E1"/>
              </a:solidFill>
              <a:ea typeface="DengXian"/>
              <a:cs typeface="Calibri"/>
            </a:endParaRPr>
          </a:p>
          <a:p>
            <a:pPr>
              <a:spcAft>
                <a:spcPts val="0"/>
              </a:spcAft>
            </a:pPr>
            <a:r>
              <a:rPr lang="en-US">
                <a:solidFill>
                  <a:srgbClr val="0AA7E1"/>
                </a:solidFill>
                <a:ea typeface="DengXian"/>
                <a:cs typeface="Calibri"/>
                <a:hlinkClick r:id="rId8">
                  <a:extLst>
                    <a:ext uri="{A12FA001-AC4F-418D-AE19-62706E023703}">
                      <ahyp:hlinkClr xmlns:ahyp="http://schemas.microsoft.com/office/drawing/2018/hyperlinkcolor" val="tx"/>
                    </a:ext>
                  </a:extLst>
                </a:hlinkClick>
              </a:rPr>
              <a:t>PPT template - black background</a:t>
            </a:r>
            <a:endParaRPr lang="en-US">
              <a:solidFill>
                <a:srgbClr val="0AA7E1"/>
              </a:solidFill>
              <a:ea typeface="DengXian"/>
              <a:cs typeface="Calibri"/>
            </a:endParaRPr>
          </a:p>
          <a:p>
            <a:pPr>
              <a:spcAft>
                <a:spcPts val="0"/>
              </a:spcAft>
            </a:pPr>
            <a:r>
              <a:rPr lang="en-US">
                <a:solidFill>
                  <a:srgbClr val="0AA7E1"/>
                </a:solidFill>
                <a:ea typeface="DengXian"/>
                <a:cs typeface="Calibri"/>
                <a:hlinkClick r:id="rId9">
                  <a:extLst>
                    <a:ext uri="{A12FA001-AC4F-418D-AE19-62706E023703}">
                      <ahyp:hlinkClr xmlns:ahyp="http://schemas.microsoft.com/office/drawing/2018/hyperlinkcolor" val="tx"/>
                    </a:ext>
                  </a:extLst>
                </a:hlinkClick>
              </a:rPr>
              <a:t>PPT timesaver - white background</a:t>
            </a:r>
          </a:p>
          <a:p>
            <a:pPr>
              <a:spcAft>
                <a:spcPts val="0"/>
              </a:spcAft>
            </a:pPr>
            <a:r>
              <a:rPr lang="en-US">
                <a:solidFill>
                  <a:srgbClr val="0AA7E1"/>
                </a:solidFill>
                <a:ea typeface="DengXian"/>
                <a:cs typeface="Calibri"/>
                <a:hlinkClick r:id="rId10">
                  <a:extLst>
                    <a:ext uri="{A12FA001-AC4F-418D-AE19-62706E023703}">
                      <ahyp:hlinkClr xmlns:ahyp="http://schemas.microsoft.com/office/drawing/2018/hyperlinkcolor" val="tx"/>
                    </a:ext>
                  </a:extLst>
                </a:hlinkClick>
              </a:rPr>
              <a:t>PPT timesaver - black background</a:t>
            </a:r>
            <a:endParaRPr lang="en-US">
              <a:solidFill>
                <a:srgbClr val="0AA7E1"/>
              </a:solidFill>
              <a:hlinkClick r:id="rId10">
                <a:extLst>
                  <a:ext uri="{A12FA001-AC4F-418D-AE19-62706E023703}">
                    <ahyp:hlinkClr xmlns:ahyp="http://schemas.microsoft.com/office/drawing/2018/hyperlinkcolor" val="tx"/>
                  </a:ext>
                </a:extLst>
              </a:hlinkClick>
            </a:endParaRPr>
          </a:p>
          <a:p>
            <a:pPr marL="0" marR="0">
              <a:spcBef>
                <a:spcPts val="0"/>
              </a:spcBef>
              <a:spcAft>
                <a:spcPts val="0"/>
              </a:spcAft>
            </a:pPr>
            <a:endParaRPr lang="en-US">
              <a:solidFill>
                <a:srgbClr val="000000"/>
              </a:solidFill>
              <a:effectLst/>
              <a:ea typeface="DengXian" panose="02010600030101010101" pitchFamily="2" charset="-122"/>
              <a:cs typeface="Calibri" panose="020F0502020204030204" pitchFamily="34" charset="0"/>
            </a:endParaRPr>
          </a:p>
          <a:p>
            <a:pPr>
              <a:spcAft>
                <a:spcPts val="0"/>
              </a:spcAft>
            </a:pPr>
            <a:r>
              <a:rPr lang="en-US" sz="1600" b="1">
                <a:solidFill>
                  <a:srgbClr val="00A3E0"/>
                </a:solidFill>
                <a:cs typeface="Calibri"/>
              </a:rPr>
              <a:t>Email and PowerPoint samples:</a:t>
            </a:r>
          </a:p>
          <a:p>
            <a:pPr>
              <a:spcAft>
                <a:spcPts val="0"/>
              </a:spcAft>
            </a:pPr>
            <a:endParaRPr lang="en-US">
              <a:solidFill>
                <a:srgbClr val="DA291C"/>
              </a:solidFill>
              <a:ea typeface="DengXian"/>
              <a:cs typeface="Calibri"/>
            </a:endParaRPr>
          </a:p>
          <a:p>
            <a:pPr>
              <a:spcAft>
                <a:spcPts val="0"/>
              </a:spcAft>
            </a:pPr>
            <a:r>
              <a:rPr lang="en-US">
                <a:solidFill>
                  <a:srgbClr val="0AA7E1"/>
                </a:solidFill>
                <a:ea typeface="DengXian"/>
                <a:cs typeface="Calibri"/>
                <a:hlinkClick r:id="rId11">
                  <a:extLst>
                    <a:ext uri="{A12FA001-AC4F-418D-AE19-62706E023703}">
                      <ahyp:hlinkClr xmlns:ahyp="http://schemas.microsoft.com/office/drawing/2018/hyperlinkcolor" val="tx"/>
                    </a:ext>
                  </a:extLst>
                </a:hlinkClick>
              </a:rPr>
              <a:t>Email sample (new format) - white background</a:t>
            </a:r>
            <a:endParaRPr lang="en-US" sz="1600" b="1">
              <a:solidFill>
                <a:srgbClr val="0AA7E1"/>
              </a:solidFill>
              <a:ea typeface="DengXian"/>
              <a:cs typeface="Calibri"/>
              <a:hlinkClick r:id="rId11">
                <a:extLst>
                  <a:ext uri="{A12FA001-AC4F-418D-AE19-62706E023703}">
                    <ahyp:hlinkClr xmlns:ahyp="http://schemas.microsoft.com/office/drawing/2018/hyperlinkcolor" val="tx"/>
                  </a:ext>
                </a:extLst>
              </a:hlinkClick>
            </a:endParaRPr>
          </a:p>
          <a:p>
            <a:pPr>
              <a:spcAft>
                <a:spcPts val="0"/>
              </a:spcAft>
            </a:pPr>
            <a:r>
              <a:rPr lang="en-US">
                <a:solidFill>
                  <a:srgbClr val="0AA7E1"/>
                </a:solidFill>
                <a:ea typeface="DengXian"/>
                <a:cs typeface="Calibri"/>
                <a:hlinkClick r:id="rId12">
                  <a:extLst>
                    <a:ext uri="{A12FA001-AC4F-418D-AE19-62706E023703}">
                      <ahyp:hlinkClr xmlns:ahyp="http://schemas.microsoft.com/office/drawing/2018/hyperlinkcolor" val="tx"/>
                    </a:ext>
                  </a:extLst>
                </a:hlinkClick>
              </a:rPr>
              <a:t>PPT sample (new format) - white background</a:t>
            </a:r>
            <a:endParaRPr lang="en-US" sz="1400" b="1">
              <a:solidFill>
                <a:srgbClr val="0AA7E1"/>
              </a:solidFill>
              <a:ea typeface="DengXian" panose="02010600030101010101" pitchFamily="2" charset="-122"/>
              <a:cs typeface="Calibri" panose="020F0502020204030204" pitchFamily="34" charset="0"/>
              <a:hlinkClick r:id="rId12">
                <a:extLst>
                  <a:ext uri="{A12FA001-AC4F-418D-AE19-62706E023703}">
                    <ahyp:hlinkClr xmlns:ahyp="http://schemas.microsoft.com/office/drawing/2018/hyperlinkcolor" val="tx"/>
                  </a:ext>
                </a:extLst>
              </a:hlinkClick>
            </a:endParaRPr>
          </a:p>
          <a:p>
            <a:pPr>
              <a:spcAft>
                <a:spcPts val="0"/>
              </a:spcAft>
            </a:pPr>
            <a:endParaRPr lang="en-US" sz="1100">
              <a:solidFill>
                <a:srgbClr val="000000"/>
              </a:solidFill>
              <a:ea typeface="DengXian" panose="02010600030101010101" pitchFamily="2" charset="-122"/>
              <a:cs typeface="Calibri" panose="020F0502020204030204" pitchFamily="34" charset="0"/>
            </a:endParaRPr>
          </a:p>
        </p:txBody>
      </p:sp>
      <p:grpSp>
        <p:nvGrpSpPr>
          <p:cNvPr id="24" name="Group 23">
            <a:extLst>
              <a:ext uri="{FF2B5EF4-FFF2-40B4-BE49-F238E27FC236}">
                <a16:creationId xmlns:a16="http://schemas.microsoft.com/office/drawing/2014/main" id="{67AE2527-6A00-0875-A326-451623590782}"/>
              </a:ext>
            </a:extLst>
          </p:cNvPr>
          <p:cNvGrpSpPr>
            <a:grpSpLocks noGrp="1" noUngrp="1" noRot="1" noMove="1" noResize="1"/>
          </p:cNvGrpSpPr>
          <p:nvPr/>
        </p:nvGrpSpPr>
        <p:grpSpPr>
          <a:xfrm>
            <a:off x="8527600" y="1066129"/>
            <a:ext cx="2292800" cy="5227095"/>
            <a:chOff x="8609452" y="991906"/>
            <a:chExt cx="3162104" cy="7307181"/>
          </a:xfrm>
        </p:grpSpPr>
        <p:pic>
          <p:nvPicPr>
            <p:cNvPr id="17" name="Picture 16">
              <a:extLst>
                <a:ext uri="{FF2B5EF4-FFF2-40B4-BE49-F238E27FC236}">
                  <a16:creationId xmlns:a16="http://schemas.microsoft.com/office/drawing/2014/main" id="{AAFB7A6C-BCB0-5B30-5B6A-A4E3F709B156}"/>
                </a:ext>
              </a:extLst>
            </p:cNvPr>
            <p:cNvPicPr>
              <a:picLocks noGrp="1" noRot="1" noChangeAspect="1" noMove="1" noResize="1" noEditPoints="1" noAdjustHandles="1" noChangeArrowheads="1" noChangeShapeType="1" noCrop="1"/>
            </p:cNvPicPr>
            <p:nvPr/>
          </p:nvPicPr>
          <p:blipFill>
            <a:blip r:embed="rId13"/>
            <a:srcRect t="4916" b="4916"/>
            <a:stretch>
              <a:fillRect/>
            </a:stretch>
          </p:blipFill>
          <p:spPr>
            <a:xfrm>
              <a:off x="8609452" y="991906"/>
              <a:ext cx="3150824" cy="1775094"/>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62C30B5B-2EE1-510A-8AF1-196CC6AA5E68}"/>
                </a:ext>
              </a:extLst>
            </p:cNvPr>
            <p:cNvPicPr>
              <a:picLocks noGrp="1" noRot="1" noChangeAspect="1" noMove="1" noResize="1" noEditPoints="1" noAdjustHandles="1" noChangeArrowheads="1" noChangeShapeType="1" noCrop="1"/>
            </p:cNvPicPr>
            <p:nvPr/>
          </p:nvPicPr>
          <p:blipFill>
            <a:blip r:embed="rId14"/>
            <a:srcRect t="838" b="-1"/>
            <a:stretch>
              <a:fillRect/>
            </a:stretch>
          </p:blipFill>
          <p:spPr>
            <a:xfrm>
              <a:off x="8620731" y="2840473"/>
              <a:ext cx="3139545" cy="176022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23DBF078-22E0-B60B-06CB-7AE6B6FA97BE}"/>
                </a:ext>
              </a:extLst>
            </p:cNvPr>
            <p:cNvPicPr>
              <a:picLocks noGrp="1" noRot="1" noChangeAspect="1" noMove="1" noResize="1" noEditPoints="1" noAdjustHandles="1" noChangeArrowheads="1" noChangeShapeType="1" noCrop="1"/>
            </p:cNvPicPr>
            <p:nvPr/>
          </p:nvPicPr>
          <p:blipFill>
            <a:blip r:embed="rId15"/>
            <a:stretch>
              <a:fillRect/>
            </a:stretch>
          </p:blipFill>
          <p:spPr>
            <a:xfrm>
              <a:off x="8620731" y="4674166"/>
              <a:ext cx="3150824" cy="1776545"/>
            </a:xfrm>
            <a:prstGeom prst="rect">
              <a:avLst/>
            </a:prstGeom>
            <a:effectLst>
              <a:outerShdw blurRad="50800" dist="38100" dir="5400000" algn="t" rotWithShape="0">
                <a:prstClr val="black">
                  <a:alpha val="40000"/>
                </a:prstClr>
              </a:outerShdw>
            </a:effectLst>
          </p:spPr>
        </p:pic>
        <p:pic>
          <p:nvPicPr>
            <p:cNvPr id="23" name="Picture 22">
              <a:extLst>
                <a:ext uri="{FF2B5EF4-FFF2-40B4-BE49-F238E27FC236}">
                  <a16:creationId xmlns:a16="http://schemas.microsoft.com/office/drawing/2014/main" id="{10EB4E57-AA19-D711-0235-2BDD84280771}"/>
                </a:ext>
              </a:extLst>
            </p:cNvPr>
            <p:cNvPicPr>
              <a:picLocks noGrp="1" noRot="1" noChangeAspect="1" noMove="1" noResize="1" noEditPoints="1" noAdjustHandles="1" noChangeArrowheads="1" noChangeShapeType="1" noCrop="1"/>
            </p:cNvPicPr>
            <p:nvPr/>
          </p:nvPicPr>
          <p:blipFill>
            <a:blip r:embed="rId16"/>
            <a:stretch>
              <a:fillRect/>
            </a:stretch>
          </p:blipFill>
          <p:spPr>
            <a:xfrm>
              <a:off x="8620732" y="6524183"/>
              <a:ext cx="3150824" cy="1774904"/>
            </a:xfrm>
            <a:prstGeom prst="rect">
              <a:avLst/>
            </a:prstGeom>
            <a:effectLst>
              <a:outerShdw blurRad="50800" dist="38100" dir="5400000" algn="t" rotWithShape="0">
                <a:prstClr val="black">
                  <a:alpha val="40000"/>
                </a:prstClr>
              </a:outerShdw>
            </a:effectLst>
          </p:spPr>
        </p:pic>
      </p:grpSp>
      <p:sp>
        <p:nvSpPr>
          <p:cNvPr id="2" name="TextBox 1">
            <a:extLst>
              <a:ext uri="{FF2B5EF4-FFF2-40B4-BE49-F238E27FC236}">
                <a16:creationId xmlns:a16="http://schemas.microsoft.com/office/drawing/2014/main" id="{61122531-FE73-AE2F-7E27-DB2C2E73A763}"/>
              </a:ext>
            </a:extLst>
          </p:cNvPr>
          <p:cNvSpPr txBox="1"/>
          <p:nvPr/>
        </p:nvSpPr>
        <p:spPr>
          <a:xfrm>
            <a:off x="8527601" y="687992"/>
            <a:ext cx="2292798" cy="338554"/>
          </a:xfrm>
          <a:prstGeom prst="rect">
            <a:avLst/>
          </a:prstGeom>
          <a:solidFill>
            <a:schemeClr val="tx1"/>
          </a:solidFill>
        </p:spPr>
        <p:txBody>
          <a:bodyPr wrap="square">
            <a:spAutoFit/>
          </a:bodyPr>
          <a:lstStyle/>
          <a:p>
            <a:pPr algn="ctr"/>
            <a:r>
              <a:rPr lang="en-US" sz="1600" b="1">
                <a:solidFill>
                  <a:schemeClr val="bg1"/>
                </a:solidFill>
                <a:latin typeface="Aptos" panose="020B0004020202020204" pitchFamily="34" charset="0"/>
              </a:rPr>
              <a:t>PowerPoint</a:t>
            </a:r>
            <a:endParaRPr lang="en-US" sz="1600">
              <a:solidFill>
                <a:schemeClr val="bg1"/>
              </a:solidFill>
              <a:latin typeface="Aptos" panose="020B0004020202020204" pitchFamily="34" charset="0"/>
            </a:endParaRPr>
          </a:p>
        </p:txBody>
      </p:sp>
      <p:sp>
        <p:nvSpPr>
          <p:cNvPr id="4" name="TextBox 3">
            <a:extLst>
              <a:ext uri="{FF2B5EF4-FFF2-40B4-BE49-F238E27FC236}">
                <a16:creationId xmlns:a16="http://schemas.microsoft.com/office/drawing/2014/main" id="{264EE07C-2066-763C-E0FC-2F689E1ECFFB}"/>
              </a:ext>
            </a:extLst>
          </p:cNvPr>
          <p:cNvSpPr txBox="1"/>
          <p:nvPr/>
        </p:nvSpPr>
        <p:spPr>
          <a:xfrm>
            <a:off x="4300324" y="693602"/>
            <a:ext cx="3758973" cy="553998"/>
          </a:xfrm>
          <a:prstGeom prst="rect">
            <a:avLst/>
          </a:prstGeom>
          <a:solidFill>
            <a:schemeClr val="tx1"/>
          </a:solidFill>
        </p:spPr>
        <p:txBody>
          <a:bodyPr wrap="square" lIns="91440" tIns="45720" rIns="91440" bIns="45720" anchor="t">
            <a:spAutoFit/>
          </a:bodyPr>
          <a:lstStyle/>
          <a:p>
            <a:pPr algn="ctr"/>
            <a:r>
              <a:rPr lang="en-US" sz="1600" b="1">
                <a:solidFill>
                  <a:schemeClr val="bg1"/>
                </a:solidFill>
                <a:cs typeface="Calibri"/>
              </a:rPr>
              <a:t>Email Announcement</a:t>
            </a:r>
            <a:br>
              <a:rPr lang="en-US" sz="1600" b="1">
                <a:cs typeface="Calibri"/>
              </a:rPr>
            </a:br>
            <a:r>
              <a:rPr lang="en-CA" sz="1400">
                <a:solidFill>
                  <a:srgbClr val="00A3E0"/>
                </a:solidFill>
                <a:cs typeface="Calibri"/>
              </a:rPr>
              <a:t>Note: </a:t>
            </a:r>
            <a:r>
              <a:rPr lang="en-CA" sz="1100" b="1">
                <a:solidFill>
                  <a:schemeClr val="bg1"/>
                </a:solidFill>
                <a:cs typeface="Calibri"/>
              </a:rPr>
              <a:t>Please use for GFS wide and MF communications</a:t>
            </a:r>
            <a:endParaRPr lang="en-US" sz="1600">
              <a:solidFill>
                <a:schemeClr val="bg1"/>
              </a:solidFill>
              <a:latin typeface="Aptos" panose="020B0004020202020204" pitchFamily="34" charset="0"/>
            </a:endParaRPr>
          </a:p>
        </p:txBody>
      </p:sp>
      <p:grpSp>
        <p:nvGrpSpPr>
          <p:cNvPr id="6" name="Group 5">
            <a:extLst>
              <a:ext uri="{FF2B5EF4-FFF2-40B4-BE49-F238E27FC236}">
                <a16:creationId xmlns:a16="http://schemas.microsoft.com/office/drawing/2014/main" id="{CF9A9B25-DDE5-9C23-671D-3FE1BD9D2786}"/>
              </a:ext>
            </a:extLst>
          </p:cNvPr>
          <p:cNvGrpSpPr>
            <a:grpSpLocks noGrp="1" noUngrp="1" noRot="1" noMove="1" noResize="1"/>
          </p:cNvGrpSpPr>
          <p:nvPr/>
        </p:nvGrpSpPr>
        <p:grpSpPr>
          <a:xfrm>
            <a:off x="4300324" y="1273515"/>
            <a:ext cx="3758971" cy="5019709"/>
            <a:chOff x="4300324" y="1273515"/>
            <a:chExt cx="3758971" cy="5019709"/>
          </a:xfrm>
        </p:grpSpPr>
        <p:grpSp>
          <p:nvGrpSpPr>
            <p:cNvPr id="27" name="Group 26">
              <a:extLst>
                <a:ext uri="{FF2B5EF4-FFF2-40B4-BE49-F238E27FC236}">
                  <a16:creationId xmlns:a16="http://schemas.microsoft.com/office/drawing/2014/main" id="{8B9E8A60-83DB-2ED7-2823-4C4E4F26E754}"/>
                </a:ext>
              </a:extLst>
            </p:cNvPr>
            <p:cNvGrpSpPr>
              <a:grpSpLocks noGrp="1" noUngrp="1" noRot="1" noMove="1" noResize="1"/>
            </p:cNvGrpSpPr>
            <p:nvPr/>
          </p:nvGrpSpPr>
          <p:grpSpPr>
            <a:xfrm>
              <a:off x="4310412" y="1273515"/>
              <a:ext cx="3748883" cy="5019709"/>
              <a:chOff x="4198439" y="895130"/>
              <a:chExt cx="4632915" cy="6203417"/>
            </a:xfrm>
          </p:grpSpPr>
          <p:pic>
            <p:nvPicPr>
              <p:cNvPr id="29" name="Picture 28">
                <a:extLst>
                  <a:ext uri="{FF2B5EF4-FFF2-40B4-BE49-F238E27FC236}">
                    <a16:creationId xmlns:a16="http://schemas.microsoft.com/office/drawing/2014/main" id="{51318BC5-62EA-C65B-9FC0-CFDC06F1EFF1}"/>
                  </a:ext>
                </a:extLst>
              </p:cNvPr>
              <p:cNvPicPr>
                <a:picLocks noGrp="1" noRot="1" noChangeAspect="1" noMove="1" noResize="1" noEditPoints="1" noAdjustHandles="1" noChangeArrowheads="1" noChangeShapeType="1" noCrop="1"/>
              </p:cNvPicPr>
              <p:nvPr/>
            </p:nvPicPr>
            <p:blipFill>
              <a:blip r:embed="rId17"/>
              <a:stretch>
                <a:fillRect/>
              </a:stretch>
            </p:blipFill>
            <p:spPr>
              <a:xfrm>
                <a:off x="6540167" y="895130"/>
                <a:ext cx="2291187" cy="2750190"/>
              </a:xfrm>
              <a:prstGeom prst="rect">
                <a:avLst/>
              </a:prstGeom>
              <a:ln>
                <a:solidFill>
                  <a:schemeClr val="bg1"/>
                </a:solidFill>
              </a:ln>
              <a:effectLst>
                <a:outerShdw blurRad="50800" dist="38100" dir="5400000" algn="t" rotWithShape="0">
                  <a:prstClr val="black">
                    <a:alpha val="40000"/>
                  </a:prstClr>
                </a:outerShdw>
              </a:effectLst>
            </p:spPr>
          </p:pic>
          <p:pic>
            <p:nvPicPr>
              <p:cNvPr id="30" name="Picture 29">
                <a:extLst>
                  <a:ext uri="{FF2B5EF4-FFF2-40B4-BE49-F238E27FC236}">
                    <a16:creationId xmlns:a16="http://schemas.microsoft.com/office/drawing/2014/main" id="{621960B6-909A-DD88-14C5-286758D75D10}"/>
                  </a:ext>
                </a:extLst>
              </p:cNvPr>
              <p:cNvPicPr>
                <a:picLocks noGrp="1" noRot="1" noChangeAspect="1" noMove="1" noResize="1" noEditPoints="1" noAdjustHandles="1" noChangeArrowheads="1" noChangeShapeType="1" noCrop="1"/>
              </p:cNvPicPr>
              <p:nvPr/>
            </p:nvPicPr>
            <p:blipFill>
              <a:blip r:embed="rId18"/>
              <a:stretch>
                <a:fillRect/>
              </a:stretch>
            </p:blipFill>
            <p:spPr>
              <a:xfrm>
                <a:off x="4198439" y="3753583"/>
                <a:ext cx="2257607" cy="3344964"/>
              </a:xfrm>
              <a:prstGeom prst="rect">
                <a:avLst/>
              </a:prstGeom>
              <a:ln>
                <a:solidFill>
                  <a:schemeClr val="bg1"/>
                </a:solidFill>
              </a:ln>
              <a:effectLst>
                <a:outerShdw blurRad="50800" dist="38100" dir="5400000" algn="t" rotWithShape="0">
                  <a:prstClr val="black">
                    <a:alpha val="40000"/>
                  </a:prstClr>
                </a:outerShdw>
              </a:effectLst>
            </p:spPr>
          </p:pic>
          <p:pic>
            <p:nvPicPr>
              <p:cNvPr id="31" name="Picture 30">
                <a:extLst>
                  <a:ext uri="{FF2B5EF4-FFF2-40B4-BE49-F238E27FC236}">
                    <a16:creationId xmlns:a16="http://schemas.microsoft.com/office/drawing/2014/main" id="{F5A90FEA-5D65-F657-8367-D89CF2500D28}"/>
                  </a:ext>
                </a:extLst>
              </p:cNvPr>
              <p:cNvPicPr>
                <a:picLocks noGrp="1" noRot="1" noChangeAspect="1" noMove="1" noResize="1" noEditPoints="1" noAdjustHandles="1" noChangeArrowheads="1" noChangeShapeType="1" noCrop="1"/>
              </p:cNvPicPr>
              <p:nvPr/>
            </p:nvPicPr>
            <p:blipFill>
              <a:blip r:embed="rId19"/>
              <a:stretch>
                <a:fillRect/>
              </a:stretch>
            </p:blipFill>
            <p:spPr>
              <a:xfrm>
                <a:off x="6540168" y="3753583"/>
                <a:ext cx="2291186" cy="3335769"/>
              </a:xfrm>
              <a:prstGeom prst="rect">
                <a:avLst/>
              </a:prstGeom>
              <a:ln>
                <a:solidFill>
                  <a:schemeClr val="bg1"/>
                </a:solidFill>
              </a:ln>
              <a:effectLst>
                <a:outerShdw blurRad="50800" dist="38100" dir="5400000" algn="t" rotWithShape="0">
                  <a:prstClr val="black">
                    <a:alpha val="40000"/>
                  </a:prstClr>
                </a:outerShdw>
              </a:effectLst>
            </p:spPr>
          </p:pic>
        </p:grpSp>
        <p:pic>
          <p:nvPicPr>
            <p:cNvPr id="5" name="Picture 4">
              <a:extLst>
                <a:ext uri="{FF2B5EF4-FFF2-40B4-BE49-F238E27FC236}">
                  <a16:creationId xmlns:a16="http://schemas.microsoft.com/office/drawing/2014/main" id="{4AC727B3-63C4-3336-CC99-F92A5BCD8446}"/>
                </a:ext>
              </a:extLst>
            </p:cNvPr>
            <p:cNvPicPr>
              <a:picLocks noGrp="1" noRot="1" noChangeAspect="1" noMove="1" noResize="1" noEditPoints="1" noAdjustHandles="1" noChangeArrowheads="1" noChangeShapeType="1" noCrop="1"/>
            </p:cNvPicPr>
            <p:nvPr/>
          </p:nvPicPr>
          <p:blipFill>
            <a:blip r:embed="rId20"/>
            <a:stretch>
              <a:fillRect/>
            </a:stretch>
          </p:blipFill>
          <p:spPr>
            <a:xfrm>
              <a:off x="4300324" y="1294480"/>
              <a:ext cx="1858147" cy="2224541"/>
            </a:xfrm>
            <a:prstGeom prst="rect">
              <a:avLst/>
            </a:prstGeom>
          </p:spPr>
        </p:pic>
      </p:grpSp>
    </p:spTree>
    <p:extLst>
      <p:ext uri="{BB962C8B-B14F-4D97-AF65-F5344CB8AC3E}">
        <p14:creationId xmlns:p14="http://schemas.microsoft.com/office/powerpoint/2010/main" val="308020667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930C7-1397-47E6-FD4E-17CB32CA1FDC}"/>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07830EAE-5E90-2DCA-21FF-E9B6ACE02F1A}"/>
              </a:ext>
            </a:extLst>
          </p:cNvPr>
          <p:cNvSpPr>
            <a:spLocks noGrp="1"/>
          </p:cNvSpPr>
          <p:nvPr>
            <p:ph type="title"/>
          </p:nvPr>
        </p:nvSpPr>
        <p:spPr/>
        <p:txBody>
          <a:bodyPr/>
          <a:lstStyle/>
          <a:p>
            <a:r>
              <a:rPr lang="en-US">
                <a:solidFill>
                  <a:schemeClr val="tx1"/>
                </a:solidFill>
                <a:cs typeface="Calibri"/>
              </a:rPr>
              <a:t>GFS Style Guide | </a:t>
            </a:r>
            <a:r>
              <a:rPr lang="en-US" b="1"/>
              <a:t>Word templates</a:t>
            </a:r>
            <a:endParaRPr lang="en-US">
              <a:solidFill>
                <a:schemeClr val="tx1"/>
              </a:solidFill>
              <a:latin typeface="+mj-lt"/>
            </a:endParaRPr>
          </a:p>
        </p:txBody>
      </p:sp>
      <p:sp>
        <p:nvSpPr>
          <p:cNvPr id="3" name="Text Placeholder 2">
            <a:extLst>
              <a:ext uri="{FF2B5EF4-FFF2-40B4-BE49-F238E27FC236}">
                <a16:creationId xmlns:a16="http://schemas.microsoft.com/office/drawing/2014/main" id="{9E3882A3-EA48-CDBA-45B7-33CBEAB1CBB1}"/>
              </a:ext>
            </a:extLst>
          </p:cNvPr>
          <p:cNvSpPr txBox="1">
            <a:spLocks/>
          </p:cNvSpPr>
          <p:nvPr/>
        </p:nvSpPr>
        <p:spPr>
          <a:xfrm>
            <a:off x="342900" y="895129"/>
            <a:ext cx="3067907" cy="5398095"/>
          </a:xfrm>
          <a:prstGeom prst="rect">
            <a:avLst/>
          </a:prstGeom>
          <a:solidFill>
            <a:schemeClr val="bg1"/>
          </a:solidFill>
          <a:ln>
            <a:noFill/>
          </a:ln>
          <a:effectLst>
            <a:outerShdw blurRad="50800" dist="38100" dir="5400000" algn="t" rotWithShape="0">
              <a:prstClr val="black">
                <a:alpha val="40000"/>
              </a:prstClr>
            </a:outerShdw>
          </a:effectLst>
        </p:spPr>
        <p:txBody>
          <a:bodyPr wrap="square" lIns="180000" tIns="144000" rIns="180000" bIns="144000" anchor="t">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a:spcBef>
                <a:spcPts val="1200"/>
              </a:spcBef>
              <a:spcAft>
                <a:spcPts val="600"/>
              </a:spcAft>
            </a:pPr>
            <a:r>
              <a:rPr lang="en-US" sz="1600" b="1">
                <a:solidFill>
                  <a:srgbClr val="00A3E0"/>
                </a:solidFill>
                <a:cs typeface="Calibri"/>
              </a:rPr>
              <a:t>Word templates: </a:t>
            </a:r>
          </a:p>
          <a:p>
            <a:pPr>
              <a:spcAft>
                <a:spcPts val="0"/>
              </a:spcAft>
            </a:pPr>
            <a:r>
              <a:rPr lang="en-US">
                <a:solidFill>
                  <a:srgbClr val="0AA7E1"/>
                </a:solidFill>
                <a:ea typeface="DengXian"/>
                <a:cs typeface="Calibri"/>
                <a:hlinkClick r:id="rId3">
                  <a:extLst>
                    <a:ext uri="{A12FA001-AC4F-418D-AE19-62706E023703}">
                      <ahyp:hlinkClr xmlns:ahyp="http://schemas.microsoft.com/office/drawing/2018/hyperlinkcolor" val="tx"/>
                    </a:ext>
                  </a:extLst>
                </a:hlinkClick>
              </a:rPr>
              <a:t>Word template – white background</a:t>
            </a:r>
          </a:p>
          <a:p>
            <a:pPr>
              <a:spcAft>
                <a:spcPts val="0"/>
              </a:spcAft>
            </a:pPr>
            <a:r>
              <a:rPr lang="en-US">
                <a:solidFill>
                  <a:srgbClr val="0AA7E1"/>
                </a:solidFill>
                <a:ea typeface="DengXian"/>
                <a:cs typeface="Calibri"/>
                <a:hlinkClick r:id="rId4">
                  <a:extLst>
                    <a:ext uri="{A12FA001-AC4F-418D-AE19-62706E023703}">
                      <ahyp:hlinkClr xmlns:ahyp="http://schemas.microsoft.com/office/drawing/2018/hyperlinkcolor" val="tx"/>
                    </a:ext>
                  </a:extLst>
                </a:hlinkClick>
              </a:rPr>
              <a:t>Word template – black background</a:t>
            </a:r>
          </a:p>
          <a:p>
            <a:pPr>
              <a:spcAft>
                <a:spcPts val="0"/>
              </a:spcAft>
            </a:pPr>
            <a:r>
              <a:rPr lang="en-US">
                <a:solidFill>
                  <a:srgbClr val="0AA7E1"/>
                </a:solidFill>
                <a:ea typeface="DengXian"/>
                <a:cs typeface="Calibri"/>
                <a:hlinkClick r:id="rId5">
                  <a:extLst>
                    <a:ext uri="{A12FA001-AC4F-418D-AE19-62706E023703}">
                      <ahyp:hlinkClr xmlns:ahyp="http://schemas.microsoft.com/office/drawing/2018/hyperlinkcolor" val="tx"/>
                    </a:ext>
                  </a:extLst>
                </a:hlinkClick>
              </a:rPr>
              <a:t>Word template – mix format</a:t>
            </a:r>
          </a:p>
          <a:p>
            <a:pPr>
              <a:spcBef>
                <a:spcPts val="1200"/>
              </a:spcBef>
              <a:spcAft>
                <a:spcPts val="600"/>
              </a:spcAft>
            </a:pPr>
            <a:r>
              <a:rPr lang="en-US" sz="1600" b="1">
                <a:solidFill>
                  <a:srgbClr val="00A3E0"/>
                </a:solidFill>
                <a:cs typeface="Calibri"/>
              </a:rPr>
              <a:t>Newsletter templates:</a:t>
            </a:r>
          </a:p>
          <a:p>
            <a:pPr>
              <a:spcAft>
                <a:spcPts val="0"/>
              </a:spcAft>
            </a:pPr>
            <a:r>
              <a:rPr lang="en-US">
                <a:solidFill>
                  <a:srgbClr val="0AA7E1"/>
                </a:solidFill>
                <a:ea typeface="DengXian"/>
                <a:cs typeface="Calibri"/>
                <a:hlinkClick r:id="rId6">
                  <a:extLst>
                    <a:ext uri="{A12FA001-AC4F-418D-AE19-62706E023703}">
                      <ahyp:hlinkClr xmlns:ahyp="http://schemas.microsoft.com/office/drawing/2018/hyperlinkcolor" val="tx"/>
                    </a:ext>
                  </a:extLst>
                </a:hlinkClick>
              </a:rPr>
              <a:t>Newsletter template - white background</a:t>
            </a:r>
            <a:br>
              <a:rPr lang="en-US">
                <a:solidFill>
                  <a:srgbClr val="0AA7E1"/>
                </a:solidFill>
                <a:ea typeface="DengXian"/>
                <a:cs typeface="Calibri"/>
              </a:rPr>
            </a:br>
            <a:r>
              <a:rPr lang="en-US">
                <a:solidFill>
                  <a:srgbClr val="0AA7E1"/>
                </a:solidFill>
                <a:ea typeface="DengXian"/>
                <a:cs typeface="Calibri"/>
                <a:hlinkClick r:id="rId7">
                  <a:extLst>
                    <a:ext uri="{A12FA001-AC4F-418D-AE19-62706E023703}">
                      <ahyp:hlinkClr xmlns:ahyp="http://schemas.microsoft.com/office/drawing/2018/hyperlinkcolor" val="tx"/>
                    </a:ext>
                  </a:extLst>
                </a:hlinkClick>
              </a:rPr>
              <a:t>Newsletter template - black background</a:t>
            </a:r>
            <a:endParaRPr lang="en-US">
              <a:solidFill>
                <a:srgbClr val="0AA7E1"/>
              </a:solidFill>
              <a:hlinkClick r:id="rId7">
                <a:extLst>
                  <a:ext uri="{A12FA001-AC4F-418D-AE19-62706E023703}">
                    <ahyp:hlinkClr xmlns:ahyp="http://schemas.microsoft.com/office/drawing/2018/hyperlinkcolor" val="tx"/>
                  </a:ext>
                </a:extLst>
              </a:hlinkClick>
            </a:endParaRPr>
          </a:p>
          <a:p>
            <a:pPr>
              <a:spcBef>
                <a:spcPts val="1200"/>
              </a:spcBef>
              <a:spcAft>
                <a:spcPts val="600"/>
              </a:spcAft>
            </a:pPr>
            <a:r>
              <a:rPr lang="en-US" sz="1600" b="1">
                <a:solidFill>
                  <a:srgbClr val="00A3E0"/>
                </a:solidFill>
                <a:cs typeface="Calibri"/>
              </a:rPr>
              <a:t>GFS Fact Sheet template:</a:t>
            </a:r>
          </a:p>
          <a:p>
            <a:pPr>
              <a:spcAft>
                <a:spcPts val="0"/>
              </a:spcAft>
            </a:pPr>
            <a:r>
              <a:rPr lang="en-US">
                <a:solidFill>
                  <a:srgbClr val="0AA7E1"/>
                </a:solidFill>
                <a:hlinkClick r:id="rId8">
                  <a:extLst>
                    <a:ext uri="{A12FA001-AC4F-418D-AE19-62706E023703}">
                      <ahyp:hlinkClr xmlns:ahyp="http://schemas.microsoft.com/office/drawing/2018/hyperlinkcolor" val="tx"/>
                    </a:ext>
                  </a:extLst>
                </a:hlinkClick>
              </a:rPr>
              <a:t>Fact Sheet template - white background</a:t>
            </a:r>
            <a:endParaRPr lang="en-US">
              <a:solidFill>
                <a:srgbClr val="0AA7E1"/>
              </a:solidFill>
              <a:ea typeface="DengXian"/>
              <a:cs typeface="Calibri"/>
              <a:hlinkClick r:id="rId8">
                <a:extLst>
                  <a:ext uri="{A12FA001-AC4F-418D-AE19-62706E023703}">
                    <ahyp:hlinkClr xmlns:ahyp="http://schemas.microsoft.com/office/drawing/2018/hyperlinkcolor" val="tx"/>
                  </a:ext>
                </a:extLst>
              </a:hlinkClick>
            </a:endParaRPr>
          </a:p>
          <a:p>
            <a:pPr>
              <a:spcBef>
                <a:spcPts val="1200"/>
              </a:spcBef>
              <a:spcAft>
                <a:spcPts val="600"/>
              </a:spcAft>
            </a:pPr>
            <a:r>
              <a:rPr lang="en-US" sz="1600" b="1">
                <a:solidFill>
                  <a:srgbClr val="00A3E0"/>
                </a:solidFill>
                <a:cs typeface="Calibri"/>
              </a:rPr>
              <a:t>GFS Fast Facts templates:</a:t>
            </a:r>
          </a:p>
          <a:p>
            <a:pPr>
              <a:spcAft>
                <a:spcPts val="0"/>
              </a:spcAft>
            </a:pPr>
            <a:r>
              <a:rPr lang="en-US">
                <a:solidFill>
                  <a:srgbClr val="0AA7E1"/>
                </a:solidFill>
                <a:ea typeface="DengXian"/>
                <a:cs typeface="Calibri"/>
                <a:hlinkClick r:id="rId9">
                  <a:extLst>
                    <a:ext uri="{A12FA001-AC4F-418D-AE19-62706E023703}">
                      <ahyp:hlinkClr xmlns:ahyp="http://schemas.microsoft.com/office/drawing/2018/hyperlinkcolor" val="tx"/>
                    </a:ext>
                  </a:extLst>
                </a:hlinkClick>
              </a:rPr>
              <a:t>Fast Facts template - white background</a:t>
            </a:r>
            <a:endParaRPr lang="en-US">
              <a:solidFill>
                <a:srgbClr val="0AA7E1"/>
              </a:solidFill>
              <a:ea typeface="DengXian"/>
              <a:cs typeface="Calibri"/>
            </a:endParaRPr>
          </a:p>
          <a:p>
            <a:pPr>
              <a:spcAft>
                <a:spcPts val="0"/>
              </a:spcAft>
            </a:pPr>
            <a:r>
              <a:rPr lang="en-US">
                <a:solidFill>
                  <a:srgbClr val="0AA7E1"/>
                </a:solidFill>
                <a:ea typeface="DengXian"/>
                <a:cs typeface="Calibri"/>
                <a:hlinkClick r:id="rId10">
                  <a:extLst>
                    <a:ext uri="{A12FA001-AC4F-418D-AE19-62706E023703}">
                      <ahyp:hlinkClr xmlns:ahyp="http://schemas.microsoft.com/office/drawing/2018/hyperlinkcolor" val="tx"/>
                    </a:ext>
                  </a:extLst>
                </a:hlinkClick>
              </a:rPr>
              <a:t>Fast Facts template - black background</a:t>
            </a:r>
          </a:p>
          <a:p>
            <a:pPr>
              <a:spcAft>
                <a:spcPts val="0"/>
              </a:spcAft>
            </a:pPr>
            <a:endParaRPr lang="en-US">
              <a:solidFill>
                <a:srgbClr val="00B0F0"/>
              </a:solidFill>
              <a:ea typeface="DengXian"/>
              <a:cs typeface="Calibri"/>
              <a:hlinkClick r:id="rId11">
                <a:extLst>
                  <a:ext uri="{A12FA001-AC4F-418D-AE19-62706E023703}">
                    <ahyp:hlinkClr xmlns:ahyp="http://schemas.microsoft.com/office/drawing/2018/hyperlinkcolor" val="tx"/>
                  </a:ext>
                </a:extLst>
              </a:hlinkClick>
            </a:endParaRPr>
          </a:p>
        </p:txBody>
      </p:sp>
      <p:pic>
        <p:nvPicPr>
          <p:cNvPr id="17" name="Picture 16">
            <a:extLst>
              <a:ext uri="{FF2B5EF4-FFF2-40B4-BE49-F238E27FC236}">
                <a16:creationId xmlns:a16="http://schemas.microsoft.com/office/drawing/2014/main" id="{83738D56-DC4F-7D28-85D3-62FC201CE5EE}"/>
              </a:ext>
            </a:extLst>
          </p:cNvPr>
          <p:cNvPicPr>
            <a:picLocks noGrp="1" noRot="1" noChangeAspect="1" noMove="1" noResize="1" noEditPoints="1" noAdjustHandles="1" noChangeArrowheads="1" noChangeShapeType="1" noCrop="1"/>
          </p:cNvPicPr>
          <p:nvPr/>
        </p:nvPicPr>
        <p:blipFill>
          <a:blip r:embed="rId12"/>
          <a:stretch>
            <a:fillRect/>
          </a:stretch>
        </p:blipFill>
        <p:spPr>
          <a:xfrm>
            <a:off x="7499995" y="1305932"/>
            <a:ext cx="1768731" cy="2123068"/>
          </a:xfrm>
          <a:prstGeom prst="rect">
            <a:avLst/>
          </a:prstGeom>
          <a:ln>
            <a:solidFill>
              <a:schemeClr val="bg1"/>
            </a:solidFill>
          </a:ln>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D1FC8AB2-861A-CA2F-E805-AA3BFFFBE700}"/>
              </a:ext>
            </a:extLst>
          </p:cNvPr>
          <p:cNvPicPr>
            <a:picLocks noGrp="1" noRot="1" noChangeAspect="1" noMove="1" noResize="1" noEditPoints="1" noAdjustHandles="1" noChangeArrowheads="1" noChangeShapeType="1" noCrop="1"/>
          </p:cNvPicPr>
          <p:nvPr/>
        </p:nvPicPr>
        <p:blipFill>
          <a:blip r:embed="rId13"/>
          <a:stretch>
            <a:fillRect/>
          </a:stretch>
        </p:blipFill>
        <p:spPr>
          <a:xfrm>
            <a:off x="7499995" y="3594176"/>
            <a:ext cx="1768730" cy="2575118"/>
          </a:xfrm>
          <a:prstGeom prst="rect">
            <a:avLst/>
          </a:prstGeom>
          <a:ln>
            <a:solidFill>
              <a:schemeClr val="bg1"/>
            </a:solidFill>
          </a:ln>
          <a:effectLst>
            <a:outerShdw blurRad="50800" dist="38100" dir="5400000" algn="t" rotWithShape="0">
              <a:prstClr val="black">
                <a:alpha val="40000"/>
              </a:prstClr>
            </a:outerShdw>
          </a:effectLst>
        </p:spPr>
      </p:pic>
      <p:pic>
        <p:nvPicPr>
          <p:cNvPr id="24" name="Picture 23">
            <a:extLst>
              <a:ext uri="{FF2B5EF4-FFF2-40B4-BE49-F238E27FC236}">
                <a16:creationId xmlns:a16="http://schemas.microsoft.com/office/drawing/2014/main" id="{289800D3-3297-E194-B3D0-FAEFF12BEE14}"/>
              </a:ext>
            </a:extLst>
          </p:cNvPr>
          <p:cNvPicPr>
            <a:picLocks noGrp="1" noRot="1" noChangeAspect="1" noMove="1" noResize="1" noEditPoints="1" noAdjustHandles="1" noChangeArrowheads="1" noChangeShapeType="1" noCrop="1"/>
          </p:cNvPicPr>
          <p:nvPr/>
        </p:nvPicPr>
        <p:blipFill>
          <a:blip r:embed="rId14"/>
          <a:stretch>
            <a:fillRect/>
          </a:stretch>
        </p:blipFill>
        <p:spPr>
          <a:xfrm>
            <a:off x="9535957" y="1322342"/>
            <a:ext cx="1862379" cy="2481101"/>
          </a:xfrm>
          <a:prstGeom prst="rect">
            <a:avLst/>
          </a:prstGeom>
          <a:ln>
            <a:solidFill>
              <a:schemeClr val="bg1"/>
            </a:solidFill>
          </a:ln>
          <a:effectLst>
            <a:outerShdw blurRad="50800" dist="38100" dir="5400000" algn="t" rotWithShape="0">
              <a:prstClr val="black">
                <a:alpha val="40000"/>
              </a:prstClr>
            </a:outerShdw>
          </a:effectLst>
        </p:spPr>
      </p:pic>
      <p:pic>
        <p:nvPicPr>
          <p:cNvPr id="26" name="Picture 25">
            <a:extLst>
              <a:ext uri="{FF2B5EF4-FFF2-40B4-BE49-F238E27FC236}">
                <a16:creationId xmlns:a16="http://schemas.microsoft.com/office/drawing/2014/main" id="{119EDB3F-8FF5-E7D8-37F9-9FB909663A5D}"/>
              </a:ext>
            </a:extLst>
          </p:cNvPr>
          <p:cNvPicPr>
            <a:picLocks noGrp="1" noRot="1" noChangeAspect="1" noMove="1" noResize="1" noEditPoints="1" noAdjustHandles="1" noChangeArrowheads="1" noChangeShapeType="1" noCrop="1"/>
          </p:cNvPicPr>
          <p:nvPr/>
        </p:nvPicPr>
        <p:blipFill>
          <a:blip r:embed="rId15"/>
          <a:stretch>
            <a:fillRect/>
          </a:stretch>
        </p:blipFill>
        <p:spPr>
          <a:xfrm>
            <a:off x="3435258" y="1322343"/>
            <a:ext cx="1884539" cy="2438244"/>
          </a:xfrm>
          <a:prstGeom prst="rect">
            <a:avLst/>
          </a:prstGeom>
          <a:ln>
            <a:solidFill>
              <a:schemeClr val="bg1"/>
            </a:solidFill>
          </a:ln>
          <a:effectLst>
            <a:outerShdw blurRad="50800" dist="38100" dir="5400000" algn="t" rotWithShape="0">
              <a:prstClr val="black">
                <a:alpha val="40000"/>
              </a:prstClr>
            </a:outerShdw>
          </a:effectLst>
        </p:spPr>
      </p:pic>
      <p:pic>
        <p:nvPicPr>
          <p:cNvPr id="28" name="Picture 27">
            <a:extLst>
              <a:ext uri="{FF2B5EF4-FFF2-40B4-BE49-F238E27FC236}">
                <a16:creationId xmlns:a16="http://schemas.microsoft.com/office/drawing/2014/main" id="{7715B8B7-DE10-C1A4-3F75-751A820DEB8B}"/>
              </a:ext>
            </a:extLst>
          </p:cNvPr>
          <p:cNvPicPr>
            <a:picLocks noGrp="1" noRot="1" noChangeAspect="1" noMove="1" noResize="1" noEditPoints="1" noAdjustHandles="1" noChangeArrowheads="1" noChangeShapeType="1" noCrop="1"/>
          </p:cNvPicPr>
          <p:nvPr/>
        </p:nvPicPr>
        <p:blipFill>
          <a:blip r:embed="rId16"/>
          <a:stretch>
            <a:fillRect/>
          </a:stretch>
        </p:blipFill>
        <p:spPr>
          <a:xfrm>
            <a:off x="3435258" y="3925018"/>
            <a:ext cx="1883328" cy="2455807"/>
          </a:xfrm>
          <a:prstGeom prst="rect">
            <a:avLst/>
          </a:prstGeom>
          <a:ln>
            <a:solidFill>
              <a:schemeClr val="bg1"/>
            </a:solidFill>
          </a:ln>
          <a:effectLst>
            <a:outerShdw blurRad="50800" dist="38100" dir="5400000" algn="t" rotWithShape="0">
              <a:prstClr val="black">
                <a:alpha val="40000"/>
              </a:prstClr>
            </a:outerShdw>
          </a:effectLst>
        </p:spPr>
      </p:pic>
      <p:sp>
        <p:nvSpPr>
          <p:cNvPr id="2" name="TextBox 1">
            <a:extLst>
              <a:ext uri="{FF2B5EF4-FFF2-40B4-BE49-F238E27FC236}">
                <a16:creationId xmlns:a16="http://schemas.microsoft.com/office/drawing/2014/main" id="{697381CB-C5B6-C63A-BD64-4F473C237D66}"/>
              </a:ext>
            </a:extLst>
          </p:cNvPr>
          <p:cNvSpPr txBox="1">
            <a:spLocks noGrp="1" noRot="1" noMove="1" noResize="1" noEditPoints="1" noAdjustHandles="1" noChangeArrowheads="1" noChangeShapeType="1"/>
          </p:cNvSpPr>
          <p:nvPr/>
        </p:nvSpPr>
        <p:spPr>
          <a:xfrm>
            <a:off x="3410807" y="895129"/>
            <a:ext cx="1927177" cy="342000"/>
          </a:xfrm>
          <a:prstGeom prst="rect">
            <a:avLst/>
          </a:prstGeom>
          <a:solidFill>
            <a:schemeClr val="tx1"/>
          </a:solidFill>
        </p:spPr>
        <p:txBody>
          <a:bodyPr wrap="square">
            <a:spAutoFit/>
          </a:bodyPr>
          <a:lstStyle/>
          <a:p>
            <a:pPr algn="ctr"/>
            <a:r>
              <a:rPr lang="en-US" sz="1600" b="1">
                <a:solidFill>
                  <a:schemeClr val="bg1"/>
                </a:solidFill>
                <a:latin typeface="Aptos" panose="020B0004020202020204" pitchFamily="34" charset="0"/>
              </a:rPr>
              <a:t>Word</a:t>
            </a:r>
            <a:endParaRPr lang="en-US" sz="1600">
              <a:solidFill>
                <a:schemeClr val="bg1"/>
              </a:solidFill>
              <a:latin typeface="Aptos" panose="020B0004020202020204" pitchFamily="34" charset="0"/>
            </a:endParaRPr>
          </a:p>
        </p:txBody>
      </p:sp>
      <p:sp>
        <p:nvSpPr>
          <p:cNvPr id="4" name="TextBox 3">
            <a:extLst>
              <a:ext uri="{FF2B5EF4-FFF2-40B4-BE49-F238E27FC236}">
                <a16:creationId xmlns:a16="http://schemas.microsoft.com/office/drawing/2014/main" id="{C49683D3-C376-779D-4162-DCCBDDFF8C76}"/>
              </a:ext>
            </a:extLst>
          </p:cNvPr>
          <p:cNvSpPr txBox="1">
            <a:spLocks noGrp="1" noRot="1" noMove="1" noResize="1" noEditPoints="1" noAdjustHandles="1" noChangeArrowheads="1" noChangeShapeType="1"/>
          </p:cNvSpPr>
          <p:nvPr/>
        </p:nvSpPr>
        <p:spPr>
          <a:xfrm>
            <a:off x="5572818" y="895129"/>
            <a:ext cx="3695907" cy="342000"/>
          </a:xfrm>
          <a:prstGeom prst="rect">
            <a:avLst/>
          </a:prstGeom>
          <a:solidFill>
            <a:schemeClr val="tx1"/>
          </a:solidFill>
        </p:spPr>
        <p:txBody>
          <a:bodyPr wrap="square">
            <a:spAutoFit/>
          </a:bodyPr>
          <a:lstStyle/>
          <a:p>
            <a:pPr algn="ctr"/>
            <a:r>
              <a:rPr lang="en-US" sz="1600" b="1">
                <a:solidFill>
                  <a:schemeClr val="bg1"/>
                </a:solidFill>
                <a:latin typeface="Aptos" panose="020B0004020202020204" pitchFamily="34" charset="0"/>
              </a:rPr>
              <a:t>Newsletter</a:t>
            </a:r>
            <a:endParaRPr lang="en-US" sz="1600">
              <a:solidFill>
                <a:schemeClr val="bg1"/>
              </a:solidFill>
              <a:latin typeface="Aptos" panose="020B0004020202020204" pitchFamily="34" charset="0"/>
            </a:endParaRPr>
          </a:p>
        </p:txBody>
      </p:sp>
      <p:sp>
        <p:nvSpPr>
          <p:cNvPr id="5" name="TextBox 4">
            <a:extLst>
              <a:ext uri="{FF2B5EF4-FFF2-40B4-BE49-F238E27FC236}">
                <a16:creationId xmlns:a16="http://schemas.microsoft.com/office/drawing/2014/main" id="{0C162D2A-18D8-43CE-14B3-7B164884B710}"/>
              </a:ext>
            </a:extLst>
          </p:cNvPr>
          <p:cNvSpPr txBox="1">
            <a:spLocks noGrp="1" noRot="1" noMove="1" noResize="1" noEditPoints="1" noAdjustHandles="1" noChangeArrowheads="1" noChangeShapeType="1"/>
          </p:cNvSpPr>
          <p:nvPr/>
        </p:nvSpPr>
        <p:spPr>
          <a:xfrm>
            <a:off x="9503559" y="895129"/>
            <a:ext cx="1894777" cy="342000"/>
          </a:xfrm>
          <a:prstGeom prst="rect">
            <a:avLst/>
          </a:prstGeom>
          <a:solidFill>
            <a:schemeClr val="tx1"/>
          </a:solidFill>
        </p:spPr>
        <p:txBody>
          <a:bodyPr wrap="square">
            <a:spAutoFit/>
          </a:bodyPr>
          <a:lstStyle/>
          <a:p>
            <a:pPr algn="ctr"/>
            <a:r>
              <a:rPr lang="en-US" sz="1600" b="1">
                <a:solidFill>
                  <a:schemeClr val="bg1"/>
                </a:solidFill>
                <a:latin typeface="Aptos" panose="020B0004020202020204" pitchFamily="34" charset="0"/>
              </a:rPr>
              <a:t>Fast Facts</a:t>
            </a:r>
            <a:endParaRPr lang="en-US" sz="1600">
              <a:solidFill>
                <a:schemeClr val="bg1"/>
              </a:solidFill>
              <a:latin typeface="Aptos" panose="020B0004020202020204" pitchFamily="34" charset="0"/>
            </a:endParaRPr>
          </a:p>
        </p:txBody>
      </p:sp>
      <p:pic>
        <p:nvPicPr>
          <p:cNvPr id="11" name="Picture 10">
            <a:extLst>
              <a:ext uri="{FF2B5EF4-FFF2-40B4-BE49-F238E27FC236}">
                <a16:creationId xmlns:a16="http://schemas.microsoft.com/office/drawing/2014/main" id="{6DDD582E-307D-158E-BA7B-37A6337D7B7D}"/>
              </a:ext>
            </a:extLst>
          </p:cNvPr>
          <p:cNvPicPr>
            <a:picLocks noGrp="1" noRot="1" noChangeAspect="1" noMove="1" noResize="1" noEditPoints="1" noAdjustHandles="1" noChangeArrowheads="1" noChangeShapeType="1" noCrop="1"/>
          </p:cNvPicPr>
          <p:nvPr/>
        </p:nvPicPr>
        <p:blipFill>
          <a:blip r:embed="rId17"/>
          <a:stretch>
            <a:fillRect/>
          </a:stretch>
        </p:blipFill>
        <p:spPr>
          <a:xfrm>
            <a:off x="5572818" y="1329959"/>
            <a:ext cx="1773387" cy="2123068"/>
          </a:xfrm>
          <a:prstGeom prst="rect">
            <a:avLst/>
          </a:prstGeom>
        </p:spPr>
      </p:pic>
      <p:pic>
        <p:nvPicPr>
          <p:cNvPr id="13" name="Picture 12">
            <a:extLst>
              <a:ext uri="{FF2B5EF4-FFF2-40B4-BE49-F238E27FC236}">
                <a16:creationId xmlns:a16="http://schemas.microsoft.com/office/drawing/2014/main" id="{E1871B98-E56D-02B1-B3EF-A25D5086EDA5}"/>
              </a:ext>
            </a:extLst>
          </p:cNvPr>
          <p:cNvPicPr>
            <a:picLocks noGrp="1" noRot="1" noChangeAspect="1" noMove="1" noResize="1" noEditPoints="1" noAdjustHandles="1" noChangeArrowheads="1" noChangeShapeType="1" noCrop="1"/>
          </p:cNvPicPr>
          <p:nvPr/>
        </p:nvPicPr>
        <p:blipFill>
          <a:blip r:embed="rId18"/>
          <a:stretch>
            <a:fillRect/>
          </a:stretch>
        </p:blipFill>
        <p:spPr>
          <a:xfrm>
            <a:off x="5572818" y="3594177"/>
            <a:ext cx="1823125" cy="2575118"/>
          </a:xfrm>
          <a:prstGeom prst="rect">
            <a:avLst/>
          </a:prstGeom>
        </p:spPr>
      </p:pic>
    </p:spTree>
    <p:extLst>
      <p:ext uri="{BB962C8B-B14F-4D97-AF65-F5344CB8AC3E}">
        <p14:creationId xmlns:p14="http://schemas.microsoft.com/office/powerpoint/2010/main" val="3730794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7FF77-6FC9-4F8B-6BC7-E76F6BC793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2765DB-3F28-7D54-3942-0CE224CEDC3B}"/>
              </a:ext>
            </a:extLst>
          </p:cNvPr>
          <p:cNvSpPr>
            <a:spLocks noGrp="1"/>
          </p:cNvSpPr>
          <p:nvPr>
            <p:ph type="title"/>
          </p:nvPr>
        </p:nvSpPr>
        <p:spPr/>
        <p:txBody>
          <a:bodyPr/>
          <a:lstStyle/>
          <a:p>
            <a:r>
              <a:rPr lang="en-US">
                <a:solidFill>
                  <a:schemeClr val="tx1"/>
                </a:solidFill>
                <a:cs typeface="Calibri"/>
              </a:rPr>
              <a:t>GFS Style Guide | </a:t>
            </a:r>
            <a:r>
              <a:rPr lang="en-US" b="1"/>
              <a:t>Virtual background templates</a:t>
            </a:r>
            <a:endParaRPr lang="en-US">
              <a:solidFill>
                <a:schemeClr val="tx1"/>
              </a:solidFill>
              <a:latin typeface="+mj-lt"/>
            </a:endParaRPr>
          </a:p>
        </p:txBody>
      </p:sp>
      <p:sp>
        <p:nvSpPr>
          <p:cNvPr id="4" name="Text Placeholder 2">
            <a:extLst>
              <a:ext uri="{FF2B5EF4-FFF2-40B4-BE49-F238E27FC236}">
                <a16:creationId xmlns:a16="http://schemas.microsoft.com/office/drawing/2014/main" id="{74D31CB9-F900-4A6C-F5B3-07E67A36BA55}"/>
              </a:ext>
            </a:extLst>
          </p:cNvPr>
          <p:cNvSpPr txBox="1">
            <a:spLocks/>
          </p:cNvSpPr>
          <p:nvPr/>
        </p:nvSpPr>
        <p:spPr>
          <a:xfrm>
            <a:off x="342901" y="895129"/>
            <a:ext cx="2766060" cy="5398095"/>
          </a:xfrm>
          <a:prstGeom prst="rect">
            <a:avLst/>
          </a:prstGeom>
          <a:solidFill>
            <a:schemeClr val="bg1"/>
          </a:solidFill>
          <a:ln>
            <a:noFill/>
          </a:ln>
          <a:effectLst>
            <a:outerShdw blurRad="50800" dist="38100" dir="5400000" algn="t" rotWithShape="0">
              <a:prstClr val="black">
                <a:alpha val="40000"/>
              </a:prstClr>
            </a:outerShdw>
          </a:effectLst>
        </p:spPr>
        <p:txBody>
          <a:bodyPr wrap="square" lIns="180000" tIns="144000" rIns="180000" bIns="144000" anchor="t">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spcBef>
                <a:spcPts val="1200"/>
              </a:spcBef>
              <a:spcAft>
                <a:spcPts val="600"/>
              </a:spcAft>
            </a:pPr>
            <a:r>
              <a:rPr lang="en-US" sz="1400">
                <a:solidFill>
                  <a:srgbClr val="0AA7E1"/>
                </a:solidFill>
                <a:cs typeface="Calibri"/>
                <a:hlinkClick r:id="rId3">
                  <a:extLst>
                    <a:ext uri="{A12FA001-AC4F-418D-AE19-62706E023703}">
                      <ahyp:hlinkClr xmlns:ahyp="http://schemas.microsoft.com/office/drawing/2018/hyperlinkcolor" val="tx"/>
                    </a:ext>
                  </a:extLst>
                </a:hlinkClick>
              </a:rPr>
              <a:t>Virtual backgrounds templates</a:t>
            </a:r>
            <a:r>
              <a:rPr lang="en-US" sz="1400">
                <a:solidFill>
                  <a:srgbClr val="0AA7E1"/>
                </a:solidFill>
                <a:cs typeface="Calibri"/>
              </a:rPr>
              <a:t>  </a:t>
            </a:r>
          </a:p>
        </p:txBody>
      </p:sp>
      <p:pic>
        <p:nvPicPr>
          <p:cNvPr id="14" name="Picture 13">
            <a:extLst>
              <a:ext uri="{FF2B5EF4-FFF2-40B4-BE49-F238E27FC236}">
                <a16:creationId xmlns:a16="http://schemas.microsoft.com/office/drawing/2014/main" id="{520C3671-346B-D6CB-3F55-5E4D1B573933}"/>
              </a:ext>
            </a:extLst>
          </p:cNvPr>
          <p:cNvPicPr>
            <a:picLocks noGrp="1" noRot="1" noChangeAspect="1" noMove="1" noResize="1" noEditPoints="1" noAdjustHandles="1" noChangeArrowheads="1" noChangeShapeType="1" noCrop="1"/>
          </p:cNvPicPr>
          <p:nvPr/>
        </p:nvPicPr>
        <p:blipFill>
          <a:blip r:embed="rId4"/>
          <a:stretch>
            <a:fillRect/>
          </a:stretch>
        </p:blipFill>
        <p:spPr>
          <a:xfrm>
            <a:off x="3332640" y="1017061"/>
            <a:ext cx="2644369" cy="4823878"/>
          </a:xfrm>
          <a:prstGeom prst="rect">
            <a:avLst/>
          </a:prstGeom>
        </p:spPr>
      </p:pic>
      <p:pic>
        <p:nvPicPr>
          <p:cNvPr id="16" name="Picture 15">
            <a:extLst>
              <a:ext uri="{FF2B5EF4-FFF2-40B4-BE49-F238E27FC236}">
                <a16:creationId xmlns:a16="http://schemas.microsoft.com/office/drawing/2014/main" id="{CF99DC5B-C2D1-F231-1503-6D75F5A55DD7}"/>
              </a:ext>
            </a:extLst>
          </p:cNvPr>
          <p:cNvPicPr>
            <a:picLocks noGrp="1" noRot="1" noChangeAspect="1" noMove="1" noResize="1" noEditPoints="1" noAdjustHandles="1" noChangeArrowheads="1" noChangeShapeType="1" noCrop="1"/>
          </p:cNvPicPr>
          <p:nvPr/>
        </p:nvPicPr>
        <p:blipFill>
          <a:blip r:embed="rId5"/>
          <a:stretch>
            <a:fillRect/>
          </a:stretch>
        </p:blipFill>
        <p:spPr>
          <a:xfrm>
            <a:off x="6178828" y="1017061"/>
            <a:ext cx="2606266" cy="4816257"/>
          </a:xfrm>
          <a:prstGeom prst="rect">
            <a:avLst/>
          </a:prstGeom>
        </p:spPr>
      </p:pic>
      <p:pic>
        <p:nvPicPr>
          <p:cNvPr id="20" name="Picture 19">
            <a:extLst>
              <a:ext uri="{FF2B5EF4-FFF2-40B4-BE49-F238E27FC236}">
                <a16:creationId xmlns:a16="http://schemas.microsoft.com/office/drawing/2014/main" id="{271D2A4E-A15B-C540-6B7C-C8A6BDEF730F}"/>
              </a:ext>
            </a:extLst>
          </p:cNvPr>
          <p:cNvPicPr>
            <a:picLocks noGrp="1" noRot="1" noChangeAspect="1" noMove="1" noResize="1" noEditPoints="1" noAdjustHandles="1" noChangeArrowheads="1" noChangeShapeType="1" noCrop="1"/>
          </p:cNvPicPr>
          <p:nvPr/>
        </p:nvPicPr>
        <p:blipFill>
          <a:blip r:embed="rId6"/>
          <a:stretch>
            <a:fillRect/>
          </a:stretch>
        </p:blipFill>
        <p:spPr>
          <a:xfrm>
            <a:off x="8986913" y="1017061"/>
            <a:ext cx="2629128" cy="3147333"/>
          </a:xfrm>
          <a:prstGeom prst="rect">
            <a:avLst/>
          </a:prstGeom>
        </p:spPr>
      </p:pic>
    </p:spTree>
    <p:extLst>
      <p:ext uri="{BB962C8B-B14F-4D97-AF65-F5344CB8AC3E}">
        <p14:creationId xmlns:p14="http://schemas.microsoft.com/office/powerpoint/2010/main" val="225754611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17AF8-A197-0864-727F-6D976AB7410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4FD42C2-5348-D3E2-C620-2661DB6C4ED8}"/>
              </a:ext>
            </a:extLst>
          </p:cNvPr>
          <p:cNvPicPr>
            <a:picLocks noGrp="1" noRot="1" noChangeAspect="1" noMove="1" noResize="1" noEditPoints="1" noAdjustHandles="1" noChangeArrowheads="1" noChangeShapeType="1" noCrop="1"/>
          </p:cNvPicPr>
          <p:nvPr/>
        </p:nvPicPr>
        <p:blipFill>
          <a:blip r:embed="rId2"/>
          <a:srcRect l="41970" t="13065" r="10123" b="18400"/>
          <a:stretch>
            <a:fillRect/>
          </a:stretch>
        </p:blipFill>
        <p:spPr>
          <a:xfrm>
            <a:off x="0" y="-1"/>
            <a:ext cx="4447671" cy="6362701"/>
          </a:xfrm>
          <a:prstGeom prst="rect">
            <a:avLst/>
          </a:prstGeom>
        </p:spPr>
      </p:pic>
      <p:pic>
        <p:nvPicPr>
          <p:cNvPr id="16" name="Graphic 15">
            <a:extLst>
              <a:ext uri="{FF2B5EF4-FFF2-40B4-BE49-F238E27FC236}">
                <a16:creationId xmlns:a16="http://schemas.microsoft.com/office/drawing/2014/main" id="{A2301B6A-78F7-55F0-DCF0-6406A1030A4A}"/>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3650143" y="1866900"/>
            <a:ext cx="409575" cy="476250"/>
          </a:xfrm>
          <a:prstGeom prst="rect">
            <a:avLst/>
          </a:prstGeom>
        </p:spPr>
      </p:pic>
      <p:sp>
        <p:nvSpPr>
          <p:cNvPr id="22" name="Freeform: Shape 21">
            <a:extLst>
              <a:ext uri="{FF2B5EF4-FFF2-40B4-BE49-F238E27FC236}">
                <a16:creationId xmlns:a16="http://schemas.microsoft.com/office/drawing/2014/main" id="{AF2058C6-42F4-2742-9693-DB4127BA6D76}"/>
              </a:ext>
            </a:extLst>
          </p:cNvPr>
          <p:cNvSpPr>
            <a:spLocks noGrp="1" noRot="1" noMove="1" noResize="1" noEditPoints="1" noAdjustHandles="1" noChangeArrowheads="1" noChangeShapeType="1"/>
          </p:cNvSpPr>
          <p:nvPr/>
        </p:nvSpPr>
        <p:spPr>
          <a:xfrm>
            <a:off x="4117821" y="2434123"/>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E24F8F9-DA20-ABF5-4408-F79BA47637A2}"/>
              </a:ext>
            </a:extLst>
          </p:cNvPr>
          <p:cNvSpPr>
            <a:spLocks noGrp="1" noRot="1" noMove="1" noResize="1" noEditPoints="1" noAdjustHandles="1" noChangeArrowheads="1" noChangeShapeType="1"/>
          </p:cNvSpPr>
          <p:nvPr/>
        </p:nvSpPr>
        <p:spPr>
          <a:xfrm>
            <a:off x="4363089" y="2373024"/>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8B74B8B9-87F7-5351-6B17-F69CB43C6DAE}"/>
              </a:ext>
            </a:extLst>
          </p:cNvPr>
          <p:cNvSpPr>
            <a:spLocks noGrp="1" noRot="1" noMove="1" noResize="1" noEditPoints="1" noAdjustHandles="1" noChangeArrowheads="1" noChangeShapeType="1"/>
          </p:cNvSpPr>
          <p:nvPr/>
        </p:nvSpPr>
        <p:spPr>
          <a:xfrm>
            <a:off x="4202735" y="2171534"/>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ECBF674-1643-3179-019A-B3C100819869}"/>
              </a:ext>
            </a:extLst>
          </p:cNvPr>
          <p:cNvSpPr>
            <a:spLocks noGrp="1" noRot="1" noMove="1" noResize="1" noEditPoints="1" noAdjustHandles="1" noChangeArrowheads="1" noChangeShapeType="1"/>
          </p:cNvSpPr>
          <p:nvPr/>
        </p:nvSpPr>
        <p:spPr>
          <a:xfrm>
            <a:off x="3091683" y="5537247"/>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DEEB415-85B1-8E43-9F21-9B5B1F676514}"/>
              </a:ext>
            </a:extLst>
          </p:cNvPr>
          <p:cNvSpPr>
            <a:spLocks noGrp="1" noRot="1" noMove="1" noResize="1" noEditPoints="1" noAdjustHandles="1" noChangeArrowheads="1" noChangeShapeType="1"/>
          </p:cNvSpPr>
          <p:nvPr/>
        </p:nvSpPr>
        <p:spPr>
          <a:xfrm>
            <a:off x="3064577" y="5836071"/>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0AFBB98-A03D-1DCE-F320-A098A6045AC4}"/>
              </a:ext>
            </a:extLst>
          </p:cNvPr>
          <p:cNvSpPr>
            <a:spLocks noGrp="1" noRot="1" noMove="1" noResize="1" noEditPoints="1" noAdjustHandles="1" noChangeArrowheads="1" noChangeShapeType="1"/>
          </p:cNvSpPr>
          <p:nvPr/>
        </p:nvSpPr>
        <p:spPr>
          <a:xfrm>
            <a:off x="3351695" y="5702675"/>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pic>
        <p:nvPicPr>
          <p:cNvPr id="28" name="Graphic 27">
            <a:extLst>
              <a:ext uri="{FF2B5EF4-FFF2-40B4-BE49-F238E27FC236}">
                <a16:creationId xmlns:a16="http://schemas.microsoft.com/office/drawing/2014/main" id="{F164AB24-F40C-7335-F22B-1F4C6FEA28B8}"/>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2616176" y="5524500"/>
            <a:ext cx="304320" cy="353860"/>
          </a:xfrm>
          <a:prstGeom prst="rect">
            <a:avLst/>
          </a:prstGeom>
        </p:spPr>
      </p:pic>
      <p:sp>
        <p:nvSpPr>
          <p:cNvPr id="2" name="Title 3">
            <a:extLst>
              <a:ext uri="{FF2B5EF4-FFF2-40B4-BE49-F238E27FC236}">
                <a16:creationId xmlns:a16="http://schemas.microsoft.com/office/drawing/2014/main" id="{C43374FD-F341-FA2C-1308-F66E5F6839D9}"/>
              </a:ext>
            </a:extLst>
          </p:cNvPr>
          <p:cNvSpPr txBox="1">
            <a:spLocks noGrp="1" noRot="1" noMove="1" noResize="1" noEditPoints="1" noAdjustHandles="1" noChangeArrowheads="1" noChangeShapeType="1"/>
          </p:cNvSpPr>
          <p:nvPr/>
        </p:nvSpPr>
        <p:spPr bwMode="gray">
          <a:xfrm>
            <a:off x="4447671" y="3429000"/>
            <a:ext cx="4491924" cy="628904"/>
          </a:xfrm>
          <a:prstGeom prst="rect">
            <a:avLst/>
          </a:prstGeom>
        </p:spPr>
        <p:txBody>
          <a:bodyPr vert="horz" lIns="0" tIns="0" rIns="0" bIns="0" rtlCol="0" anchor="b" anchorCtr="0">
            <a:no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4500">
                <a:solidFill>
                  <a:srgbClr val="00A3E0"/>
                </a:solidFill>
              </a:rPr>
              <a:t>Frequently asked questions</a:t>
            </a:r>
          </a:p>
        </p:txBody>
      </p:sp>
      <p:cxnSp>
        <p:nvCxnSpPr>
          <p:cNvPr id="3" name="Straight Connector 2">
            <a:extLst>
              <a:ext uri="{FF2B5EF4-FFF2-40B4-BE49-F238E27FC236}">
                <a16:creationId xmlns:a16="http://schemas.microsoft.com/office/drawing/2014/main" id="{70E93F46-D5DB-0DBC-607C-A646D7602D80}"/>
              </a:ext>
            </a:extLst>
          </p:cNvPr>
          <p:cNvCxnSpPr>
            <a:cxnSpLocks noGrp="1" noRot="1" noMove="1" noResize="1" noEditPoints="1" noAdjustHandles="1" noChangeArrowheads="1" noChangeShapeType="1"/>
          </p:cNvCxnSpPr>
          <p:nvPr/>
        </p:nvCxnSpPr>
        <p:spPr>
          <a:xfrm>
            <a:off x="4447671" y="4317987"/>
            <a:ext cx="4349088" cy="0"/>
          </a:xfrm>
          <a:prstGeom prst="line">
            <a:avLst/>
          </a:prstGeom>
          <a:ln w="19050">
            <a:solidFill>
              <a:srgbClr val="00A3E0"/>
            </a:solidFill>
            <a:tailEnd type="oval"/>
          </a:ln>
        </p:spPr>
        <p:style>
          <a:lnRef idx="1">
            <a:schemeClr val="accent1"/>
          </a:lnRef>
          <a:fillRef idx="0">
            <a:schemeClr val="accent1"/>
          </a:fillRef>
          <a:effectRef idx="0">
            <a:schemeClr val="accent1"/>
          </a:effectRef>
          <a:fontRef idx="minor">
            <a:schemeClr val="tx1"/>
          </a:fontRef>
        </p:style>
      </p:cxnSp>
      <p:pic>
        <p:nvPicPr>
          <p:cNvPr id="6" name="Graphic 5">
            <a:hlinkClick r:id="rId5" action="ppaction://hlinksldjump"/>
            <a:extLst>
              <a:ext uri="{FF2B5EF4-FFF2-40B4-BE49-F238E27FC236}">
                <a16:creationId xmlns:a16="http://schemas.microsoft.com/office/drawing/2014/main" id="{10C4BA5A-80F9-3933-4297-B54FC92F705F}"/>
              </a:ext>
            </a:extLst>
          </p:cNvPr>
          <p:cNvPicPr>
            <a:picLocks noGrp="1" noRot="1" noChangeAspect="1" noMove="1" noResize="1" noEditPoints="1" noAdjustHandles="1" noChangeArrowheads="1" noChangeShapeType="1" noCrop="1"/>
          </p:cNvPicPr>
          <p:nvPr/>
        </p:nvPicPr>
        <p:blipFill>
          <a:blip r:embed="rId6">
            <a:extLst>
              <a:ext uri="{96DAC541-7B7A-43D3-8B79-37D633B846F1}">
                <asvg:svgBlip xmlns:asvg="http://schemas.microsoft.com/office/drawing/2016/SVG/main" r:embed="rId7"/>
              </a:ext>
            </a:extLst>
          </a:blip>
          <a:stretch>
            <a:fillRect/>
          </a:stretch>
        </p:blipFill>
        <p:spPr>
          <a:xfrm>
            <a:off x="11379200" y="309880"/>
            <a:ext cx="469900" cy="469900"/>
          </a:xfrm>
          <a:prstGeom prst="rect">
            <a:avLst/>
          </a:prstGeom>
        </p:spPr>
      </p:pic>
    </p:spTree>
    <p:extLst>
      <p:ext uri="{BB962C8B-B14F-4D97-AF65-F5344CB8AC3E}">
        <p14:creationId xmlns:p14="http://schemas.microsoft.com/office/powerpoint/2010/main" val="2576502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99A16-BACC-6D68-2DED-DFF7F19AFA5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38DA950-0804-AB62-8550-B5EE1F9FE0FC}"/>
              </a:ext>
            </a:extLst>
          </p:cNvPr>
          <p:cNvSpPr>
            <a:spLocks noGrp="1"/>
          </p:cNvSpPr>
          <p:nvPr>
            <p:ph type="title"/>
          </p:nvPr>
        </p:nvSpPr>
        <p:spPr/>
        <p:txBody>
          <a:bodyPr/>
          <a:lstStyle/>
          <a:p>
            <a:r>
              <a:rPr lang="en-US">
                <a:solidFill>
                  <a:schemeClr val="tx1"/>
                </a:solidFill>
                <a:cs typeface="Calibri"/>
              </a:rPr>
              <a:t>GFS Style Guide | </a:t>
            </a:r>
            <a:r>
              <a:rPr lang="en-US" b="1"/>
              <a:t> Frequently</a:t>
            </a:r>
            <a:r>
              <a:rPr lang="en-US" b="1">
                <a:solidFill>
                  <a:srgbClr val="0AA7E1"/>
                </a:solidFill>
              </a:rPr>
              <a:t> asked questions</a:t>
            </a:r>
            <a:endParaRPr lang="en-US">
              <a:solidFill>
                <a:schemeClr val="tx1"/>
              </a:solidFill>
              <a:latin typeface="+mj-lt"/>
            </a:endParaRPr>
          </a:p>
        </p:txBody>
      </p:sp>
      <p:sp>
        <p:nvSpPr>
          <p:cNvPr id="5" name="Content Placeholder 7">
            <a:extLst>
              <a:ext uri="{FF2B5EF4-FFF2-40B4-BE49-F238E27FC236}">
                <a16:creationId xmlns:a16="http://schemas.microsoft.com/office/drawing/2014/main" id="{A92691FC-3373-C459-F0FE-259B4333B0BE}"/>
              </a:ext>
            </a:extLst>
          </p:cNvPr>
          <p:cNvSpPr txBox="1">
            <a:spLocks/>
          </p:cNvSpPr>
          <p:nvPr/>
        </p:nvSpPr>
        <p:spPr>
          <a:xfrm>
            <a:off x="330200" y="945516"/>
            <a:ext cx="11506200" cy="5486105"/>
          </a:xfrm>
          <a:prstGeom prst="rect">
            <a:avLst/>
          </a:prstGeom>
        </p:spPr>
        <p:txBody>
          <a:bodyPr vert="horz" lIns="0" tIns="0" rIns="0" bIns="0" rtlCol="0" anchor="t">
            <a:noAutofit/>
          </a:bodyPr>
          <a:lst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marL="342900" indent="-342900">
              <a:buFont typeface="+mj-lt"/>
              <a:buAutoNum type="arabicPeriod"/>
            </a:pPr>
            <a:r>
              <a:rPr lang="en-US" sz="1400" b="1">
                <a:solidFill>
                  <a:srgbClr val="0AA7E1"/>
                </a:solidFill>
                <a:latin typeface="Aptos"/>
                <a:cs typeface="Calibri Light"/>
              </a:rPr>
              <a:t>What types of images are acceptable for our brand and what imagery should I avoid?</a:t>
            </a:r>
            <a:br>
              <a:rPr lang="en-US" sz="1400"/>
            </a:br>
            <a:r>
              <a:rPr lang="en-CA" sz="1400">
                <a:latin typeface="Aptos"/>
                <a:cs typeface="Calibri Light"/>
              </a:rPr>
              <a:t>The GFS hero image should be used on the cover slide of all PowerPoint decks. You can additionally use the expanded hero image and GFS icons as outlined in this guide. Please refrain from using non-Deloitte stock photos, clip art, or busy visuals. If you need additional images and icons, please refer to the comprehensive Deloitte image and icon library available on Brand space. </a:t>
            </a:r>
          </a:p>
          <a:p>
            <a:pPr marL="342900" indent="-342900">
              <a:buFont typeface="+mj-lt"/>
              <a:buAutoNum type="arabicPeriod"/>
            </a:pPr>
            <a:endParaRPr lang="en-CA" sz="1400" b="1">
              <a:solidFill>
                <a:srgbClr val="0AA7E1"/>
              </a:solidFill>
              <a:latin typeface="Aptos"/>
              <a:cs typeface="Calibri Light"/>
            </a:endParaRPr>
          </a:p>
          <a:p>
            <a:pPr marL="342900" indent="-342900">
              <a:buFont typeface="+mj-lt"/>
              <a:buAutoNum type="arabicPeriod"/>
            </a:pPr>
            <a:r>
              <a:rPr lang="en-US" sz="1400" b="1">
                <a:solidFill>
                  <a:srgbClr val="0AA7E1"/>
                </a:solidFill>
                <a:latin typeface="Aptos"/>
                <a:cs typeface="Calibri Light"/>
              </a:rPr>
              <a:t>Which fonts are approved for use and when should I use each one? </a:t>
            </a:r>
            <a:br>
              <a:rPr lang="en-US" sz="1400" b="1">
                <a:latin typeface="Aptos"/>
                <a:cs typeface="Calibri Light"/>
              </a:rPr>
            </a:br>
            <a:r>
              <a:rPr lang="en-CA" sz="1400">
                <a:latin typeface="Aptos"/>
                <a:cs typeface="Calibri Light"/>
              </a:rPr>
              <a:t>Deloitte’s standard font is Aptos. Aptos should be used for all GFS materials, both internal and external, including headers, titles, and body text. Refrain from using variations such as Aptos Lite. For specifics on font sizes and text hierarchy, consult the approved templates in this guide. </a:t>
            </a:r>
            <a:br>
              <a:rPr lang="en-CA" sz="1400">
                <a:latin typeface="Aptos"/>
                <a:cs typeface="Calibri Light"/>
              </a:rPr>
            </a:br>
            <a:endParaRPr lang="en-US" sz="1400">
              <a:latin typeface="Aptos"/>
              <a:cs typeface="Calibri Light"/>
            </a:endParaRPr>
          </a:p>
          <a:p>
            <a:pPr marL="342900" indent="-342900">
              <a:buFont typeface="+mj-lt"/>
              <a:buAutoNum type="arabicPeriod" startAt="3"/>
            </a:pPr>
            <a:r>
              <a:rPr lang="en-US" sz="1400" b="1">
                <a:solidFill>
                  <a:srgbClr val="0AA7E1"/>
                </a:solidFill>
                <a:latin typeface="Aptos"/>
                <a:cs typeface="Calibri Light"/>
              </a:rPr>
              <a:t>Where can I find the correct templates for presentations, emails, and documents?</a:t>
            </a:r>
            <a:br>
              <a:rPr lang="en-US" sz="1400" b="1">
                <a:latin typeface="Aptos"/>
                <a:cs typeface="Calibri Light"/>
              </a:rPr>
            </a:br>
            <a:r>
              <a:rPr lang="en-US" sz="1400">
                <a:latin typeface="Aptos"/>
                <a:cs typeface="Calibri Light"/>
              </a:rPr>
              <a:t>For convenience, all approved GFS templates are all available centrally within this guide. The guide is also available on the </a:t>
            </a:r>
            <a:r>
              <a:rPr lang="en-US" sz="1400" err="1">
                <a:latin typeface="Aptos"/>
                <a:cs typeface="Calibri Light"/>
              </a:rPr>
              <a:t>intelliHUB</a:t>
            </a:r>
            <a:r>
              <a:rPr lang="en-US" sz="1400">
                <a:latin typeface="Aptos"/>
                <a:cs typeface="Calibri Light"/>
              </a:rPr>
              <a:t>.</a:t>
            </a:r>
            <a:br>
              <a:rPr lang="en-US" sz="1400">
                <a:latin typeface="Aptos"/>
                <a:cs typeface="Calibri Light"/>
              </a:rPr>
            </a:br>
            <a:endParaRPr lang="en-US" sz="1400">
              <a:latin typeface="Aptos"/>
              <a:cs typeface="Calibri Light"/>
            </a:endParaRPr>
          </a:p>
          <a:p>
            <a:pPr marL="342900" indent="-342900">
              <a:buFont typeface="+mj-lt"/>
              <a:buAutoNum type="arabicPeriod" startAt="4"/>
            </a:pPr>
            <a:r>
              <a:rPr lang="en-US" sz="1400" b="1">
                <a:solidFill>
                  <a:srgbClr val="0AA7E1"/>
                </a:solidFill>
                <a:latin typeface="Aptos"/>
                <a:cs typeface="Calibri Light"/>
              </a:rPr>
              <a:t>Can I modify images, icons, templates, or brand elements to fit my needs?</a:t>
            </a:r>
            <a:br>
              <a:rPr lang="en-US" sz="1400" b="1">
                <a:latin typeface="Aptos"/>
                <a:cs typeface="Calibri Light"/>
              </a:rPr>
            </a:br>
            <a:r>
              <a:rPr lang="en-US" sz="1400">
                <a:latin typeface="Aptos"/>
                <a:cs typeface="Calibri Light"/>
              </a:rPr>
              <a:t>No. </a:t>
            </a:r>
            <a:r>
              <a:rPr lang="en-CA" sz="1400">
                <a:latin typeface="Aptos"/>
                <a:cs typeface="Calibri Light"/>
              </a:rPr>
              <a:t>To maintain a consistent brand identity, </a:t>
            </a:r>
            <a:r>
              <a:rPr lang="en-US" sz="1400">
                <a:latin typeface="Aptos"/>
                <a:cs typeface="Calibri Light"/>
              </a:rPr>
              <a:t>GFS images and icons should not be stretched, recolored, rearranged, or otherwise altered. However, our templates may be adjusted as needed to suit your content needs along as they adhere to overall color schemas and branding guidelines. Later this year, we will be introducing GFS themes to make it easier to leverage new GFS colors and templates in Microsoft applications, so stay tuned!</a:t>
            </a:r>
          </a:p>
          <a:p>
            <a:pPr marL="342900" indent="-342900">
              <a:buFont typeface="+mj-lt"/>
              <a:buAutoNum type="arabicPeriod" startAt="5"/>
            </a:pPr>
            <a:endParaRPr lang="en-US" sz="1400" b="1"/>
          </a:p>
          <a:p>
            <a:pPr marL="342900" indent="-342900" fontAlgn="base">
              <a:buFont typeface="+mj-lt"/>
              <a:buAutoNum type="arabicPeriod" startAt="5"/>
            </a:pPr>
            <a:r>
              <a:rPr lang="en-US" sz="1400" b="1">
                <a:solidFill>
                  <a:srgbClr val="0AA7E1"/>
                </a:solidFill>
                <a:latin typeface="Aptos"/>
                <a:cs typeface="Calibri Light"/>
              </a:rPr>
              <a:t>When should I start using the refreshed GFS brand materials?</a:t>
            </a:r>
            <a:br>
              <a:rPr lang="en-US" sz="1400" b="1">
                <a:latin typeface="Aptos"/>
                <a:cs typeface="Calibri Light"/>
              </a:rPr>
            </a:br>
            <a:r>
              <a:rPr lang="en-CA" sz="1400">
                <a:latin typeface="Aptos"/>
                <a:cs typeface="Calibri Light"/>
              </a:rPr>
              <a:t>Starting</a:t>
            </a:r>
            <a:r>
              <a:rPr lang="en-CA" sz="1400" b="1">
                <a:latin typeface="Aptos"/>
                <a:cs typeface="Calibri Light"/>
              </a:rPr>
              <a:t> 30 January 2026</a:t>
            </a:r>
            <a:r>
              <a:rPr lang="en-CA" sz="1400">
                <a:latin typeface="Aptos"/>
                <a:cs typeface="Calibri Light"/>
              </a:rPr>
              <a:t>, please use the refreshed imagery, colors and  templates for any newly-developed GFS content. The previous branding will be phased out to ensure a smooth transition. </a:t>
            </a:r>
            <a:r>
              <a:rPr lang="en-US" altLang="en-US" sz="1400">
                <a:latin typeface="Aptos"/>
                <a:cs typeface="Calibri Light"/>
              </a:rPr>
              <a:t>All existing materials must be fully aligned with the new brand guidelines by </a:t>
            </a:r>
            <a:r>
              <a:rPr lang="en-US" altLang="en-US" sz="1400" b="1">
                <a:latin typeface="Aptos"/>
                <a:cs typeface="Calibri Light"/>
              </a:rPr>
              <a:t>30 May 2026</a:t>
            </a:r>
            <a:r>
              <a:rPr lang="en-US" altLang="en-US" sz="1400">
                <a:latin typeface="Aptos"/>
                <a:cs typeface="Calibri Light"/>
              </a:rPr>
              <a:t>.</a:t>
            </a:r>
          </a:p>
          <a:p>
            <a:pPr fontAlgn="base"/>
            <a:endParaRPr lang="en-US" altLang="en-US" sz="1400" b="1">
              <a:latin typeface="Aptos"/>
              <a:cs typeface="Calibri Light"/>
            </a:endParaRPr>
          </a:p>
          <a:p>
            <a:pPr marL="342900" indent="-342900">
              <a:buFont typeface="+mj-lt"/>
              <a:buAutoNum type="arabicPeriod" startAt="6"/>
            </a:pPr>
            <a:r>
              <a:rPr lang="en-US" sz="1400" b="1">
                <a:solidFill>
                  <a:srgbClr val="0AA7E1"/>
                </a:solidFill>
                <a:latin typeface="Aptos"/>
                <a:cs typeface="Calibri Light"/>
              </a:rPr>
              <a:t>Who should I contact if I have questions about GFS branding guidelines, colors and/or templates?</a:t>
            </a:r>
            <a:br>
              <a:rPr lang="en-US" sz="1400" b="1">
                <a:latin typeface="Aptos"/>
                <a:cs typeface="Calibri Light"/>
              </a:rPr>
            </a:br>
            <a:r>
              <a:rPr lang="en-US" sz="1400">
                <a:latin typeface="Aptos"/>
                <a:cs typeface="Calibri"/>
              </a:rPr>
              <a:t>We are happy to help answer your branding-related questions. For assistance, please contact</a:t>
            </a:r>
            <a:r>
              <a:rPr lang="en-US" sz="1400">
                <a:latin typeface="Aptos"/>
                <a:cs typeface="Calibri Light"/>
              </a:rPr>
              <a:t> </a:t>
            </a:r>
            <a:r>
              <a:rPr lang="en-US" sz="1400">
                <a:latin typeface="Aptos"/>
                <a:cs typeface="Calibri"/>
                <a:hlinkClick r:id="rId3"/>
              </a:rPr>
              <a:t>Jackie Easey or Kanav Kenth</a:t>
            </a:r>
            <a:endParaRPr lang="en-US" sz="1400">
              <a:latin typeface="Aptos"/>
            </a:endParaRPr>
          </a:p>
        </p:txBody>
      </p:sp>
    </p:spTree>
    <p:extLst>
      <p:ext uri="{BB962C8B-B14F-4D97-AF65-F5344CB8AC3E}">
        <p14:creationId xmlns:p14="http://schemas.microsoft.com/office/powerpoint/2010/main" val="340937541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1E97E6-783F-A477-8ECC-ACDB1323D902}"/>
              </a:ext>
            </a:extLst>
          </p:cNvPr>
          <p:cNvSpPr>
            <a:spLocks noGrp="1"/>
          </p:cNvSpPr>
          <p:nvPr>
            <p:ph type="body" sz="quarter" idx="14"/>
          </p:nvPr>
        </p:nvSpPr>
        <p:spPr>
          <a:xfrm>
            <a:off x="475325" y="4108704"/>
            <a:ext cx="8595360" cy="2243137"/>
          </a:xfrm>
        </p:spPr>
        <p:txBody>
          <a:bodyPr/>
          <a:lstStyle/>
          <a:p>
            <a:r>
              <a:rPr lang="en-US"/>
              <a:t>Deloitte refers to one or more of Deloitte Touche Tohmatsu Limited (“DTTL”), its global network of member firms, and their related entities (collectively, the “Deloitte organization”). DTTL (also referred to as “Deloitte Global”) and each of its member firms and related entities are legally separate and independent entities, which cannot obligate or bind each other in respect of third parties. DTTL and each DTTL member firm and related entity is liable only for its own acts and omissions, and not those of each other. DTTL, Deloitte GFS Limited and Deloitte GFS Holdings Limited do not provide services to clients. Please see </a:t>
            </a:r>
            <a:r>
              <a:rPr lang="en-US">
                <a:hlinkClick r:id="rId2"/>
              </a:rPr>
              <a:t>www.deloitte.com/about</a:t>
            </a:r>
            <a:r>
              <a:rPr lang="en-US"/>
              <a:t> to learn more.</a:t>
            </a:r>
          </a:p>
          <a:p>
            <a:r>
              <a:rPr lang="en-US"/>
              <a:t>This communication is for internal distribution among personnel of Deloitte Touche Tohmatsu Limited, its global network of member firms and their related entities. It may contain confidential information and is intended solely for the use of the individual or entity to whom it is addressed. If you are not the intended recipient, please notify us immediately and then delete this communication and all copies of it on your system. Please do not use this communication in any way.</a:t>
            </a:r>
          </a:p>
          <a:p>
            <a:r>
              <a:rPr lang="en-US"/>
              <a:t>None of DTTL, its member firms, related entities, employees or agents shall be responsible for any loss or damage whatsoever arising directly or indirectly in connection with any person relying on this communication.</a:t>
            </a:r>
          </a:p>
          <a:p>
            <a:r>
              <a:rPr lang="en-US"/>
              <a:t>© 2026. For information, contact Deloitte GFS Limited</a:t>
            </a:r>
          </a:p>
        </p:txBody>
      </p:sp>
    </p:spTree>
    <p:extLst>
      <p:ext uri="{BB962C8B-B14F-4D97-AF65-F5344CB8AC3E}">
        <p14:creationId xmlns:p14="http://schemas.microsoft.com/office/powerpoint/2010/main" val="1088736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70847-E8F9-EF1D-B5AA-BFC1264348A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9898949-7C43-6388-EF01-6AAFCFE6C305}"/>
              </a:ext>
            </a:extLst>
          </p:cNvPr>
          <p:cNvPicPr>
            <a:picLocks noGrp="1" noRot="1" noChangeAspect="1" noMove="1" noResize="1" noEditPoints="1" noAdjustHandles="1" noChangeArrowheads="1" noChangeShapeType="1" noCrop="1"/>
          </p:cNvPicPr>
          <p:nvPr/>
        </p:nvPicPr>
        <p:blipFill>
          <a:blip r:embed="rId2"/>
          <a:srcRect l="41970" t="13065" r="10123" b="18400"/>
          <a:stretch>
            <a:fillRect/>
          </a:stretch>
        </p:blipFill>
        <p:spPr>
          <a:xfrm>
            <a:off x="0" y="-1"/>
            <a:ext cx="4447671" cy="6362701"/>
          </a:xfrm>
          <a:prstGeom prst="rect">
            <a:avLst/>
          </a:prstGeom>
        </p:spPr>
      </p:pic>
      <p:pic>
        <p:nvPicPr>
          <p:cNvPr id="16" name="Graphic 15">
            <a:extLst>
              <a:ext uri="{FF2B5EF4-FFF2-40B4-BE49-F238E27FC236}">
                <a16:creationId xmlns:a16="http://schemas.microsoft.com/office/drawing/2014/main" id="{284485DA-258E-E030-F04A-7E9BFADDBD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50143" y="1866900"/>
            <a:ext cx="409575" cy="476250"/>
          </a:xfrm>
          <a:prstGeom prst="rect">
            <a:avLst/>
          </a:prstGeom>
        </p:spPr>
      </p:pic>
      <p:sp>
        <p:nvSpPr>
          <p:cNvPr id="22" name="Freeform: Shape 21">
            <a:extLst>
              <a:ext uri="{FF2B5EF4-FFF2-40B4-BE49-F238E27FC236}">
                <a16:creationId xmlns:a16="http://schemas.microsoft.com/office/drawing/2014/main" id="{41C82103-2FAA-2F36-073A-3779CFF1DDFF}"/>
              </a:ext>
            </a:extLst>
          </p:cNvPr>
          <p:cNvSpPr/>
          <p:nvPr/>
        </p:nvSpPr>
        <p:spPr>
          <a:xfrm>
            <a:off x="4117821" y="2434123"/>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3B8D4EB-9C94-0527-0167-D15EED59475D}"/>
              </a:ext>
            </a:extLst>
          </p:cNvPr>
          <p:cNvSpPr/>
          <p:nvPr/>
        </p:nvSpPr>
        <p:spPr>
          <a:xfrm>
            <a:off x="4363089" y="2373024"/>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48ED880-3F95-AB8E-07EE-E3EA3BB81F2C}"/>
              </a:ext>
            </a:extLst>
          </p:cNvPr>
          <p:cNvSpPr/>
          <p:nvPr/>
        </p:nvSpPr>
        <p:spPr>
          <a:xfrm>
            <a:off x="4202735" y="2171534"/>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F75C9A3-398F-B68A-0508-BB75AD4C83E3}"/>
              </a:ext>
            </a:extLst>
          </p:cNvPr>
          <p:cNvSpPr/>
          <p:nvPr/>
        </p:nvSpPr>
        <p:spPr>
          <a:xfrm>
            <a:off x="3091683" y="5537247"/>
            <a:ext cx="88963" cy="88963"/>
          </a:xfrm>
          <a:custGeom>
            <a:avLst/>
            <a:gdLst>
              <a:gd name="connsiteX0" fmla="*/ 88964 w 88963"/>
              <a:gd name="connsiteY0" fmla="*/ 44482 h 88963"/>
              <a:gd name="connsiteX1" fmla="*/ 44482 w 88963"/>
              <a:gd name="connsiteY1" fmla="*/ 88964 h 88963"/>
              <a:gd name="connsiteX2" fmla="*/ 0 w 88963"/>
              <a:gd name="connsiteY2" fmla="*/ 44482 h 88963"/>
              <a:gd name="connsiteX3" fmla="*/ 44482 w 88963"/>
              <a:gd name="connsiteY3" fmla="*/ 0 h 88963"/>
              <a:gd name="connsiteX4" fmla="*/ 88964 w 88963"/>
              <a:gd name="connsiteY4" fmla="*/ 44482 h 88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63" h="88963">
                <a:moveTo>
                  <a:pt x="88964" y="44482"/>
                </a:moveTo>
                <a:cubicBezTo>
                  <a:pt x="88964" y="69056"/>
                  <a:pt x="69056" y="88964"/>
                  <a:pt x="44482" y="88964"/>
                </a:cubicBezTo>
                <a:cubicBezTo>
                  <a:pt x="19907" y="88964"/>
                  <a:pt x="0" y="69056"/>
                  <a:pt x="0" y="44482"/>
                </a:cubicBezTo>
                <a:cubicBezTo>
                  <a:pt x="0" y="19907"/>
                  <a:pt x="19907" y="0"/>
                  <a:pt x="44482" y="0"/>
                </a:cubicBezTo>
                <a:cubicBezTo>
                  <a:pt x="69056" y="0"/>
                  <a:pt x="88964" y="19907"/>
                  <a:pt x="88964" y="44482"/>
                </a:cubicBezTo>
                <a:close/>
              </a:path>
            </a:pathLst>
          </a:custGeom>
          <a:solidFill>
            <a:srgbClr val="00A3E0">
              <a:alpha val="44000"/>
            </a:srgb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DB4B64A-888F-EC45-3633-97F5A6652C5E}"/>
              </a:ext>
            </a:extLst>
          </p:cNvPr>
          <p:cNvSpPr/>
          <p:nvPr/>
        </p:nvSpPr>
        <p:spPr>
          <a:xfrm>
            <a:off x="3064577" y="5836071"/>
            <a:ext cx="42291" cy="42291"/>
          </a:xfrm>
          <a:custGeom>
            <a:avLst/>
            <a:gdLst>
              <a:gd name="connsiteX0" fmla="*/ 42291 w 42291"/>
              <a:gd name="connsiteY0" fmla="*/ 21146 h 42291"/>
              <a:gd name="connsiteX1" fmla="*/ 21146 w 42291"/>
              <a:gd name="connsiteY1" fmla="*/ 42291 h 42291"/>
              <a:gd name="connsiteX2" fmla="*/ 0 w 42291"/>
              <a:gd name="connsiteY2" fmla="*/ 21146 h 42291"/>
              <a:gd name="connsiteX3" fmla="*/ 21146 w 42291"/>
              <a:gd name="connsiteY3" fmla="*/ 0 h 42291"/>
              <a:gd name="connsiteX4" fmla="*/ 42291 w 42291"/>
              <a:gd name="connsiteY4" fmla="*/ 21146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1">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alpha val="44000"/>
            </a:srgb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B10F6B8-8D96-744A-1BA0-2C03C3298DA2}"/>
              </a:ext>
            </a:extLst>
          </p:cNvPr>
          <p:cNvSpPr/>
          <p:nvPr/>
        </p:nvSpPr>
        <p:spPr>
          <a:xfrm>
            <a:off x="3351695" y="5702675"/>
            <a:ext cx="42291" cy="42290"/>
          </a:xfrm>
          <a:custGeom>
            <a:avLst/>
            <a:gdLst>
              <a:gd name="connsiteX0" fmla="*/ 42291 w 42291"/>
              <a:gd name="connsiteY0" fmla="*/ 21146 h 42290"/>
              <a:gd name="connsiteX1" fmla="*/ 21146 w 42291"/>
              <a:gd name="connsiteY1" fmla="*/ 42291 h 42290"/>
              <a:gd name="connsiteX2" fmla="*/ 0 w 42291"/>
              <a:gd name="connsiteY2" fmla="*/ 21146 h 42290"/>
              <a:gd name="connsiteX3" fmla="*/ 21146 w 42291"/>
              <a:gd name="connsiteY3" fmla="*/ 0 h 42290"/>
              <a:gd name="connsiteX4" fmla="*/ 42291 w 42291"/>
              <a:gd name="connsiteY4" fmla="*/ 21146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1" h="42290">
                <a:moveTo>
                  <a:pt x="42291" y="21146"/>
                </a:moveTo>
                <a:cubicBezTo>
                  <a:pt x="42291" y="32861"/>
                  <a:pt x="32861" y="42291"/>
                  <a:pt x="21146" y="42291"/>
                </a:cubicBezTo>
                <a:cubicBezTo>
                  <a:pt x="9430" y="42291"/>
                  <a:pt x="0" y="32861"/>
                  <a:pt x="0" y="21146"/>
                </a:cubicBezTo>
                <a:cubicBezTo>
                  <a:pt x="0" y="9430"/>
                  <a:pt x="9430" y="0"/>
                  <a:pt x="21146" y="0"/>
                </a:cubicBezTo>
                <a:cubicBezTo>
                  <a:pt x="32861" y="0"/>
                  <a:pt x="42291" y="9430"/>
                  <a:pt x="42291" y="21146"/>
                </a:cubicBezTo>
                <a:close/>
              </a:path>
            </a:pathLst>
          </a:custGeom>
          <a:solidFill>
            <a:srgbClr val="0D8390"/>
          </a:solidFill>
          <a:ln w="9525" cap="flat">
            <a:noFill/>
            <a:prstDash val="solid"/>
            <a:miter/>
          </a:ln>
        </p:spPr>
        <p:txBody>
          <a:bodyPr rtlCol="0" anchor="ctr"/>
          <a:lstStyle/>
          <a:p>
            <a:endParaRPr lang="en-US"/>
          </a:p>
        </p:txBody>
      </p:sp>
      <p:pic>
        <p:nvPicPr>
          <p:cNvPr id="28" name="Graphic 27">
            <a:extLst>
              <a:ext uri="{FF2B5EF4-FFF2-40B4-BE49-F238E27FC236}">
                <a16:creationId xmlns:a16="http://schemas.microsoft.com/office/drawing/2014/main" id="{55BA310C-B7B7-1E37-F01A-65EBA6C78D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16176" y="5524500"/>
            <a:ext cx="304320" cy="353860"/>
          </a:xfrm>
          <a:prstGeom prst="rect">
            <a:avLst/>
          </a:prstGeom>
        </p:spPr>
      </p:pic>
      <p:sp>
        <p:nvSpPr>
          <p:cNvPr id="2" name="Title 3">
            <a:extLst>
              <a:ext uri="{FF2B5EF4-FFF2-40B4-BE49-F238E27FC236}">
                <a16:creationId xmlns:a16="http://schemas.microsoft.com/office/drawing/2014/main" id="{17721764-71FA-C5B3-1FB9-89FAA26B1D4C}"/>
              </a:ext>
            </a:extLst>
          </p:cNvPr>
          <p:cNvSpPr txBox="1">
            <a:spLocks/>
          </p:cNvSpPr>
          <p:nvPr/>
        </p:nvSpPr>
        <p:spPr bwMode="gray">
          <a:xfrm>
            <a:off x="4447671" y="2923553"/>
            <a:ext cx="4491924" cy="628904"/>
          </a:xfrm>
          <a:prstGeom prst="rect">
            <a:avLst/>
          </a:prstGeom>
        </p:spPr>
        <p:txBody>
          <a:bodyPr vert="horz" lIns="0" tIns="0" rIns="0" bIns="0" rtlCol="0" anchor="b" anchorCtr="0">
            <a:noAutofit/>
          </a:bodyPr>
          <a:lstStyle>
            <a:lvl1pPr algn="l" defTabSz="685800" rtl="0" eaLnBrk="1" latinLnBrk="0" hangingPunct="1">
              <a:lnSpc>
                <a:spcPct val="95000"/>
              </a:lnSpc>
              <a:spcBef>
                <a:spcPct val="0"/>
              </a:spcBef>
              <a:buNone/>
              <a:defRPr sz="3600" b="1" kern="1200">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sz="4500">
                <a:solidFill>
                  <a:srgbClr val="00A3E0"/>
                </a:solidFill>
              </a:rPr>
              <a:t>Appendix</a:t>
            </a:r>
          </a:p>
        </p:txBody>
      </p:sp>
      <p:cxnSp>
        <p:nvCxnSpPr>
          <p:cNvPr id="3" name="Straight Connector 2">
            <a:extLst>
              <a:ext uri="{FF2B5EF4-FFF2-40B4-BE49-F238E27FC236}">
                <a16:creationId xmlns:a16="http://schemas.microsoft.com/office/drawing/2014/main" id="{9C32CDC9-37C3-73AB-7F1B-ED3EC40C22F0}"/>
              </a:ext>
            </a:extLst>
          </p:cNvPr>
          <p:cNvCxnSpPr>
            <a:cxnSpLocks/>
          </p:cNvCxnSpPr>
          <p:nvPr/>
        </p:nvCxnSpPr>
        <p:spPr>
          <a:xfrm>
            <a:off x="4447671" y="3812540"/>
            <a:ext cx="2471289" cy="0"/>
          </a:xfrm>
          <a:prstGeom prst="line">
            <a:avLst/>
          </a:prstGeom>
          <a:ln w="19050">
            <a:solidFill>
              <a:srgbClr val="00A3E0"/>
            </a:solidFill>
            <a:tailEnd type="oval"/>
          </a:ln>
        </p:spPr>
        <p:style>
          <a:lnRef idx="1">
            <a:schemeClr val="accent1"/>
          </a:lnRef>
          <a:fillRef idx="0">
            <a:schemeClr val="accent1"/>
          </a:fillRef>
          <a:effectRef idx="0">
            <a:schemeClr val="accent1"/>
          </a:effectRef>
          <a:fontRef idx="minor">
            <a:schemeClr val="tx1"/>
          </a:fontRef>
        </p:style>
      </p:cxnSp>
      <p:pic>
        <p:nvPicPr>
          <p:cNvPr id="6" name="Graphic 5">
            <a:hlinkClick r:id="rId5" action="ppaction://hlinksldjump"/>
            <a:extLst>
              <a:ext uri="{FF2B5EF4-FFF2-40B4-BE49-F238E27FC236}">
                <a16:creationId xmlns:a16="http://schemas.microsoft.com/office/drawing/2014/main" id="{71AFBE85-9C68-5F9C-D509-4448A143131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379200" y="309880"/>
            <a:ext cx="469900" cy="469900"/>
          </a:xfrm>
          <a:prstGeom prst="rect">
            <a:avLst/>
          </a:prstGeom>
        </p:spPr>
      </p:pic>
    </p:spTree>
    <p:extLst>
      <p:ext uri="{BB962C8B-B14F-4D97-AF65-F5344CB8AC3E}">
        <p14:creationId xmlns:p14="http://schemas.microsoft.com/office/powerpoint/2010/main" val="3126869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1E525-5557-E8B7-346F-A125BE234F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6764FF-C469-EB4A-124D-37495A58C9B1}"/>
              </a:ext>
            </a:extLst>
          </p:cNvPr>
          <p:cNvSpPr>
            <a:spLocks noGrp="1"/>
          </p:cNvSpPr>
          <p:nvPr>
            <p:ph type="title"/>
          </p:nvPr>
        </p:nvSpPr>
        <p:spPr/>
        <p:txBody>
          <a:bodyPr/>
          <a:lstStyle/>
          <a:p>
            <a:r>
              <a:rPr lang="en-US">
                <a:solidFill>
                  <a:schemeClr val="tx1"/>
                </a:solidFill>
                <a:cs typeface="Calibri"/>
              </a:rPr>
              <a:t>GFS Style Guide | </a:t>
            </a:r>
            <a:r>
              <a:rPr lang="en-US" b="1"/>
              <a:t> </a:t>
            </a:r>
            <a:r>
              <a:rPr lang="en-US" b="1">
                <a:latin typeface="Aptos"/>
                <a:cs typeface="Calibri Light"/>
              </a:rPr>
              <a:t>Messaging tips</a:t>
            </a:r>
            <a:endParaRPr lang="en-US">
              <a:solidFill>
                <a:schemeClr val="tx1"/>
              </a:solidFill>
              <a:latin typeface="+mj-lt"/>
            </a:endParaRPr>
          </a:p>
        </p:txBody>
      </p:sp>
      <p:sp>
        <p:nvSpPr>
          <p:cNvPr id="2" name="Content Placeholder 1">
            <a:extLst>
              <a:ext uri="{FF2B5EF4-FFF2-40B4-BE49-F238E27FC236}">
                <a16:creationId xmlns:a16="http://schemas.microsoft.com/office/drawing/2014/main" id="{5735B219-EC39-F29C-4729-CC5F77B4BEC3}"/>
              </a:ext>
            </a:extLst>
          </p:cNvPr>
          <p:cNvSpPr txBox="1">
            <a:spLocks noChangeArrowheads="1"/>
          </p:cNvSpPr>
          <p:nvPr/>
        </p:nvSpPr>
        <p:spPr bwMode="auto">
          <a:xfrm>
            <a:off x="264529" y="534191"/>
            <a:ext cx="11118589" cy="59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tx1"/>
                </a:solidFill>
                <a:latin typeface="Aptos" panose="020B0004020202020204" pitchFamily="34" charset="0"/>
                <a:ea typeface="+mn-ea"/>
                <a:cs typeface="Calibri Light" panose="020F0302020204030204" pitchFamily="34" charset="0"/>
              </a:defRPr>
            </a:lvl2pPr>
            <a:lvl3pPr marL="365760"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tx1"/>
                </a:solidFill>
                <a:latin typeface="Aptos" panose="020B0004020202020204" pitchFamily="34" charset="0"/>
                <a:ea typeface="+mn-ea"/>
                <a:cs typeface="Calibri Light" panose="020F0302020204030204" pitchFamily="34" charset="0"/>
              </a:defRPr>
            </a:lvl3pPr>
            <a:lvl4pPr marL="548640" indent="-18288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a:solidFill>
                  <a:schemeClr val="tx1"/>
                </a:solidFill>
                <a:latin typeface="Aptos" panose="020B0004020202020204" pitchFamily="34" charset="0"/>
                <a:ea typeface="+mn-ea"/>
                <a:cs typeface="Calibri Light" panose="020F0302020204030204" pitchFamily="34" charset="0"/>
              </a:defRPr>
            </a:lvl4pPr>
            <a:lvl5pPr marL="73152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defTabSz="914400" fontAlgn="base">
              <a:spcBef>
                <a:spcPct val="0"/>
              </a:spcBef>
              <a:spcAft>
                <a:spcPts val="600"/>
              </a:spcAft>
              <a:buSzTx/>
              <a:defRPr/>
            </a:pPr>
            <a:r>
              <a:rPr lang="en-US" sz="1600" b="1">
                <a:solidFill>
                  <a:srgbClr val="0AA7E1"/>
                </a:solidFill>
              </a:rPr>
              <a:t>Imagery &amp; icons</a:t>
            </a:r>
          </a:p>
          <a:p>
            <a:pPr marL="285750" indent="-285750" defTabSz="914400" fontAlgn="base">
              <a:spcBef>
                <a:spcPct val="0"/>
              </a:spcBef>
              <a:spcAft>
                <a:spcPts val="600"/>
              </a:spcAft>
              <a:buSzTx/>
              <a:buFont typeface="Wingdings" panose="05000000000000000000" pitchFamily="2" charset="2"/>
              <a:buChar char="q"/>
              <a:defRPr/>
            </a:pPr>
            <a:r>
              <a:rPr lang="en-CA" sz="1400"/>
              <a:t>Use only approved GFS brand images, icons, and templates.</a:t>
            </a:r>
          </a:p>
          <a:p>
            <a:pPr marL="285750" indent="-285750" defTabSz="914400" fontAlgn="base">
              <a:spcBef>
                <a:spcPct val="0"/>
              </a:spcBef>
              <a:spcAft>
                <a:spcPts val="600"/>
              </a:spcAft>
              <a:buSzTx/>
              <a:buFont typeface="Wingdings" panose="05000000000000000000" pitchFamily="2" charset="2"/>
              <a:buChar char="q"/>
              <a:defRPr/>
            </a:pPr>
            <a:r>
              <a:rPr lang="en-CA" sz="1400"/>
              <a:t>Avoid off-brand stock photos, clip art, or unapproved styles.</a:t>
            </a:r>
            <a:endParaRPr lang="en-US" sz="1400"/>
          </a:p>
          <a:p>
            <a:pPr defTabSz="914400" fontAlgn="base">
              <a:spcBef>
                <a:spcPct val="0"/>
              </a:spcBef>
              <a:spcAft>
                <a:spcPts val="600"/>
              </a:spcAft>
              <a:buSzTx/>
              <a:defRPr/>
            </a:pPr>
            <a:endParaRPr lang="en-US" sz="1400" b="1">
              <a:solidFill>
                <a:srgbClr val="0AA7E1"/>
              </a:solidFill>
            </a:endParaRPr>
          </a:p>
          <a:p>
            <a:pPr defTabSz="914400" fontAlgn="base">
              <a:spcBef>
                <a:spcPct val="0"/>
              </a:spcBef>
              <a:spcAft>
                <a:spcPts val="600"/>
              </a:spcAft>
              <a:buSzTx/>
              <a:defRPr/>
            </a:pPr>
            <a:r>
              <a:rPr lang="en-US" sz="1600" b="1">
                <a:solidFill>
                  <a:srgbClr val="0AA7E1"/>
                </a:solidFill>
              </a:rPr>
              <a:t>Color usage</a:t>
            </a:r>
          </a:p>
          <a:p>
            <a:pPr marL="285750" indent="-285750" defTabSz="914400" fontAlgn="base">
              <a:spcBef>
                <a:spcPct val="0"/>
              </a:spcBef>
              <a:spcAft>
                <a:spcPts val="600"/>
              </a:spcAft>
              <a:buSzTx/>
              <a:buFont typeface="Wingdings" panose="05000000000000000000" pitchFamily="2" charset="2"/>
              <a:buChar char="q"/>
              <a:defRPr/>
            </a:pPr>
            <a:r>
              <a:rPr lang="en-CA" sz="1400"/>
              <a:t>Follow the primary and secondary brand color palette.</a:t>
            </a:r>
          </a:p>
          <a:p>
            <a:pPr marL="285750" indent="-285750" defTabSz="914400" fontAlgn="base">
              <a:spcBef>
                <a:spcPct val="0"/>
              </a:spcBef>
              <a:spcAft>
                <a:spcPts val="600"/>
              </a:spcAft>
              <a:buSzTx/>
              <a:buFont typeface="Wingdings" panose="05000000000000000000" pitchFamily="2" charset="2"/>
              <a:buChar char="q"/>
              <a:defRPr/>
            </a:pPr>
            <a:r>
              <a:rPr lang="en-CA" sz="1400"/>
              <a:t>Use primary brand colors for key elements (titles, headers, buttons, shapes) and avoid letting non-brand colors dominate.</a:t>
            </a:r>
          </a:p>
          <a:p>
            <a:pPr marL="285750" indent="-285750" defTabSz="914400" fontAlgn="base">
              <a:spcBef>
                <a:spcPct val="0"/>
              </a:spcBef>
              <a:spcAft>
                <a:spcPts val="600"/>
              </a:spcAft>
              <a:buSzTx/>
              <a:buFont typeface="Wingdings" panose="05000000000000000000" pitchFamily="2" charset="2"/>
              <a:buChar char="q"/>
              <a:defRPr/>
            </a:pPr>
            <a:r>
              <a:rPr lang="en-CA" sz="1400"/>
              <a:t>Ensure colors meet contrast and accessibility standards.</a:t>
            </a:r>
            <a:endParaRPr lang="en-US" sz="1400"/>
          </a:p>
          <a:p>
            <a:pPr marL="342900" indent="-342900" defTabSz="914400" fontAlgn="base">
              <a:spcBef>
                <a:spcPct val="0"/>
              </a:spcBef>
              <a:spcAft>
                <a:spcPts val="600"/>
              </a:spcAft>
              <a:buSzTx/>
              <a:buFont typeface="Wingdings" panose="05000000000000000000" pitchFamily="2" charset="2"/>
              <a:buChar char="q"/>
              <a:defRPr/>
            </a:pPr>
            <a:endParaRPr lang="en-US" sz="1600"/>
          </a:p>
          <a:p>
            <a:pPr defTabSz="914400" fontAlgn="base">
              <a:spcBef>
                <a:spcPct val="0"/>
              </a:spcBef>
              <a:spcAft>
                <a:spcPts val="600"/>
              </a:spcAft>
              <a:buSzTx/>
              <a:defRPr/>
            </a:pPr>
            <a:r>
              <a:rPr lang="en-US" sz="1600" b="1">
                <a:solidFill>
                  <a:srgbClr val="0AA7E1"/>
                </a:solidFill>
              </a:rPr>
              <a:t>Fonts &amp; typography</a:t>
            </a:r>
          </a:p>
          <a:p>
            <a:pPr marL="285750" indent="-285750" defTabSz="914400" fontAlgn="base">
              <a:spcBef>
                <a:spcPct val="0"/>
              </a:spcBef>
              <a:spcAft>
                <a:spcPts val="600"/>
              </a:spcAft>
              <a:buSzTx/>
              <a:buFont typeface="Wingdings" panose="05000000000000000000" pitchFamily="2" charset="2"/>
              <a:buChar char="q"/>
              <a:defRPr/>
            </a:pPr>
            <a:r>
              <a:rPr lang="en-CA" sz="1400"/>
              <a:t>Use only approved fonts, sizes, and weights </a:t>
            </a:r>
            <a:r>
              <a:rPr lang="en-US" sz="1400"/>
              <a:t>as specified in the guide.</a:t>
            </a:r>
          </a:p>
          <a:p>
            <a:pPr marL="285750" indent="-285750" defTabSz="914400" fontAlgn="base">
              <a:spcBef>
                <a:spcPct val="0"/>
              </a:spcBef>
              <a:spcAft>
                <a:spcPts val="600"/>
              </a:spcAft>
              <a:buSzTx/>
              <a:buFont typeface="Wingdings" panose="05000000000000000000" pitchFamily="2" charset="2"/>
              <a:buChar char="q"/>
              <a:defRPr/>
            </a:pPr>
            <a:r>
              <a:rPr lang="en-CA" sz="1400"/>
              <a:t>Apply correct hierarchy for headings, subheadings, and body text.</a:t>
            </a:r>
          </a:p>
          <a:p>
            <a:pPr marL="285750" indent="-285750" defTabSz="914400" fontAlgn="base">
              <a:spcBef>
                <a:spcPct val="0"/>
              </a:spcBef>
              <a:spcAft>
                <a:spcPts val="600"/>
              </a:spcAft>
              <a:buSzTx/>
              <a:buFont typeface="Wingdings" panose="05000000000000000000" pitchFamily="2" charset="2"/>
              <a:buChar char="q"/>
              <a:defRPr/>
            </a:pPr>
            <a:r>
              <a:rPr lang="en-CA" sz="1400"/>
              <a:t>Avoid unapproved fonts in all content, including in charts and diagrams.</a:t>
            </a:r>
            <a:endParaRPr lang="en-US" sz="1400"/>
          </a:p>
          <a:p>
            <a:pPr marL="342900" indent="-342900" defTabSz="914400" fontAlgn="base">
              <a:spcBef>
                <a:spcPct val="0"/>
              </a:spcBef>
              <a:spcAft>
                <a:spcPts val="600"/>
              </a:spcAft>
              <a:buSzTx/>
              <a:buFont typeface="Wingdings" panose="05000000000000000000" pitchFamily="2" charset="2"/>
              <a:buChar char="q"/>
              <a:defRPr/>
            </a:pPr>
            <a:endParaRPr lang="en-US" sz="1600">
              <a:solidFill>
                <a:srgbClr val="0AA7E1"/>
              </a:solidFill>
            </a:endParaRPr>
          </a:p>
          <a:p>
            <a:pPr defTabSz="914400" fontAlgn="base">
              <a:spcBef>
                <a:spcPct val="0"/>
              </a:spcBef>
              <a:spcAft>
                <a:spcPts val="600"/>
              </a:spcAft>
              <a:buSzTx/>
              <a:defRPr/>
            </a:pPr>
            <a:r>
              <a:rPr lang="en-US" sz="1600" b="1">
                <a:solidFill>
                  <a:srgbClr val="0AA7E1"/>
                </a:solidFill>
              </a:rPr>
              <a:t>Templates &amp; layout</a:t>
            </a:r>
          </a:p>
          <a:p>
            <a:pPr marL="285750" indent="-285750" defTabSz="914400" fontAlgn="base">
              <a:spcBef>
                <a:spcPct val="0"/>
              </a:spcBef>
              <a:spcAft>
                <a:spcPts val="600"/>
              </a:spcAft>
              <a:buSzTx/>
              <a:buFont typeface="Wingdings" panose="05000000000000000000" pitchFamily="2" charset="2"/>
              <a:buChar char="q"/>
              <a:defRPr/>
            </a:pPr>
            <a:r>
              <a:rPr lang="en-CA" sz="1400"/>
              <a:t>Choose the correct template for your message and audience.</a:t>
            </a:r>
            <a:endParaRPr lang="en-US" sz="1400"/>
          </a:p>
          <a:p>
            <a:pPr marL="285750" indent="-285750" defTabSz="914400" fontAlgn="base">
              <a:spcBef>
                <a:spcPct val="0"/>
              </a:spcBef>
              <a:spcAft>
                <a:spcPts val="600"/>
              </a:spcAft>
              <a:buSzTx/>
              <a:buFont typeface="Wingdings" panose="05000000000000000000" pitchFamily="2" charset="2"/>
              <a:buChar char="q"/>
              <a:defRPr/>
            </a:pPr>
            <a:r>
              <a:rPr lang="en-CA" sz="1400"/>
              <a:t>Keep layout clean, balanced, and consistent with GFS standards.</a:t>
            </a:r>
          </a:p>
          <a:p>
            <a:pPr marL="285750" indent="-285750" defTabSz="914400" fontAlgn="base">
              <a:spcBef>
                <a:spcPct val="0"/>
              </a:spcBef>
              <a:spcAft>
                <a:spcPts val="600"/>
              </a:spcAft>
              <a:buSzTx/>
              <a:buFont typeface="Wingdings" panose="05000000000000000000" pitchFamily="2" charset="2"/>
              <a:buChar char="q"/>
              <a:defRPr/>
            </a:pPr>
            <a:r>
              <a:rPr lang="en-CA" sz="1400"/>
              <a:t>Follow guide examples for margins, spacing, and alignment.</a:t>
            </a:r>
          </a:p>
          <a:p>
            <a:pPr marL="285750" indent="-285750" defTabSz="914400" fontAlgn="base">
              <a:spcBef>
                <a:spcPct val="0"/>
              </a:spcBef>
              <a:spcAft>
                <a:spcPts val="600"/>
              </a:spcAft>
              <a:buSzTx/>
              <a:buFont typeface="Wingdings" panose="05000000000000000000" pitchFamily="2" charset="2"/>
              <a:buChar char="q"/>
              <a:defRPr/>
            </a:pPr>
            <a:r>
              <a:rPr lang="en-CA" sz="1400"/>
              <a:t>Ensure enough white space; avoid clutter.</a:t>
            </a:r>
            <a:endParaRPr lang="en-US" altLang="en-US" sz="1400">
              <a:latin typeface="+mn-lt"/>
              <a:ea typeface="Open Sans"/>
              <a:cs typeface="Open Sans"/>
            </a:endParaRPr>
          </a:p>
        </p:txBody>
      </p:sp>
    </p:spTree>
    <p:extLst>
      <p:ext uri="{BB962C8B-B14F-4D97-AF65-F5344CB8AC3E}">
        <p14:creationId xmlns:p14="http://schemas.microsoft.com/office/powerpoint/2010/main" val="195546822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542E2-DA31-97B7-6F88-634109E4B2A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E88921C-ECF2-4A1C-80ED-BB12AC273779}"/>
              </a:ext>
            </a:extLst>
          </p:cNvPr>
          <p:cNvSpPr>
            <a:spLocks noGrp="1"/>
          </p:cNvSpPr>
          <p:nvPr>
            <p:ph type="title"/>
          </p:nvPr>
        </p:nvSpPr>
        <p:spPr/>
        <p:txBody>
          <a:bodyPr/>
          <a:lstStyle/>
          <a:p>
            <a:r>
              <a:rPr lang="en-US">
                <a:solidFill>
                  <a:schemeClr val="tx1"/>
                </a:solidFill>
                <a:cs typeface="Calibri"/>
              </a:rPr>
              <a:t>GFS Style Guide | </a:t>
            </a:r>
            <a:r>
              <a:rPr lang="en-US" b="1"/>
              <a:t> </a:t>
            </a:r>
            <a:r>
              <a:rPr lang="en-US" b="1">
                <a:latin typeface="Aptos"/>
                <a:cs typeface="Calibri Light"/>
              </a:rPr>
              <a:t>Tips for confirming fonts (Outlook)</a:t>
            </a:r>
            <a:endParaRPr lang="en-US">
              <a:solidFill>
                <a:schemeClr val="tx1"/>
              </a:solidFill>
              <a:latin typeface="+mj-lt"/>
            </a:endParaRPr>
          </a:p>
        </p:txBody>
      </p:sp>
      <p:sp>
        <p:nvSpPr>
          <p:cNvPr id="4" name="Content Placeholder 2">
            <a:extLst>
              <a:ext uri="{FF2B5EF4-FFF2-40B4-BE49-F238E27FC236}">
                <a16:creationId xmlns:a16="http://schemas.microsoft.com/office/drawing/2014/main" id="{C3290063-7D83-FFBF-650A-D6BF6D253825}"/>
              </a:ext>
            </a:extLst>
          </p:cNvPr>
          <p:cNvSpPr txBox="1">
            <a:spLocks/>
          </p:cNvSpPr>
          <p:nvPr/>
        </p:nvSpPr>
        <p:spPr>
          <a:xfrm>
            <a:off x="342900" y="741141"/>
            <a:ext cx="11256264" cy="404051"/>
          </a:xfrm>
          <a:prstGeom prst="rect">
            <a:avLst/>
          </a:prstGeom>
        </p:spPr>
        <p:txBody>
          <a:bodyPr lIns="0" tIns="0" rIns="0"/>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ea typeface="Verdana" panose="020B0604030504040204" pitchFamily="34" charset="0"/>
                <a:cs typeface="Calibri" panose="020F0502020204030204" pitchFamily="34" charset="0"/>
              </a:rPr>
              <a:t>If the standard Aptos font does not show in your Microsoft applications, please follow the instructions below to manually make updates to your default settings.</a:t>
            </a:r>
          </a:p>
        </p:txBody>
      </p:sp>
      <p:sp>
        <p:nvSpPr>
          <p:cNvPr id="5" name="Rectangle 2">
            <a:extLst>
              <a:ext uri="{FF2B5EF4-FFF2-40B4-BE49-F238E27FC236}">
                <a16:creationId xmlns:a16="http://schemas.microsoft.com/office/drawing/2014/main" id="{0273C7C4-343A-A009-6618-B92E33B25F76}"/>
              </a:ext>
            </a:extLst>
          </p:cNvPr>
          <p:cNvSpPr>
            <a:spLocks noChangeArrowheads="1"/>
          </p:cNvSpPr>
          <p:nvPr/>
        </p:nvSpPr>
        <p:spPr bwMode="auto">
          <a:xfrm>
            <a:off x="233172" y="1030796"/>
            <a:ext cx="720184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OUTLOOK  </a:t>
            </a:r>
            <a:endParaRPr kumimoji="0" lang="en-US" altLang="en-US" sz="8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Go to File &gt; Options &gt; Mail &gt; Stationary and Fonts &gt; select each font option and manually update to Aptos, size 11.</a:t>
            </a:r>
            <a:endParaRPr kumimoji="0" lang="en-US" altLang="en-US" sz="8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5" name="Picture 1">
            <a:extLst>
              <a:ext uri="{FF2B5EF4-FFF2-40B4-BE49-F238E27FC236}">
                <a16:creationId xmlns:a16="http://schemas.microsoft.com/office/drawing/2014/main" id="{1818B2C3-0F48-6E0C-20FD-7F839EFAC062}"/>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2537460" y="1555576"/>
            <a:ext cx="5187950"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70147"/>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3B39B-157B-A564-7936-2E60F896753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23B853A-6AD5-01B4-55B5-7EB9E2981989}"/>
              </a:ext>
            </a:extLst>
          </p:cNvPr>
          <p:cNvSpPr>
            <a:spLocks noGrp="1"/>
          </p:cNvSpPr>
          <p:nvPr>
            <p:ph type="title"/>
          </p:nvPr>
        </p:nvSpPr>
        <p:spPr/>
        <p:txBody>
          <a:bodyPr/>
          <a:lstStyle/>
          <a:p>
            <a:r>
              <a:rPr lang="en-US">
                <a:solidFill>
                  <a:schemeClr val="tx1"/>
                </a:solidFill>
                <a:cs typeface="Calibri"/>
              </a:rPr>
              <a:t>GFS Style Guide | </a:t>
            </a:r>
            <a:r>
              <a:rPr lang="en-US" b="1"/>
              <a:t> </a:t>
            </a:r>
            <a:r>
              <a:rPr lang="en-US" b="1">
                <a:latin typeface="Aptos"/>
                <a:cs typeface="Calibri Light"/>
              </a:rPr>
              <a:t>Tips for confirming fonts (Excel)</a:t>
            </a:r>
            <a:endParaRPr lang="en-US">
              <a:solidFill>
                <a:schemeClr val="tx1"/>
              </a:solidFill>
              <a:latin typeface="+mj-lt"/>
            </a:endParaRPr>
          </a:p>
        </p:txBody>
      </p:sp>
      <p:sp>
        <p:nvSpPr>
          <p:cNvPr id="4" name="Content Placeholder 2">
            <a:extLst>
              <a:ext uri="{FF2B5EF4-FFF2-40B4-BE49-F238E27FC236}">
                <a16:creationId xmlns:a16="http://schemas.microsoft.com/office/drawing/2014/main" id="{479E74D7-85E6-1E1D-1303-4D8610995884}"/>
              </a:ext>
            </a:extLst>
          </p:cNvPr>
          <p:cNvSpPr txBox="1">
            <a:spLocks/>
          </p:cNvSpPr>
          <p:nvPr/>
        </p:nvSpPr>
        <p:spPr>
          <a:xfrm>
            <a:off x="342900" y="741141"/>
            <a:ext cx="11256264" cy="404051"/>
          </a:xfrm>
          <a:prstGeom prst="rect">
            <a:avLst/>
          </a:prstGeom>
        </p:spPr>
        <p:txBody>
          <a:bodyPr lIns="0" tIns="0" rIns="0"/>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ea typeface="Verdana" panose="020B0604030504040204" pitchFamily="34" charset="0"/>
                <a:cs typeface="Calibri" panose="020F0502020204030204" pitchFamily="34" charset="0"/>
              </a:rPr>
              <a:t>If the standard Aptos font does not show in your Microsoft applications, please follow the instructions below to manually make updates to your default settings.</a:t>
            </a:r>
          </a:p>
        </p:txBody>
      </p:sp>
      <p:sp>
        <p:nvSpPr>
          <p:cNvPr id="2" name="Rectangle 2">
            <a:extLst>
              <a:ext uri="{FF2B5EF4-FFF2-40B4-BE49-F238E27FC236}">
                <a16:creationId xmlns:a16="http://schemas.microsoft.com/office/drawing/2014/main" id="{69ED9218-1F99-CCBD-F70F-395B33B21E6E}"/>
              </a:ext>
            </a:extLst>
          </p:cNvPr>
          <p:cNvSpPr>
            <a:spLocks noChangeArrowheads="1"/>
          </p:cNvSpPr>
          <p:nvPr/>
        </p:nvSpPr>
        <p:spPr bwMode="auto">
          <a:xfrm>
            <a:off x="237744" y="1063150"/>
            <a:ext cx="508184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EXCEL</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Open new workbook</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Go to File &gt; Options &gt; General</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Under “When creating new workbooks”, update the “Use this font” dropdown to Aptos</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Click OK to save changes</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Restart Excel</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097" name="Picture 1">
            <a:extLst>
              <a:ext uri="{FF2B5EF4-FFF2-40B4-BE49-F238E27FC236}">
                <a16:creationId xmlns:a16="http://schemas.microsoft.com/office/drawing/2014/main" id="{08DAB4D4-F243-5D5D-AC43-42CA50E473F9}"/>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2578608" y="2084832"/>
            <a:ext cx="5257800"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0792573"/>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30104-97F8-9BD9-545E-4E9C9CF6DA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D47B11-3157-3D22-4F10-3749F5D4CBC4}"/>
              </a:ext>
            </a:extLst>
          </p:cNvPr>
          <p:cNvSpPr>
            <a:spLocks noGrp="1"/>
          </p:cNvSpPr>
          <p:nvPr>
            <p:ph type="title"/>
          </p:nvPr>
        </p:nvSpPr>
        <p:spPr/>
        <p:txBody>
          <a:bodyPr/>
          <a:lstStyle/>
          <a:p>
            <a:r>
              <a:rPr lang="en-US">
                <a:solidFill>
                  <a:schemeClr val="tx1"/>
                </a:solidFill>
                <a:cs typeface="Calibri"/>
              </a:rPr>
              <a:t>GFS Style Guide | </a:t>
            </a:r>
            <a:r>
              <a:rPr lang="en-US" b="1"/>
              <a:t> </a:t>
            </a:r>
            <a:r>
              <a:rPr lang="en-US" b="1">
                <a:latin typeface="Aptos"/>
                <a:cs typeface="Calibri Light"/>
              </a:rPr>
              <a:t>Tips for confirming fonts (Word)</a:t>
            </a:r>
            <a:endParaRPr lang="en-US">
              <a:solidFill>
                <a:schemeClr val="tx1"/>
              </a:solidFill>
              <a:latin typeface="+mj-lt"/>
            </a:endParaRPr>
          </a:p>
        </p:txBody>
      </p:sp>
      <p:sp>
        <p:nvSpPr>
          <p:cNvPr id="4" name="Content Placeholder 2">
            <a:extLst>
              <a:ext uri="{FF2B5EF4-FFF2-40B4-BE49-F238E27FC236}">
                <a16:creationId xmlns:a16="http://schemas.microsoft.com/office/drawing/2014/main" id="{D84B2214-26F2-6AED-E643-D8E34FD88800}"/>
              </a:ext>
            </a:extLst>
          </p:cNvPr>
          <p:cNvSpPr txBox="1">
            <a:spLocks/>
          </p:cNvSpPr>
          <p:nvPr/>
        </p:nvSpPr>
        <p:spPr>
          <a:xfrm>
            <a:off x="342900" y="741141"/>
            <a:ext cx="11256264" cy="404051"/>
          </a:xfrm>
          <a:prstGeom prst="rect">
            <a:avLst/>
          </a:prstGeom>
        </p:spPr>
        <p:txBody>
          <a:bodyPr lIns="0" tIns="0" rIns="0"/>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ea typeface="Verdana" panose="020B0604030504040204" pitchFamily="34" charset="0"/>
                <a:cs typeface="Calibri" panose="020F0502020204030204" pitchFamily="34" charset="0"/>
              </a:rPr>
              <a:t>If the standard Aptos font does not show in your Microsoft applications, please follow the instructions below to manually make updates to your default settings.</a:t>
            </a:r>
          </a:p>
        </p:txBody>
      </p:sp>
      <p:sp>
        <p:nvSpPr>
          <p:cNvPr id="2" name="Rectangle 2">
            <a:extLst>
              <a:ext uri="{FF2B5EF4-FFF2-40B4-BE49-F238E27FC236}">
                <a16:creationId xmlns:a16="http://schemas.microsoft.com/office/drawing/2014/main" id="{5AFE5BB5-A670-F8C5-501F-EF31BB28A984}"/>
              </a:ext>
            </a:extLst>
          </p:cNvPr>
          <p:cNvSpPr>
            <a:spLocks noChangeArrowheads="1"/>
          </p:cNvSpPr>
          <p:nvPr/>
        </p:nvSpPr>
        <p:spPr bwMode="auto">
          <a:xfrm>
            <a:off x="250278" y="1051438"/>
            <a:ext cx="4166525" cy="2231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WORD</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Open new document</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Go to Home &gt; Change Styles by selecting Styles Dialog</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Select Manage Styles (A with checkmark)</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Select New documents based on this template </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Select Modify</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Update font to Aptos</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Select New documents based on this template</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Select OK and select OK (as you work backwards through the screens)</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No need to save the document; </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Opening a new document should default to Aptos</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049" name="Picture 1">
            <a:extLst>
              <a:ext uri="{FF2B5EF4-FFF2-40B4-BE49-F238E27FC236}">
                <a16:creationId xmlns:a16="http://schemas.microsoft.com/office/drawing/2014/main" id="{2F4C9F80-9F2F-D997-AEDA-BBB33F81EFFA}"/>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5327765" y="1145192"/>
            <a:ext cx="6271399" cy="4758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893632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C559F-D52C-73D1-B9D7-8E749D1CE3E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E242A45-A81B-530F-EFA8-8D8CADCE6147}"/>
              </a:ext>
            </a:extLst>
          </p:cNvPr>
          <p:cNvSpPr>
            <a:spLocks noGrp="1"/>
          </p:cNvSpPr>
          <p:nvPr>
            <p:ph type="title"/>
          </p:nvPr>
        </p:nvSpPr>
        <p:spPr/>
        <p:txBody>
          <a:bodyPr/>
          <a:lstStyle/>
          <a:p>
            <a:r>
              <a:rPr lang="en-US">
                <a:solidFill>
                  <a:schemeClr val="tx1"/>
                </a:solidFill>
                <a:cs typeface="Calibri"/>
              </a:rPr>
              <a:t>GFS Style Guide | </a:t>
            </a:r>
            <a:r>
              <a:rPr lang="en-US" b="1"/>
              <a:t> </a:t>
            </a:r>
            <a:r>
              <a:rPr lang="en-US" b="1">
                <a:latin typeface="Aptos"/>
                <a:cs typeface="Calibri Light"/>
              </a:rPr>
              <a:t>Tips for confirming fonts (Word, cont’d)</a:t>
            </a:r>
            <a:endParaRPr lang="en-US">
              <a:solidFill>
                <a:schemeClr val="tx1"/>
              </a:solidFill>
              <a:latin typeface="+mj-lt"/>
            </a:endParaRPr>
          </a:p>
        </p:txBody>
      </p:sp>
      <p:sp>
        <p:nvSpPr>
          <p:cNvPr id="4" name="Content Placeholder 2">
            <a:extLst>
              <a:ext uri="{FF2B5EF4-FFF2-40B4-BE49-F238E27FC236}">
                <a16:creationId xmlns:a16="http://schemas.microsoft.com/office/drawing/2014/main" id="{EEBDE188-013B-DB29-6145-81DCB98F94F5}"/>
              </a:ext>
            </a:extLst>
          </p:cNvPr>
          <p:cNvSpPr txBox="1">
            <a:spLocks/>
          </p:cNvSpPr>
          <p:nvPr/>
        </p:nvSpPr>
        <p:spPr>
          <a:xfrm>
            <a:off x="342900" y="741141"/>
            <a:ext cx="11256264" cy="404051"/>
          </a:xfrm>
          <a:prstGeom prst="rect">
            <a:avLst/>
          </a:prstGeom>
        </p:spPr>
        <p:txBody>
          <a:bodyPr lIns="0" tIns="0" rIns="0"/>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a:ea typeface="Verdana" panose="020B0604030504040204" pitchFamily="34" charset="0"/>
                <a:cs typeface="Calibri" panose="020F0502020204030204" pitchFamily="34" charset="0"/>
              </a:rPr>
              <a:t>If the standard Aptos font does not show in your Microsoft applications, please follow the instructions below to manually make updates to your default settings.</a:t>
            </a:r>
          </a:p>
        </p:txBody>
      </p:sp>
      <p:sp>
        <p:nvSpPr>
          <p:cNvPr id="2" name="Rectangle 2">
            <a:extLst>
              <a:ext uri="{FF2B5EF4-FFF2-40B4-BE49-F238E27FC236}">
                <a16:creationId xmlns:a16="http://schemas.microsoft.com/office/drawing/2014/main" id="{B2278D2A-604A-2ED4-B9DF-687916218659}"/>
              </a:ext>
            </a:extLst>
          </p:cNvPr>
          <p:cNvSpPr>
            <a:spLocks noChangeArrowheads="1"/>
          </p:cNvSpPr>
          <p:nvPr/>
        </p:nvSpPr>
        <p:spPr bwMode="auto">
          <a:xfrm>
            <a:off x="240004" y="1051438"/>
            <a:ext cx="4166525" cy="2231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WORD</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Open new document</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Go to Home &gt; Change Styles by selecting Styles Dialog</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Select Manage Styles (A with checkmark)</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Select New documents based on this template </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Select Modify</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Update font to Aptos</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Select New documents based on this template</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Select OK and select OK (as you work backwards through the screens)</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No need to save the document; </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ptos Display" panose="020B0004020202020204" pitchFamily="34" charset="0"/>
                <a:ea typeface="DengXian" panose="02010600030101010101" pitchFamily="2" charset="-122"/>
                <a:cs typeface="Aptos" panose="020B0004020202020204" pitchFamily="34" charset="0"/>
              </a:rPr>
              <a:t>Opening a new document should default to Aptos</a:t>
            </a:r>
            <a:endParaRPr kumimoji="0" lang="en-US" altLang="en-US" sz="1100" b="0" i="0" u="none" strike="noStrike" cap="none" normalizeH="0" baseline="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073" name="Picture 1">
            <a:extLst>
              <a:ext uri="{FF2B5EF4-FFF2-40B4-BE49-F238E27FC236}">
                <a16:creationId xmlns:a16="http://schemas.microsoft.com/office/drawing/2014/main" id="{2553D477-7B9E-36B0-CC90-897A4C294E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7223" y="1198341"/>
            <a:ext cx="4561726" cy="4918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314338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Brand_Theme">
  <a:themeElements>
    <a:clrScheme name="Deloitte">
      <a:dk1>
        <a:sysClr val="windowText" lastClr="000000"/>
      </a:dk1>
      <a:lt1>
        <a:sysClr val="window" lastClr="FFFFFF"/>
      </a:lt1>
      <a:dk2>
        <a:srgbClr val="53565A"/>
      </a:dk2>
      <a:lt2>
        <a:srgbClr val="E6E6E6"/>
      </a:lt2>
      <a:accent1>
        <a:srgbClr val="86BC25"/>
      </a:accent1>
      <a:accent2>
        <a:srgbClr val="26890D"/>
      </a:accent2>
      <a:accent3>
        <a:srgbClr val="056B38"/>
      </a:accent3>
      <a:accent4>
        <a:srgbClr val="1C3D26"/>
      </a:accent4>
      <a:accent5>
        <a:srgbClr val="0DF200"/>
      </a:accent5>
      <a:accent6>
        <a:srgbClr val="F2F5E3"/>
      </a:accent6>
      <a:hlink>
        <a:srgbClr val="007CB0"/>
      </a:hlink>
      <a:folHlink>
        <a:srgbClr val="7F7F7F"/>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rand_Theme" id="{9052F743-DF80-49A2-A6C4-F3DDB17312C2}" vid="{BBF4395B-270B-4183-B5BD-AA8D861C4EF8}"/>
    </a:ext>
  </a:extLst>
</a:theme>
</file>

<file path=ppt/theme/theme2.xml><?xml version="1.0" encoding="utf-8"?>
<a:theme xmlns:a="http://schemas.openxmlformats.org/drawingml/2006/main" name="Deloitte_US_Onscreen">
  <a:themeElements>
    <a:clrScheme name="Deloitte">
      <a:dk1>
        <a:sysClr val="windowText" lastClr="000000"/>
      </a:dk1>
      <a:lt1>
        <a:sysClr val="window" lastClr="FFFFFF"/>
      </a:lt1>
      <a:dk2>
        <a:srgbClr val="D0D0CE"/>
      </a:dk2>
      <a:lt2>
        <a:srgbClr val="53565A"/>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_New 2025">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3" id="{A1FC5503-8AD6-4D43-804D-B509B624A83C}" vid="{03D12772-D98D-544C-A288-8B366441064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loitte">
    <a:dk1>
      <a:sysClr val="windowText" lastClr="000000"/>
    </a:dk1>
    <a:lt1>
      <a:sysClr val="window" lastClr="FFFFFF"/>
    </a:lt1>
    <a:dk2>
      <a:srgbClr val="53565A"/>
    </a:dk2>
    <a:lt2>
      <a:srgbClr val="E6E6E6"/>
    </a:lt2>
    <a:accent1>
      <a:srgbClr val="86BC25"/>
    </a:accent1>
    <a:accent2>
      <a:srgbClr val="26890D"/>
    </a:accent2>
    <a:accent3>
      <a:srgbClr val="056B38"/>
    </a:accent3>
    <a:accent4>
      <a:srgbClr val="1C3D26"/>
    </a:accent4>
    <a:accent5>
      <a:srgbClr val="0DF200"/>
    </a:accent5>
    <a:accent6>
      <a:srgbClr val="F2F5E3"/>
    </a:accent6>
    <a:hlink>
      <a:srgbClr val="007CB0"/>
    </a:hlink>
    <a:folHlink>
      <a:srgbClr val="7F7F7F"/>
    </a:folHlink>
  </a:clrScheme>
</a:themeOverride>
</file>

<file path=ppt/theme/themeOverride2.xml><?xml version="1.0" encoding="utf-8"?>
<a:themeOverride xmlns:a="http://schemas.openxmlformats.org/drawingml/2006/main">
  <a:clrScheme name="Deloitte">
    <a:dk1>
      <a:sysClr val="windowText" lastClr="000000"/>
    </a:dk1>
    <a:lt1>
      <a:sysClr val="window" lastClr="FFFFFF"/>
    </a:lt1>
    <a:dk2>
      <a:srgbClr val="53565A"/>
    </a:dk2>
    <a:lt2>
      <a:srgbClr val="E6E6E6"/>
    </a:lt2>
    <a:accent1>
      <a:srgbClr val="86BC25"/>
    </a:accent1>
    <a:accent2>
      <a:srgbClr val="26890D"/>
    </a:accent2>
    <a:accent3>
      <a:srgbClr val="056B38"/>
    </a:accent3>
    <a:accent4>
      <a:srgbClr val="1C3D26"/>
    </a:accent4>
    <a:accent5>
      <a:srgbClr val="0DF200"/>
    </a:accent5>
    <a:accent6>
      <a:srgbClr val="F2F5E3"/>
    </a:accent6>
    <a:hlink>
      <a:srgbClr val="007CB0"/>
    </a:hlink>
    <a:folHlink>
      <a:srgbClr val="7F7F7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4de9590-85f7-47f6-853b-4668791b2991" xsi:nil="true"/>
    <MediaServiceFastMetadata xmlns="501fc28d-0797-46f3-b1d3-acd105b32718" xsi:nil="true"/>
    <MediaServiceMetadata xmlns="501fc28d-0797-46f3-b1d3-acd105b32718" xsi:nil="true"/>
    <lcf76f155ced4ddcb4097134ff3c332f xmlns="501fc28d-0797-46f3-b1d3-acd105b32718">
      <Terms xmlns="http://schemas.microsoft.com/office/infopath/2007/PartnerControls"/>
    </lcf76f155ced4ddcb4097134ff3c332f>
    <MediaServiceLocation xmlns="501fc28d-0797-46f3-b1d3-acd105b32718" xsi:nil="true"/>
    <MediaServiceAutoTags xmlns="501fc28d-0797-46f3-b1d3-acd105b32718" xsi:nil="true"/>
    <MediaServiceOCR xmlns="501fc28d-0797-46f3-b1d3-acd105b32718" xsi:nil="true"/>
    <ImageMetadataListItemId xmlns="501fc28d-0797-46f3-b1d3-acd105b32718" xsi:nil="true"/>
    <MediaServiceGenerationTime xmlns="501fc28d-0797-46f3-b1d3-acd105b32718" xsi:nil="true"/>
    <MediaServiceEventHashCode xmlns="501fc28d-0797-46f3-b1d3-acd105b32718" xsi:nil="true"/>
    <MediaServiceDateTaken xmlns="501fc28d-0797-46f3-b1d3-acd105b32718" xsi:nil="true"/>
    <ImageMetadataListFieldId xmlns="501fc28d-0797-46f3-b1d3-acd105b3271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715A89C2E8F7947A77776D6C016B218" ma:contentTypeVersion="29" ma:contentTypeDescription="Create a new document." ma:contentTypeScope="" ma:versionID="1feba906a7c13be7c8c99cb5cae56b4e">
  <xsd:schema xmlns:xsd="http://www.w3.org/2001/XMLSchema" xmlns:xs="http://www.w3.org/2001/XMLSchema" xmlns:p="http://schemas.microsoft.com/office/2006/metadata/properties" xmlns:ns2="501fc28d-0797-46f3-b1d3-acd105b32718" xmlns:ns3="a4de9590-85f7-47f6-853b-4668791b2991" targetNamespace="http://schemas.microsoft.com/office/2006/metadata/properties" ma:root="true" ma:fieldsID="e0129c92262169a566c7026c5452d5ff" ns2:_="" ns3:_="">
    <xsd:import namespace="501fc28d-0797-46f3-b1d3-acd105b32718"/>
    <xsd:import namespace="a4de9590-85f7-47f6-853b-4668791b299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ImageMetadataListItemId" minOccurs="0"/>
                <xsd:element ref="ns2:ImageMetadataListFieldId"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1fc28d-0797-46f3-b1d3-acd105b327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false">
      <xsd:simpleType>
        <xsd:restriction base="dms:Note"/>
      </xsd:simpleType>
    </xsd:element>
    <xsd:element name="MediaServiceFastMetadata" ma:index="9" nillable="true" ma:displayName="MediaServiceFastMetadata" ma:hidden="true" ma:internalName="MediaServiceFastMetadata" ma:readOnly="false">
      <xsd:simpleType>
        <xsd:restriction base="dms:Note"/>
      </xsd:simpleType>
    </xsd:element>
    <xsd:element name="MediaServiceAutoTags" ma:index="10" nillable="true" ma:displayName="Tags" ma:internalName="MediaServiceAutoTags" ma:readOnly="false">
      <xsd:simpleType>
        <xsd:restriction base="dms:Text"/>
      </xsd:simpleType>
    </xsd:element>
    <xsd:element name="MediaServiceGenerationTime" ma:index="11" nillable="true" ma:displayName="MediaServiceGenerationTime" ma:hidden="true" ma:internalName="MediaServiceGenerationTime" ma:readOnly="false">
      <xsd:simpleType>
        <xsd:restriction base="dms:Text"/>
      </xsd:simpleType>
    </xsd:element>
    <xsd:element name="MediaServiceEventHashCode" ma:index="12" nillable="true" ma:displayName="MediaServiceEventHashCode" ma:hidden="true" ma:internalName="MediaServiceEventHashCode" ma:readOnly="false">
      <xsd:simpleType>
        <xsd:restriction base="dms:Text"/>
      </xsd:simpleType>
    </xsd:element>
    <xsd:element name="MediaServiceOCR" ma:index="13" nillable="true" ma:displayName="Extracted Text" ma:internalName="MediaServiceOCR" ma:readOnly="false">
      <xsd:simpleType>
        <xsd:restriction base="dms:Note">
          <xsd:maxLength value="255"/>
        </xsd:restriction>
      </xsd:simpleType>
    </xsd:element>
    <xsd:element name="MediaServiceDateTaken" ma:index="14" nillable="true" ma:displayName="MediaServiceDateTaken" ma:hidden="true" ma:internalName="MediaServiceDateTaken" ma:readOnly="false">
      <xsd:simpleType>
        <xsd:restriction base="dms:Text"/>
      </xsd:simpleType>
    </xsd:element>
    <xsd:element name="MediaServiceLocation" ma:index="15" nillable="true" ma:displayName="Location" ma:internalName="MediaServiceLocation" ma:readOnly="false">
      <xsd:simpleType>
        <xsd:restriction base="dms:Text"/>
      </xsd:simpleType>
    </xsd:element>
    <xsd:element name="ImageMetadataListItemId" ma:index="16" nillable="true" ma:displayName="ImageMetadataListItemId" ma:hidden="true" ma:internalName="ImageMetadataListItemId">
      <xsd:simpleType>
        <xsd:restriction base="dms:Unknown"/>
      </xsd:simpleType>
    </xsd:element>
    <xsd:element name="ImageMetadataListFieldId" ma:index="17" nillable="true" ma:displayName="ImageMetadataListFieldId" ma:hidden="true" ma:internalName="ImageMetadataListFieldId">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LengthInSeconds" ma:index="2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4de9590-85f7-47f6-853b-4668791b2991"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141b58-818e-4c56-8627-fbf6b92410ce}" ma:internalName="TaxCatchAll" ma:showField="CatchAllData" ma:web="a4de9590-85f7-47f6-853b-4668791b2991">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E6CC2D-2343-40C9-BF57-ACB940668AFF}">
  <ds:schemaRefs>
    <ds:schemaRef ds:uri="http://schemas.microsoft.com/sharepoint/v3/contenttype/forms"/>
  </ds:schemaRefs>
</ds:datastoreItem>
</file>

<file path=customXml/itemProps2.xml><?xml version="1.0" encoding="utf-8"?>
<ds:datastoreItem xmlns:ds="http://schemas.openxmlformats.org/officeDocument/2006/customXml" ds:itemID="{9BBF235D-5BAD-4A08-AEE0-5E29BE15689F}">
  <ds:schemaRefs>
    <ds:schemaRef ds:uri="http://purl.org/dc/elements/1.1/"/>
    <ds:schemaRef ds:uri="http://purl.org/dc/dcmitype/"/>
    <ds:schemaRef ds:uri="http://schemas.microsoft.com/office/2006/documentManagement/types"/>
    <ds:schemaRef ds:uri="http://schemas.microsoft.com/office/2006/metadata/properties"/>
    <ds:schemaRef ds:uri="501fc28d-0797-46f3-b1d3-acd105b32718"/>
    <ds:schemaRef ds:uri="http://www.w3.org/XML/1998/namespace"/>
    <ds:schemaRef ds:uri="http://purl.org/dc/terms/"/>
    <ds:schemaRef ds:uri="http://schemas.microsoft.com/office/infopath/2007/PartnerControls"/>
    <ds:schemaRef ds:uri="http://schemas.openxmlformats.org/package/2006/metadata/core-properties"/>
    <ds:schemaRef ds:uri="a4de9590-85f7-47f6-853b-4668791b2991"/>
  </ds:schemaRefs>
</ds:datastoreItem>
</file>

<file path=customXml/itemProps3.xml><?xml version="1.0" encoding="utf-8"?>
<ds:datastoreItem xmlns:ds="http://schemas.openxmlformats.org/officeDocument/2006/customXml" ds:itemID="{A6CF0C6E-D7D6-4B33-9885-9E75BAE371B8}">
  <ds:schemaRefs>
    <ds:schemaRef ds:uri="501fc28d-0797-46f3-b1d3-acd105b32718"/>
    <ds:schemaRef ds:uri="a4de9590-85f7-47f6-853b-4668791b299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
  <TotalTime>0</TotalTime>
  <Words>4399</Words>
  <Application>Microsoft Office PowerPoint</Application>
  <PresentationFormat>Widescreen</PresentationFormat>
  <Paragraphs>455</Paragraphs>
  <Slides>35</Slides>
  <Notes>13</Notes>
  <HiddenSlides>0</HiddenSlides>
  <MMClips>0</MMClips>
  <ScaleCrop>false</ScaleCrop>
  <HeadingPairs>
    <vt:vector size="4" baseType="variant">
      <vt:variant>
        <vt:lpstr>Theme</vt:lpstr>
      </vt:variant>
      <vt:variant>
        <vt:i4>2</vt:i4>
      </vt:variant>
      <vt:variant>
        <vt:lpstr>Slide Titles</vt:lpstr>
      </vt:variant>
      <vt:variant>
        <vt:i4>35</vt:i4>
      </vt:variant>
    </vt:vector>
  </HeadingPairs>
  <TitlesOfParts>
    <vt:vector size="37" baseType="lpstr">
      <vt:lpstr>Deloitte_Brand_Theme</vt:lpstr>
      <vt:lpstr>Deloitte_US_Onscreen</vt:lpstr>
      <vt:lpstr>Global Finance Services Brand Identity and Style Guide</vt:lpstr>
      <vt:lpstr>PowerPoint Presentation</vt:lpstr>
      <vt:lpstr>PowerPoint Presentation</vt:lpstr>
      <vt:lpstr>GFS Style Guide | Table of contents</vt:lpstr>
      <vt:lpstr>PowerPoint Presentation</vt:lpstr>
      <vt:lpstr>PowerPoint Presentation</vt:lpstr>
      <vt:lpstr>GFS Style Guide | Hero image</vt:lpstr>
      <vt:lpstr>GFS Style Guide | Hero image applications</vt:lpstr>
      <vt:lpstr>GFS Style Guide | Expanded hero image</vt:lpstr>
      <vt:lpstr>GFS Style Guide | SWIFT wordmark</vt:lpstr>
      <vt:lpstr>PowerPoint Presentation</vt:lpstr>
      <vt:lpstr>PowerPoint Presentation</vt:lpstr>
      <vt:lpstr>PowerPoint Presentation</vt:lpstr>
      <vt:lpstr>PowerPoint Presentation</vt:lpstr>
      <vt:lpstr>PowerPoint Presentation</vt:lpstr>
      <vt:lpstr>GFS Style Guide | Color palette</vt:lpstr>
      <vt:lpstr>PowerPoint Presentation</vt:lpstr>
      <vt:lpstr>GFS Style Guide | Typography</vt:lpstr>
      <vt:lpstr>GFS Style Guide | Language and style</vt:lpstr>
      <vt:lpstr>GFS Style Guide | Language and style</vt:lpstr>
      <vt:lpstr>GFS Style Guide | Global tagline</vt:lpstr>
      <vt:lpstr>PowerPoint Presentation</vt:lpstr>
      <vt:lpstr>GFS Style Guide | Email signature</vt:lpstr>
      <vt:lpstr>GFS Style Guide | Email announcement and PowerPoint templates</vt:lpstr>
      <vt:lpstr>GFS Style Guide | Word templates</vt:lpstr>
      <vt:lpstr>GFS Style Guide | Virtual background templates</vt:lpstr>
      <vt:lpstr>PowerPoint Presentation</vt:lpstr>
      <vt:lpstr>GFS Style Guide |  Frequently asked questions</vt:lpstr>
      <vt:lpstr>PowerPoint Presentation</vt:lpstr>
      <vt:lpstr>PowerPoint Presentation</vt:lpstr>
      <vt:lpstr>GFS Style Guide |  Messaging tips</vt:lpstr>
      <vt:lpstr>GFS Style Guide |  Tips for confirming fonts (Outlook)</vt:lpstr>
      <vt:lpstr>GFS Style Guide |  Tips for confirming fonts (Excel)</vt:lpstr>
      <vt:lpstr>GFS Style Guide |  Tips for confirming fonts (Word)</vt:lpstr>
      <vt:lpstr>GFS Style Guide |  Tips for confirming fonts (Word,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16x9 Onscreen PPT</dc:title>
  <dc:creator>Leonova, Nataliia</dc:creator>
  <cp:lastModifiedBy>White, Felicia</cp:lastModifiedBy>
  <cp:revision>2</cp:revision>
  <cp:lastPrinted>1601-01-01T00:00:00Z</cp:lastPrinted>
  <dcterms:created xsi:type="dcterms:W3CDTF">2020-04-09T19:50:51Z</dcterms:created>
  <dcterms:modified xsi:type="dcterms:W3CDTF">2026-02-16T07:05:57Z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0x0101007715A89C2E8F7947A77776D6C016B218</vt:lpwstr>
  </property>
  <property fmtid="{D5CDD505-2E9C-101B-9397-08002B2CF9AE}" pid="3" name="MSIP_Label_ea60d57e-af5b-4752-ac57-3e4f28ca11dc_Enabled">
    <vt:lpwstr>true</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ContentBits">
    <vt:lpwstr>0</vt:lpwstr>
  </property>
  <property fmtid="{D5CDD505-2E9C-101B-9397-08002B2CF9AE}" pid="8" name="MediaServiceImageTags">
    <vt:lpwstr/>
  </property>
  <property fmtid="{D5CDD505-2E9C-101B-9397-08002B2CF9AE}" pid="9" name="AdditionalReleaseNotes">
    <vt:lpwstr>N</vt:lpwstr>
  </property>
  <property fmtid="{D5CDD505-2E9C-101B-9397-08002B2CF9AE}" pid="10" name="Link">
    <vt:lpwstr>, </vt:lpwstr>
  </property>
  <property fmtid="{D5CDD505-2E9C-101B-9397-08002B2CF9AE}" pid="11" name="Quarter">
    <vt:lpwstr>Quarter 1</vt:lpwstr>
  </property>
  <property fmtid="{D5CDD505-2E9C-101B-9397-08002B2CF9AE}" pid="12" name="MSIP_Label_ea60d57e-af5b-4752-ac57-3e4f28ca11dc_SetDate">
    <vt:lpwstr>2021-04-05T20:58:38Z</vt:lpwstr>
  </property>
  <property fmtid="{D5CDD505-2E9C-101B-9397-08002B2CF9AE}" pid="13" name="Month">
    <vt:lpwstr>December</vt:lpwstr>
  </property>
  <property fmtid="{D5CDD505-2E9C-101B-9397-08002B2CF9AE}" pid="14" name="ReleaseNotesYears">
    <vt:lpwstr>2030</vt:lpwstr>
  </property>
  <property fmtid="{D5CDD505-2E9C-101B-9397-08002B2CF9AE}" pid="15" name="MSIP_Label_ea60d57e-af5b-4752-ac57-3e4f28ca11dc_ActionId">
    <vt:lpwstr>9ab57f92-f9f5-4e1c-bb56-f04159416863</vt:lpwstr>
  </property>
</Properties>
</file>